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47"/>
                </a:solidFill>
                <a:latin typeface="Calibri"/>
              </a:defRPr>
            </a:pPr>
            <a:r>
              <a:rPr sz="1400" b="0" i="0" u="none" strike="noStrike">
                <a:solidFill>
                  <a:srgbClr val="0B3B47"/>
                </a:solidFill>
                <a:latin typeface="Calibri"/>
              </a:rPr>
              <a:t>Component status distribution</a:t>
            </a:r>
          </a:p>
        </c:rich>
      </c:tx>
      <c:layout/>
      <c:overlay val="0"/>
    </c:title>
    <c:autoTitleDeleted val="0"/>
    <c:plotArea>
      <c:layout/>
      <c:barChart>
        <c:barDir val="bar"/>
        <c:grouping val="clustered"/>
        <c:varyColors val="0"/>
        <c:ser>
          <c:idx val="0"/>
          <c:order val="0"/>
          <c:tx>
            <c:strRef>
              <c:f>Sheet1!$B$1</c:f>
              <c:strCache>
                <c:ptCount val="1"/>
                <c:pt idx="0">
                  <c:v>Components</c:v>
                </c:pt>
              </c:strCache>
            </c:strRef>
          </c:tx>
          <c:spPr>
            <a:solidFill>
              <a:srgbClr val="028090"/>
            </a:solidFill>
            <a:effectLst/>
          </c:spPr>
          <c:invertIfNegative val="0"/>
          <c:dLbls>
            <c:numFmt formatCode="#,##0" sourceLinked="0"/>
            <c:txPr>
              <a:bodyPr/>
              <a:lstStyle/>
              <a:p>
                <a:pPr>
                  <a:defRPr b="1" i="0" strike="noStrike" sz="1100" u="none">
                    <a:solidFill>
                      <a:srgbClr val="27383D"/>
                    </a:solidFill>
                    <a:latin typeface="Arial"/>
                  </a:defRPr>
                </a:pPr>
              </a:p>
            </c:txPr>
            <c:showLegendKey val="0"/>
            <c:showVal val="1"/>
            <c:showCatName val="0"/>
            <c:showSerName val="0"/>
            <c:showPercent val="0"/>
            <c:showBubbleSize val="0"/>
            <c:showLeaderLines val="0"/>
          </c:dLbls>
          <c:cat>
            <c:multiLvlStrRef>
              <c:f>Sheet1!$A$2:$A$7</c:f>
              <c:multiLvlStrCache>
                <c:ptCount val="6"/>
                <c:lvl>
                  <c:pt idx="0">
                    <c:v>Pending</c:v>
                  </c:pt>
                  <c:pt idx="1">
                    <c:v>In progress</c:v>
                  </c:pt>
                  <c:pt idx="2">
                    <c:v>Planned</c:v>
                  </c:pt>
                  <c:pt idx="3">
                    <c:v>Designed</c:v>
                  </c:pt>
                  <c:pt idx="4">
                    <c:v>Implemented</c:v>
                  </c:pt>
                  <c:pt idx="5">
                    <c:v>Completed</c:v>
                  </c:pt>
                </c:lvl>
              </c:multiLvlStrCache>
            </c:multiLvlStrRef>
          </c:cat>
          <c:val>
            <c:numRef>
              <c:f>Sheet1!$B$2:$B$7</c:f>
              <c:numCache>
                <c:formatCode>General</c:formatCode>
                <c:ptCount val="6"/>
                <c:pt idx="0">
                  <c:v>1</c:v>
                </c:pt>
                <c:pt idx="1">
                  <c:v>1</c:v>
                </c:pt>
                <c:pt idx="2">
                  <c:v>2</c:v>
                </c:pt>
                <c:pt idx="3">
                  <c:v>5</c:v>
                </c:pt>
                <c:pt idx="4">
                  <c:v>7</c:v>
                </c:pt>
                <c:pt idx="5">
                  <c:v>7</c:v>
                </c:pt>
              </c:numCache>
            </c:numRef>
          </c:val>
        </c:ser>
        <c:dLbls>
          <c:numFmt formatCode="#,##0" sourceLinked="0"/>
          <c:txPr>
            <a:bodyPr/>
            <a:lstStyle/>
            <a:p>
              <a:pPr>
                <a:defRPr b="1" i="0" strike="noStrike" sz="1100" u="none">
                  <a:solidFill>
                    <a:srgbClr val="27383D"/>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7383D"/>
                </a:solidFill>
                <a:latin typeface="Calibri"/>
              </a:defRPr>
            </a:pPr>
            <a:endParaRPr lang="en-US"/>
          </a:p>
        </c:txPr>
        <c:crossAx val="2094734552"/>
        <c:crosses val="autoZero"/>
        <c:auto val="1"/>
        <c:lblAlgn val="ctr"/>
        <c:noMultiLvlLbl val="1"/>
      </c:catAx>
      <c:valAx>
        <c:axId val="2094734552"/>
        <c:scaling>
          <c:orientation val="minMax"/>
          <c:max val="9"/>
        </c:scaling>
        <c:delete val="0"/>
        <c:axPos val="b"/>
        <c:majorGridlines>
          <c:spPr>
            <a:ln w="9525" cap="flat">
              <a:solidFill>
                <a:srgbClr val="E6ED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828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the Digital Hostel Laundry Management System, built for UCS503P. It is a React Native and Node.js application that replaces the manual hostel laundry register with a tracked, verifiable digital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move from the problem and requirements, through the design models, to what is actually implemented and tested, and finally to limitations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problems came directly out of our discussions with students and with the hostel laundry staff. Note the fourth one — unverified pickup — it is the problem that drove the QR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these are not small inconveniences. Every one of them is a direct consequence of there being no persistent record of the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objectives. The first two are about visibility for the two main actors, the third is the verification problem, and the last is the engineering objective — designing so the remaining modules do not require a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chain at the top is the heart of the system. Every transition is written to a status history table, which is what makes the record verifiable instead of anecdotal.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Bounding the scope was deliberate. Billing and vendor integration would have doubled the data model without demonstrating anything new about the workflow problem we set out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staff interviews mattered most. Left to ourselves we would have designed a purely student-facing app and missed the collection-verification requirement entirely — that came from the staff, not from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Seventeen functional requirements across three roles. Requirement six on the staff side — a token cannot be reused — is the one that is enforced in the backend rather than the client, and we will come back to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here is a design-time claim, not a load test. We designed the full schema up front specifically so the remaining modules would not force a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business logic in the backend rather than the mobile client means the institutional-domain check and the single-use token rule are enforced centrally and cannot be bypassed by modifying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all three actors share one authentication use case. That decision is what let us implement login once and have it serve every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point at collection is the one that turns a design intention into an enforceable rule — the token check has to fail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isUsed flag on PickupToken is small but important — the single-use guarantee is expressed in the data model, not only in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is where the five functional processes appear as separate units. That decomposition is also roughly how the backend routes are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one to three are send-OTP, four to six are verify-OTP. Both endpoints are live and tested — we will show the test cases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entities in total. Only Users and Hostels are actually populated and queried today — the rest are designed and will be created alongside their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 gave us managed Postgres and managed auth together, which meant we could spend our time on the workflow rather than on building an OTP service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between frontend and backend is not cosmetic — it is what allows the two of us working on different layers to develop independently against an agreed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feature that works end to end: app to Express to Supabase and back. It also gives us the session that role-based access for student, staff and admin will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at this stage validates the infrastructure rather than the workflow, because several modules do not exist yet. We are stating that plainly rather than claiming coverage we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of twenty-three components are done — seven design artefacts completed and seven implementation items working. We are deliberately distinguishing designed from implemented throughout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one lesson from this phase, it is that we spent more effort understanding the problem than writing code — and the QR design would not exist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list these openly. The architecture and schema anticipate every one of them, which is why they are additions rather than redesigns.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for the next phase, roughly in dependency order — the student and staff modules first, because QR pickup and notifications sit on top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design is complete, the foundation works, and the remaining modules build on it rather than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 particularly on the QR verification design or the decision to keep all validation in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7"/>
        </a:solidFill>
      </p:bgPr>
    </p:bg>
    <p:spTree>
      <p:nvGrpSpPr>
        <p:cNvPr id="1" name=""/>
        <p:cNvGrpSpPr/>
        <p:nvPr/>
      </p:nvGrpSpPr>
      <p:grpSpPr>
        <a:xfrm>
          <a:off x="0" y="0"/>
          <a:ext cx="0" cy="0"/>
          <a:chOff x="0" y="0"/>
          <a:chExt cx="0" cy="0"/>
        </a:xfrm>
      </p:grpSpPr>
      <p:sp>
        <p:nvSpPr>
          <p:cNvPr id="2" name="Shape 0"/>
          <p:cNvSpPr/>
          <p:nvPr/>
        </p:nvSpPr>
        <p:spPr>
          <a:xfrm>
            <a:off x="9052560" y="-1463040"/>
            <a:ext cx="5120640" cy="5120640"/>
          </a:xfrm>
          <a:prstGeom prst="ellipse">
            <a:avLst/>
          </a:prstGeom>
          <a:solidFill>
            <a:srgbClr val="12505F"/>
          </a:solidFill>
          <a:ln/>
        </p:spPr>
      </p:sp>
      <p:sp>
        <p:nvSpPr>
          <p:cNvPr id="3" name="Shape 1"/>
          <p:cNvSpPr/>
          <p:nvPr/>
        </p:nvSpPr>
        <p:spPr>
          <a:xfrm>
            <a:off x="10332720" y="4114800"/>
            <a:ext cx="3108960" cy="3108960"/>
          </a:xfrm>
          <a:prstGeom prst="ellipse">
            <a:avLst/>
          </a:prstGeom>
          <a:solidFill>
            <a:srgbClr val="12505F"/>
          </a:solidFill>
          <a:ln/>
        </p:spPr>
      </p:sp>
      <p:sp>
        <p:nvSpPr>
          <p:cNvPr id="4" name="Text 2"/>
          <p:cNvSpPr txBox="1"/>
          <p:nvPr/>
        </p:nvSpPr>
        <p:spPr>
          <a:xfrm>
            <a:off x="640080" y="960120"/>
            <a:ext cx="8686800" cy="274320"/>
          </a:xfrm>
          <a:prstGeom prst="rect">
            <a:avLst/>
          </a:prstGeom>
          <a:noFill/>
          <a:ln/>
        </p:spPr>
        <p:txBody>
          <a:bodyPr wrap="square" lIns="0" tIns="0" rIns="0" bIns="0" rtlCol="0" anchor="t"/>
          <a:lstStyle/>
          <a:p>
            <a:pPr indent="0" marL="0">
              <a:buNone/>
            </a:pPr>
            <a:r>
              <a:rPr lang="en-US" sz="1200" b="1" spc="200" kern="0" dirty="0">
                <a:solidFill>
                  <a:srgbClr val="02C39A"/>
                </a:solidFill>
                <a:latin typeface="Calibri" pitchFamily="34" charset="0"/>
                <a:ea typeface="Calibri" pitchFamily="34" charset="-122"/>
                <a:cs typeface="Calibri" pitchFamily="34" charset="-120"/>
              </a:rPr>
              <a:t>UCS503P  —  SOFTWARE ENGINEERING PROJECT  |  2026–27</a:t>
            </a:r>
            <a:endParaRPr lang="en-US" sz="1200" dirty="0"/>
          </a:p>
        </p:txBody>
      </p:sp>
      <p:sp>
        <p:nvSpPr>
          <p:cNvPr id="5" name="Text 3"/>
          <p:cNvSpPr txBox="1"/>
          <p:nvPr/>
        </p:nvSpPr>
        <p:spPr>
          <a:xfrm>
            <a:off x="640080" y="1417320"/>
            <a:ext cx="8778240" cy="1737360"/>
          </a:xfrm>
          <a:prstGeom prst="rect">
            <a:avLst/>
          </a:prstGeom>
          <a:noFill/>
          <a:ln/>
        </p:spPr>
        <p:txBody>
          <a:bodyPr wrap="square" lIns="0" tIns="0" rIns="0" bIns="0" rtlCol="0" anchor="t"/>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Digital Hostel Laundry</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Management System</a:t>
            </a:r>
            <a:endParaRPr lang="en-US" sz="4400" dirty="0"/>
          </a:p>
        </p:txBody>
      </p:sp>
      <p:sp>
        <p:nvSpPr>
          <p:cNvPr id="6" name="Text 4"/>
          <p:cNvSpPr txBox="1"/>
          <p:nvPr/>
        </p:nvSpPr>
        <p:spPr>
          <a:xfrm>
            <a:off x="640080" y="3246120"/>
            <a:ext cx="7680960" cy="731520"/>
          </a:xfrm>
          <a:prstGeom prst="rect">
            <a:avLst/>
          </a:prstGeom>
          <a:noFill/>
          <a:ln/>
        </p:spPr>
        <p:txBody>
          <a:bodyPr wrap="square" lIns="0" tIns="0" rIns="0" bIns="0" rtlCol="0" anchor="t"/>
          <a:lstStyle/>
          <a:p>
            <a:pPr indent="0" marL="0">
              <a:lnSpc>
                <a:spcPts val="2200"/>
              </a:lnSpc>
              <a:buNone/>
            </a:pPr>
            <a:r>
              <a:rPr lang="en-US" sz="1450" dirty="0">
                <a:solidFill>
                  <a:srgbClr val="C9E4E8"/>
                </a:solidFill>
                <a:latin typeface="Calibri" pitchFamily="34" charset="0"/>
                <a:ea typeface="Calibri" pitchFamily="34" charset="-122"/>
                <a:cs typeface="Calibri" pitchFamily="34" charset="-120"/>
              </a:rPr>
              <a:t>A mobile-first system that digitizes the complete hostel laundry lifecycle — submission, processing, notification and QR-verified pickup.</a:t>
            </a:r>
            <a:endParaRPr lang="en-US" sz="1450" dirty="0"/>
          </a:p>
        </p:txBody>
      </p:sp>
      <p:sp>
        <p:nvSpPr>
          <p:cNvPr id="7" name="Shape 5"/>
          <p:cNvSpPr/>
          <p:nvPr/>
        </p:nvSpPr>
        <p:spPr>
          <a:xfrm>
            <a:off x="640080" y="4315968"/>
            <a:ext cx="7680960" cy="1325880"/>
          </a:xfrm>
          <a:prstGeom prst="roundRect">
            <a:avLst>
              <a:gd name="adj" fmla="val 5517"/>
            </a:avLst>
          </a:prstGeom>
          <a:solidFill>
            <a:srgbClr val="12505F"/>
          </a:solidFill>
          <a:ln w="6350">
            <a:solidFill>
              <a:srgbClr val="12505F"/>
            </a:solidFill>
            <a:prstDash val="solid"/>
          </a:ln>
        </p:spPr>
      </p:sp>
      <p:sp>
        <p:nvSpPr>
          <p:cNvPr id="8" name="Text 6"/>
          <p:cNvSpPr txBox="1"/>
          <p:nvPr/>
        </p:nvSpPr>
        <p:spPr>
          <a:xfrm>
            <a:off x="960120" y="4526280"/>
            <a:ext cx="2743200" cy="219456"/>
          </a:xfrm>
          <a:prstGeom prst="rect">
            <a:avLst/>
          </a:prstGeom>
          <a:noFill/>
          <a:ln/>
        </p:spPr>
        <p:txBody>
          <a:bodyPr wrap="square" lIns="0" tIns="0" rIns="0" bIns="0" rtlCol="0" anchor="t"/>
          <a:lstStyle/>
          <a:p>
            <a:pPr indent="0" marL="0">
              <a:buNone/>
            </a:pPr>
            <a:r>
              <a:rPr lang="en-US" sz="950" b="1" spc="150" kern="0" dirty="0">
                <a:solidFill>
                  <a:srgbClr val="02C39A"/>
                </a:solidFill>
                <a:latin typeface="Calibri" pitchFamily="34" charset="0"/>
                <a:ea typeface="Calibri" pitchFamily="34" charset="-122"/>
                <a:cs typeface="Calibri" pitchFamily="34" charset="-120"/>
              </a:rPr>
              <a:t>PRESENTED BY</a:t>
            </a:r>
            <a:endParaRPr lang="en-US" sz="950" dirty="0"/>
          </a:p>
        </p:txBody>
      </p:sp>
      <p:sp>
        <p:nvSpPr>
          <p:cNvPr id="9" name="Text 7"/>
          <p:cNvSpPr txBox="1"/>
          <p:nvPr/>
        </p:nvSpPr>
        <p:spPr>
          <a:xfrm>
            <a:off x="960120" y="4828032"/>
            <a:ext cx="7132320" cy="3200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Riddhi Dhawan</a:t>
            </a:r>
            <a:pPr indent="0" marL="0">
              <a:buNone/>
            </a:pPr>
            <a:r>
              <a:rPr lang="en-US" sz="1300" dirty="0">
                <a:solidFill>
                  <a:srgbClr val="9FC7CE"/>
                </a:solidFill>
                <a:latin typeface="Calibri" pitchFamily="34" charset="0"/>
                <a:ea typeface="Calibri" pitchFamily="34" charset="-122"/>
                <a:cs typeface="Calibri" pitchFamily="34" charset="-120"/>
              </a:rPr>
              <a:t>  1024030943      </a:t>
            </a:r>
            <a:pPr indent="0" marL="0">
              <a:buNone/>
            </a:pPr>
            <a:r>
              <a:rPr lang="en-US" sz="1300" b="1" dirty="0">
                <a:solidFill>
                  <a:srgbClr val="FFFFFF"/>
                </a:solidFill>
                <a:latin typeface="Calibri" pitchFamily="34" charset="0"/>
                <a:ea typeface="Calibri" pitchFamily="34" charset="-122"/>
                <a:cs typeface="Calibri" pitchFamily="34" charset="-120"/>
              </a:rPr>
              <a:t>Icy Aggarwal</a:t>
            </a:r>
            <a:pPr indent="0" marL="0">
              <a:buNone/>
            </a:pPr>
            <a:r>
              <a:rPr lang="en-US" sz="1300" dirty="0">
                <a:solidFill>
                  <a:srgbClr val="9FC7CE"/>
                </a:solidFill>
                <a:latin typeface="Calibri" pitchFamily="34" charset="0"/>
                <a:ea typeface="Calibri" pitchFamily="34" charset="-122"/>
                <a:cs typeface="Calibri" pitchFamily="34" charset="-120"/>
              </a:rPr>
              <a:t>  1024030823      </a:t>
            </a:r>
            <a:pPr indent="0" marL="0">
              <a:buNone/>
            </a:pPr>
            <a:r>
              <a:rPr lang="en-US" sz="1300" b="1" dirty="0">
                <a:solidFill>
                  <a:srgbClr val="FFFFFF"/>
                </a:solidFill>
                <a:latin typeface="Calibri" pitchFamily="34" charset="0"/>
                <a:ea typeface="Calibri" pitchFamily="34" charset="-122"/>
                <a:cs typeface="Calibri" pitchFamily="34" charset="-120"/>
              </a:rPr>
              <a:t>Devansh Dhawan</a:t>
            </a:r>
            <a:pPr indent="0" marL="0">
              <a:buNone/>
            </a:pPr>
            <a:r>
              <a:rPr lang="en-US" sz="1300" dirty="0">
                <a:solidFill>
                  <a:srgbClr val="9FC7CE"/>
                </a:solidFill>
                <a:latin typeface="Calibri" pitchFamily="34" charset="0"/>
                <a:ea typeface="Calibri" pitchFamily="34" charset="-122"/>
                <a:cs typeface="Calibri" pitchFamily="34" charset="-120"/>
              </a:rPr>
              <a:t>  1024030822</a:t>
            </a:r>
            <a:endParaRPr lang="en-US" sz="1300" dirty="0"/>
          </a:p>
        </p:txBody>
      </p:sp>
      <p:sp>
        <p:nvSpPr>
          <p:cNvPr id="10" name="Text 8"/>
          <p:cNvSpPr txBox="1"/>
          <p:nvPr/>
        </p:nvSpPr>
        <p:spPr>
          <a:xfrm>
            <a:off x="960120" y="5230368"/>
            <a:ext cx="7132320" cy="256032"/>
          </a:xfrm>
          <a:prstGeom prst="rect">
            <a:avLst/>
          </a:prstGeom>
          <a:noFill/>
          <a:ln/>
        </p:spPr>
        <p:txBody>
          <a:bodyPr wrap="square" lIns="0" tIns="0" rIns="0" bIns="0" rtlCol="0" anchor="t"/>
          <a:lstStyle/>
          <a:p>
            <a:pPr indent="0" marL="0">
              <a:buNone/>
            </a:pPr>
            <a:r>
              <a:rPr lang="en-US" sz="1150" dirty="0">
                <a:solidFill>
                  <a:srgbClr val="9FC7CE"/>
                </a:solidFill>
                <a:latin typeface="Calibri" pitchFamily="34" charset="0"/>
                <a:ea typeface="Calibri" pitchFamily="34" charset="-122"/>
                <a:cs typeface="Calibri" pitchFamily="34" charset="-120"/>
              </a:rPr>
              <a:t>Project Guide: Stuti Chug  ·  Department of Computer Science and Engineering</a:t>
            </a:r>
            <a:endParaRPr lang="en-US" sz="1150" dirty="0"/>
          </a:p>
        </p:txBody>
      </p:sp>
      <p:sp>
        <p:nvSpPr>
          <p:cNvPr id="11" name="Text 9"/>
          <p:cNvSpPr txBox="1"/>
          <p:nvPr/>
        </p:nvSpPr>
        <p:spPr>
          <a:xfrm>
            <a:off x="640080" y="5943600"/>
            <a:ext cx="822960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Thapar Institute of Engineering and Technology, Patiala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What we will cover</a:t>
            </a:r>
            <a:endParaRPr lang="en-US" sz="3000" dirty="0"/>
          </a:p>
        </p:txBody>
      </p:sp>
      <p:sp>
        <p:nvSpPr>
          <p:cNvPr id="4" name="Shape 2"/>
          <p:cNvSpPr/>
          <p:nvPr/>
        </p:nvSpPr>
        <p:spPr>
          <a:xfrm>
            <a:off x="640080" y="1600200"/>
            <a:ext cx="5349240" cy="960120"/>
          </a:xfrm>
          <a:prstGeom prst="roundRect">
            <a:avLst>
              <a:gd name="adj" fmla="val 7619"/>
            </a:avLst>
          </a:prstGeom>
          <a:solidFill>
            <a:srgbClr val="F4F9F9"/>
          </a:solidFill>
          <a:ln w="9525">
            <a:solidFill>
              <a:srgbClr val="F4F9F9"/>
            </a:solidFill>
            <a:prstDash val="solid"/>
          </a:ln>
        </p:spPr>
      </p:sp>
      <p:sp>
        <p:nvSpPr>
          <p:cNvPr id="5" name="Shape 3"/>
          <p:cNvSpPr/>
          <p:nvPr/>
        </p:nvSpPr>
        <p:spPr>
          <a:xfrm>
            <a:off x="896112" y="1865376"/>
            <a:ext cx="438912" cy="438912"/>
          </a:xfrm>
          <a:prstGeom prst="ellipse">
            <a:avLst/>
          </a:prstGeom>
          <a:solidFill>
            <a:srgbClr val="028090"/>
          </a:solidFill>
          <a:ln w="6350">
            <a:solidFill>
              <a:srgbClr val="028090"/>
            </a:solidFill>
            <a:prstDash val="solid"/>
          </a:ln>
        </p:spPr>
      </p:sp>
      <p:sp>
        <p:nvSpPr>
          <p:cNvPr id="6" name="Text 4"/>
          <p:cNvSpPr txBox="1"/>
          <p:nvPr/>
        </p:nvSpPr>
        <p:spPr>
          <a:xfrm>
            <a:off x="896112" y="1883664"/>
            <a:ext cx="438912"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01</a:t>
            </a:r>
            <a:endParaRPr lang="en-US" sz="1250" dirty="0"/>
          </a:p>
        </p:txBody>
      </p:sp>
      <p:sp>
        <p:nvSpPr>
          <p:cNvPr id="7" name="Text 5"/>
          <p:cNvSpPr txBox="1"/>
          <p:nvPr/>
        </p:nvSpPr>
        <p:spPr>
          <a:xfrm>
            <a:off x="1508760" y="1801368"/>
            <a:ext cx="429768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Problem &amp; Existing System</a:t>
            </a:r>
            <a:endParaRPr lang="en-US" sz="1400" dirty="0"/>
          </a:p>
        </p:txBody>
      </p:sp>
      <p:sp>
        <p:nvSpPr>
          <p:cNvPr id="8" name="Text 6"/>
          <p:cNvSpPr txBox="1"/>
          <p:nvPr/>
        </p:nvSpPr>
        <p:spPr>
          <a:xfrm>
            <a:off x="1508760" y="2112264"/>
            <a:ext cx="434340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Why manual laundry handling fails at hostel scale</a:t>
            </a:r>
            <a:endParaRPr lang="en-US" sz="1150" dirty="0"/>
          </a:p>
        </p:txBody>
      </p:sp>
      <p:sp>
        <p:nvSpPr>
          <p:cNvPr id="9" name="Shape 7"/>
          <p:cNvSpPr/>
          <p:nvPr/>
        </p:nvSpPr>
        <p:spPr>
          <a:xfrm>
            <a:off x="6309360" y="1600200"/>
            <a:ext cx="5349240" cy="960120"/>
          </a:xfrm>
          <a:prstGeom prst="roundRect">
            <a:avLst>
              <a:gd name="adj" fmla="val 7619"/>
            </a:avLst>
          </a:prstGeom>
          <a:solidFill>
            <a:srgbClr val="F4F9F9"/>
          </a:solidFill>
          <a:ln w="9525">
            <a:solidFill>
              <a:srgbClr val="F4F9F9"/>
            </a:solidFill>
            <a:prstDash val="solid"/>
          </a:ln>
        </p:spPr>
      </p:sp>
      <p:sp>
        <p:nvSpPr>
          <p:cNvPr id="10" name="Shape 8"/>
          <p:cNvSpPr/>
          <p:nvPr/>
        </p:nvSpPr>
        <p:spPr>
          <a:xfrm>
            <a:off x="6565392" y="1865376"/>
            <a:ext cx="438912" cy="438912"/>
          </a:xfrm>
          <a:prstGeom prst="ellipse">
            <a:avLst/>
          </a:prstGeom>
          <a:solidFill>
            <a:srgbClr val="028090"/>
          </a:solidFill>
          <a:ln w="6350">
            <a:solidFill>
              <a:srgbClr val="028090"/>
            </a:solidFill>
            <a:prstDash val="solid"/>
          </a:ln>
        </p:spPr>
      </p:sp>
      <p:sp>
        <p:nvSpPr>
          <p:cNvPr id="11" name="Text 9"/>
          <p:cNvSpPr txBox="1"/>
          <p:nvPr/>
        </p:nvSpPr>
        <p:spPr>
          <a:xfrm>
            <a:off x="6565392" y="1883664"/>
            <a:ext cx="438912"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02</a:t>
            </a:r>
            <a:endParaRPr lang="en-US" sz="1250" dirty="0"/>
          </a:p>
        </p:txBody>
      </p:sp>
      <p:sp>
        <p:nvSpPr>
          <p:cNvPr id="12" name="Text 10"/>
          <p:cNvSpPr txBox="1"/>
          <p:nvPr/>
        </p:nvSpPr>
        <p:spPr>
          <a:xfrm>
            <a:off x="7178040" y="1801368"/>
            <a:ext cx="429768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Objectives &amp; Scope</a:t>
            </a:r>
            <a:endParaRPr lang="en-US" sz="1400" dirty="0"/>
          </a:p>
        </p:txBody>
      </p:sp>
      <p:sp>
        <p:nvSpPr>
          <p:cNvPr id="13" name="Text 11"/>
          <p:cNvSpPr txBox="1"/>
          <p:nvPr/>
        </p:nvSpPr>
        <p:spPr>
          <a:xfrm>
            <a:off x="7178040" y="2112264"/>
            <a:ext cx="434340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What the system will and will not do</a:t>
            </a:r>
            <a:endParaRPr lang="en-US" sz="1150" dirty="0"/>
          </a:p>
        </p:txBody>
      </p:sp>
      <p:sp>
        <p:nvSpPr>
          <p:cNvPr id="14" name="Shape 12"/>
          <p:cNvSpPr/>
          <p:nvPr/>
        </p:nvSpPr>
        <p:spPr>
          <a:xfrm>
            <a:off x="640080" y="2743200"/>
            <a:ext cx="5349240" cy="960120"/>
          </a:xfrm>
          <a:prstGeom prst="roundRect">
            <a:avLst>
              <a:gd name="adj" fmla="val 7619"/>
            </a:avLst>
          </a:prstGeom>
          <a:solidFill>
            <a:srgbClr val="F4F9F9"/>
          </a:solidFill>
          <a:ln w="9525">
            <a:solidFill>
              <a:srgbClr val="F4F9F9"/>
            </a:solidFill>
            <a:prstDash val="solid"/>
          </a:ln>
        </p:spPr>
      </p:sp>
      <p:sp>
        <p:nvSpPr>
          <p:cNvPr id="15" name="Shape 13"/>
          <p:cNvSpPr/>
          <p:nvPr/>
        </p:nvSpPr>
        <p:spPr>
          <a:xfrm>
            <a:off x="896112" y="3008376"/>
            <a:ext cx="438912" cy="438912"/>
          </a:xfrm>
          <a:prstGeom prst="ellipse">
            <a:avLst/>
          </a:prstGeom>
          <a:solidFill>
            <a:srgbClr val="028090"/>
          </a:solidFill>
          <a:ln w="6350">
            <a:solidFill>
              <a:srgbClr val="028090"/>
            </a:solidFill>
            <a:prstDash val="solid"/>
          </a:ln>
        </p:spPr>
      </p:sp>
      <p:sp>
        <p:nvSpPr>
          <p:cNvPr id="16" name="Text 14"/>
          <p:cNvSpPr txBox="1"/>
          <p:nvPr/>
        </p:nvSpPr>
        <p:spPr>
          <a:xfrm>
            <a:off x="896112" y="3026664"/>
            <a:ext cx="438912"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03</a:t>
            </a:r>
            <a:endParaRPr lang="en-US" sz="1250" dirty="0"/>
          </a:p>
        </p:txBody>
      </p:sp>
      <p:sp>
        <p:nvSpPr>
          <p:cNvPr id="17" name="Text 15"/>
          <p:cNvSpPr txBox="1"/>
          <p:nvPr/>
        </p:nvSpPr>
        <p:spPr>
          <a:xfrm>
            <a:off x="1508760" y="2944368"/>
            <a:ext cx="429768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Requirement Analysis</a:t>
            </a:r>
            <a:endParaRPr lang="en-US" sz="1400" dirty="0"/>
          </a:p>
        </p:txBody>
      </p:sp>
      <p:sp>
        <p:nvSpPr>
          <p:cNvPr id="18" name="Text 16"/>
          <p:cNvSpPr txBox="1"/>
          <p:nvPr/>
        </p:nvSpPr>
        <p:spPr>
          <a:xfrm>
            <a:off x="1508760" y="3255264"/>
            <a:ext cx="434340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Actors, stakeholder inputs, FR and NFR</a:t>
            </a:r>
            <a:endParaRPr lang="en-US" sz="1150" dirty="0"/>
          </a:p>
        </p:txBody>
      </p:sp>
      <p:sp>
        <p:nvSpPr>
          <p:cNvPr id="19" name="Shape 17"/>
          <p:cNvSpPr/>
          <p:nvPr/>
        </p:nvSpPr>
        <p:spPr>
          <a:xfrm>
            <a:off x="6309360" y="2743200"/>
            <a:ext cx="5349240" cy="960120"/>
          </a:xfrm>
          <a:prstGeom prst="roundRect">
            <a:avLst>
              <a:gd name="adj" fmla="val 7619"/>
            </a:avLst>
          </a:prstGeom>
          <a:solidFill>
            <a:srgbClr val="F4F9F9"/>
          </a:solidFill>
          <a:ln w="9525">
            <a:solidFill>
              <a:srgbClr val="F4F9F9"/>
            </a:solidFill>
            <a:prstDash val="solid"/>
          </a:ln>
        </p:spPr>
      </p:sp>
      <p:sp>
        <p:nvSpPr>
          <p:cNvPr id="20" name="Shape 18"/>
          <p:cNvSpPr/>
          <p:nvPr/>
        </p:nvSpPr>
        <p:spPr>
          <a:xfrm>
            <a:off x="6565392" y="3008376"/>
            <a:ext cx="438912" cy="438912"/>
          </a:xfrm>
          <a:prstGeom prst="ellipse">
            <a:avLst/>
          </a:prstGeom>
          <a:solidFill>
            <a:srgbClr val="028090"/>
          </a:solidFill>
          <a:ln w="6350">
            <a:solidFill>
              <a:srgbClr val="028090"/>
            </a:solidFill>
            <a:prstDash val="solid"/>
          </a:ln>
        </p:spPr>
      </p:sp>
      <p:sp>
        <p:nvSpPr>
          <p:cNvPr id="21" name="Text 19"/>
          <p:cNvSpPr txBox="1"/>
          <p:nvPr/>
        </p:nvSpPr>
        <p:spPr>
          <a:xfrm>
            <a:off x="6565392" y="3026664"/>
            <a:ext cx="438912"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04</a:t>
            </a:r>
            <a:endParaRPr lang="en-US" sz="1250" dirty="0"/>
          </a:p>
        </p:txBody>
      </p:sp>
      <p:sp>
        <p:nvSpPr>
          <p:cNvPr id="22" name="Text 20"/>
          <p:cNvSpPr txBox="1"/>
          <p:nvPr/>
        </p:nvSpPr>
        <p:spPr>
          <a:xfrm>
            <a:off x="7178040" y="2944368"/>
            <a:ext cx="429768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System Design</a:t>
            </a:r>
            <a:endParaRPr lang="en-US" sz="1400" dirty="0"/>
          </a:p>
        </p:txBody>
      </p:sp>
      <p:sp>
        <p:nvSpPr>
          <p:cNvPr id="23" name="Text 21"/>
          <p:cNvSpPr txBox="1"/>
          <p:nvPr/>
        </p:nvSpPr>
        <p:spPr>
          <a:xfrm>
            <a:off x="7178040" y="3255264"/>
            <a:ext cx="434340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Architecture, UML models and DFDs</a:t>
            </a:r>
            <a:endParaRPr lang="en-US" sz="1150" dirty="0"/>
          </a:p>
        </p:txBody>
      </p:sp>
      <p:sp>
        <p:nvSpPr>
          <p:cNvPr id="24" name="Shape 22"/>
          <p:cNvSpPr/>
          <p:nvPr/>
        </p:nvSpPr>
        <p:spPr>
          <a:xfrm>
            <a:off x="640080" y="3886200"/>
            <a:ext cx="5349240" cy="960120"/>
          </a:xfrm>
          <a:prstGeom prst="roundRect">
            <a:avLst>
              <a:gd name="adj" fmla="val 7619"/>
            </a:avLst>
          </a:prstGeom>
          <a:solidFill>
            <a:srgbClr val="F4F9F9"/>
          </a:solidFill>
          <a:ln w="9525">
            <a:solidFill>
              <a:srgbClr val="F4F9F9"/>
            </a:solidFill>
            <a:prstDash val="solid"/>
          </a:ln>
        </p:spPr>
      </p:sp>
      <p:sp>
        <p:nvSpPr>
          <p:cNvPr id="25" name="Shape 23"/>
          <p:cNvSpPr/>
          <p:nvPr/>
        </p:nvSpPr>
        <p:spPr>
          <a:xfrm>
            <a:off x="896112" y="4151376"/>
            <a:ext cx="438912" cy="438912"/>
          </a:xfrm>
          <a:prstGeom prst="ellipse">
            <a:avLst/>
          </a:prstGeom>
          <a:solidFill>
            <a:srgbClr val="028090"/>
          </a:solidFill>
          <a:ln w="6350">
            <a:solidFill>
              <a:srgbClr val="028090"/>
            </a:solidFill>
            <a:prstDash val="solid"/>
          </a:ln>
        </p:spPr>
      </p:sp>
      <p:sp>
        <p:nvSpPr>
          <p:cNvPr id="26" name="Text 24"/>
          <p:cNvSpPr txBox="1"/>
          <p:nvPr/>
        </p:nvSpPr>
        <p:spPr>
          <a:xfrm>
            <a:off x="896112" y="4169664"/>
            <a:ext cx="438912"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05</a:t>
            </a:r>
            <a:endParaRPr lang="en-US" sz="1250" dirty="0"/>
          </a:p>
        </p:txBody>
      </p:sp>
      <p:sp>
        <p:nvSpPr>
          <p:cNvPr id="27" name="Text 25"/>
          <p:cNvSpPr txBox="1"/>
          <p:nvPr/>
        </p:nvSpPr>
        <p:spPr>
          <a:xfrm>
            <a:off x="1508760" y="4087368"/>
            <a:ext cx="429768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Database &amp; Tech Stack</a:t>
            </a:r>
            <a:endParaRPr lang="en-US" sz="1400" dirty="0"/>
          </a:p>
        </p:txBody>
      </p:sp>
      <p:sp>
        <p:nvSpPr>
          <p:cNvPr id="28" name="Text 26"/>
          <p:cNvSpPr txBox="1"/>
          <p:nvPr/>
        </p:nvSpPr>
        <p:spPr>
          <a:xfrm>
            <a:off x="1508760" y="4398264"/>
            <a:ext cx="434340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Relational schema and chosen technologies</a:t>
            </a:r>
            <a:endParaRPr lang="en-US" sz="1150" dirty="0"/>
          </a:p>
        </p:txBody>
      </p:sp>
      <p:sp>
        <p:nvSpPr>
          <p:cNvPr id="29" name="Shape 27"/>
          <p:cNvSpPr/>
          <p:nvPr/>
        </p:nvSpPr>
        <p:spPr>
          <a:xfrm>
            <a:off x="6309360" y="3886200"/>
            <a:ext cx="5349240" cy="960120"/>
          </a:xfrm>
          <a:prstGeom prst="roundRect">
            <a:avLst>
              <a:gd name="adj" fmla="val 7619"/>
            </a:avLst>
          </a:prstGeom>
          <a:solidFill>
            <a:srgbClr val="F4F9F9"/>
          </a:solidFill>
          <a:ln w="9525">
            <a:solidFill>
              <a:srgbClr val="F4F9F9"/>
            </a:solidFill>
            <a:prstDash val="solid"/>
          </a:ln>
        </p:spPr>
      </p:sp>
      <p:sp>
        <p:nvSpPr>
          <p:cNvPr id="30" name="Shape 28"/>
          <p:cNvSpPr/>
          <p:nvPr/>
        </p:nvSpPr>
        <p:spPr>
          <a:xfrm>
            <a:off x="6565392" y="4151376"/>
            <a:ext cx="438912" cy="438912"/>
          </a:xfrm>
          <a:prstGeom prst="ellipse">
            <a:avLst/>
          </a:prstGeom>
          <a:solidFill>
            <a:srgbClr val="028090"/>
          </a:solidFill>
          <a:ln w="6350">
            <a:solidFill>
              <a:srgbClr val="028090"/>
            </a:solidFill>
            <a:prstDash val="solid"/>
          </a:ln>
        </p:spPr>
      </p:sp>
      <p:sp>
        <p:nvSpPr>
          <p:cNvPr id="31" name="Text 29"/>
          <p:cNvSpPr txBox="1"/>
          <p:nvPr/>
        </p:nvSpPr>
        <p:spPr>
          <a:xfrm>
            <a:off x="6565392" y="4169664"/>
            <a:ext cx="438912"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06</a:t>
            </a:r>
            <a:endParaRPr lang="en-US" sz="1250" dirty="0"/>
          </a:p>
        </p:txBody>
      </p:sp>
      <p:sp>
        <p:nvSpPr>
          <p:cNvPr id="32" name="Text 30"/>
          <p:cNvSpPr txBox="1"/>
          <p:nvPr/>
        </p:nvSpPr>
        <p:spPr>
          <a:xfrm>
            <a:off x="7178040" y="4087368"/>
            <a:ext cx="429768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Implementation &amp; Testing</a:t>
            </a:r>
            <a:endParaRPr lang="en-US" sz="1400" dirty="0"/>
          </a:p>
        </p:txBody>
      </p:sp>
      <p:sp>
        <p:nvSpPr>
          <p:cNvPr id="33" name="Text 31"/>
          <p:cNvSpPr txBox="1"/>
          <p:nvPr/>
        </p:nvSpPr>
        <p:spPr>
          <a:xfrm>
            <a:off x="7178040" y="4398264"/>
            <a:ext cx="434340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What is built and verified so far</a:t>
            </a:r>
            <a:endParaRPr lang="en-US" sz="1150" dirty="0"/>
          </a:p>
        </p:txBody>
      </p:sp>
      <p:sp>
        <p:nvSpPr>
          <p:cNvPr id="34" name="Shape 32"/>
          <p:cNvSpPr/>
          <p:nvPr/>
        </p:nvSpPr>
        <p:spPr>
          <a:xfrm>
            <a:off x="640080" y="5029200"/>
            <a:ext cx="5349240" cy="960120"/>
          </a:xfrm>
          <a:prstGeom prst="roundRect">
            <a:avLst>
              <a:gd name="adj" fmla="val 7619"/>
            </a:avLst>
          </a:prstGeom>
          <a:solidFill>
            <a:srgbClr val="F4F9F9"/>
          </a:solidFill>
          <a:ln w="9525">
            <a:solidFill>
              <a:srgbClr val="F4F9F9"/>
            </a:solidFill>
            <a:prstDash val="solid"/>
          </a:ln>
        </p:spPr>
      </p:sp>
      <p:sp>
        <p:nvSpPr>
          <p:cNvPr id="35" name="Shape 33"/>
          <p:cNvSpPr/>
          <p:nvPr/>
        </p:nvSpPr>
        <p:spPr>
          <a:xfrm>
            <a:off x="896112" y="5294376"/>
            <a:ext cx="438912" cy="438912"/>
          </a:xfrm>
          <a:prstGeom prst="ellipse">
            <a:avLst/>
          </a:prstGeom>
          <a:solidFill>
            <a:srgbClr val="028090"/>
          </a:solidFill>
          <a:ln w="6350">
            <a:solidFill>
              <a:srgbClr val="028090"/>
            </a:solidFill>
            <a:prstDash val="solid"/>
          </a:ln>
        </p:spPr>
      </p:sp>
      <p:sp>
        <p:nvSpPr>
          <p:cNvPr id="36" name="Text 34"/>
          <p:cNvSpPr txBox="1"/>
          <p:nvPr/>
        </p:nvSpPr>
        <p:spPr>
          <a:xfrm>
            <a:off x="896112" y="5312664"/>
            <a:ext cx="438912"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07</a:t>
            </a:r>
            <a:endParaRPr lang="en-US" sz="1250" dirty="0"/>
          </a:p>
        </p:txBody>
      </p:sp>
      <p:sp>
        <p:nvSpPr>
          <p:cNvPr id="37" name="Text 35"/>
          <p:cNvSpPr txBox="1"/>
          <p:nvPr/>
        </p:nvSpPr>
        <p:spPr>
          <a:xfrm>
            <a:off x="1508760" y="5230368"/>
            <a:ext cx="429768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Status, Challenges, Limitations</a:t>
            </a:r>
            <a:endParaRPr lang="en-US" sz="1400" dirty="0"/>
          </a:p>
        </p:txBody>
      </p:sp>
      <p:sp>
        <p:nvSpPr>
          <p:cNvPr id="38" name="Text 36"/>
          <p:cNvSpPr txBox="1"/>
          <p:nvPr/>
        </p:nvSpPr>
        <p:spPr>
          <a:xfrm>
            <a:off x="1508760" y="5541264"/>
            <a:ext cx="434340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An honest picture of the current phase</a:t>
            </a:r>
            <a:endParaRPr lang="en-US" sz="1150" dirty="0"/>
          </a:p>
        </p:txBody>
      </p:sp>
      <p:sp>
        <p:nvSpPr>
          <p:cNvPr id="39" name="Shape 37"/>
          <p:cNvSpPr/>
          <p:nvPr/>
        </p:nvSpPr>
        <p:spPr>
          <a:xfrm>
            <a:off x="6309360" y="5029200"/>
            <a:ext cx="5349240" cy="960120"/>
          </a:xfrm>
          <a:prstGeom prst="roundRect">
            <a:avLst>
              <a:gd name="adj" fmla="val 7619"/>
            </a:avLst>
          </a:prstGeom>
          <a:solidFill>
            <a:srgbClr val="F4F9F9"/>
          </a:solidFill>
          <a:ln w="9525">
            <a:solidFill>
              <a:srgbClr val="F4F9F9"/>
            </a:solidFill>
            <a:prstDash val="solid"/>
          </a:ln>
        </p:spPr>
      </p:sp>
      <p:sp>
        <p:nvSpPr>
          <p:cNvPr id="40" name="Shape 38"/>
          <p:cNvSpPr/>
          <p:nvPr/>
        </p:nvSpPr>
        <p:spPr>
          <a:xfrm>
            <a:off x="6565392" y="5294376"/>
            <a:ext cx="438912" cy="438912"/>
          </a:xfrm>
          <a:prstGeom prst="ellipse">
            <a:avLst/>
          </a:prstGeom>
          <a:solidFill>
            <a:srgbClr val="028090"/>
          </a:solidFill>
          <a:ln w="6350">
            <a:solidFill>
              <a:srgbClr val="028090"/>
            </a:solidFill>
            <a:prstDash val="solid"/>
          </a:ln>
        </p:spPr>
      </p:sp>
      <p:sp>
        <p:nvSpPr>
          <p:cNvPr id="41" name="Text 39"/>
          <p:cNvSpPr txBox="1"/>
          <p:nvPr/>
        </p:nvSpPr>
        <p:spPr>
          <a:xfrm>
            <a:off x="6565392" y="5312664"/>
            <a:ext cx="438912"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08</a:t>
            </a:r>
            <a:endParaRPr lang="en-US" sz="1250" dirty="0"/>
          </a:p>
        </p:txBody>
      </p:sp>
      <p:sp>
        <p:nvSpPr>
          <p:cNvPr id="42" name="Text 40"/>
          <p:cNvSpPr txBox="1"/>
          <p:nvPr/>
        </p:nvSpPr>
        <p:spPr>
          <a:xfrm>
            <a:off x="7178040" y="5230368"/>
            <a:ext cx="429768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Future Work &amp; Conclusion</a:t>
            </a:r>
            <a:endParaRPr lang="en-US" sz="1400" dirty="0"/>
          </a:p>
        </p:txBody>
      </p:sp>
      <p:sp>
        <p:nvSpPr>
          <p:cNvPr id="43" name="Text 41"/>
          <p:cNvSpPr txBox="1"/>
          <p:nvPr/>
        </p:nvSpPr>
        <p:spPr>
          <a:xfrm>
            <a:off x="7178040" y="5541264"/>
            <a:ext cx="434340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The roadmap to a complete system</a:t>
            </a:r>
            <a:endParaRPr lang="en-US" sz="1150" dirty="0"/>
          </a:p>
        </p:txBody>
      </p:sp>
      <p:sp>
        <p:nvSpPr>
          <p:cNvPr id="44" name="Text 42"/>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2</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Problem Statement</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350" dirty="0">
                <a:solidFill>
                  <a:srgbClr val="6E8288"/>
                </a:solidFill>
                <a:latin typeface="Calibri" pitchFamily="34" charset="0"/>
                <a:ea typeface="Calibri" pitchFamily="34" charset="-122"/>
                <a:cs typeface="Calibri" pitchFamily="34" charset="-120"/>
              </a:rPr>
              <a:t>Hostel laundry is still run on paper registers, verbal tokens and informal recognition. At hostel scale, this breaks down in six recurring ways.</a:t>
            </a:r>
            <a:endParaRPr lang="en-US" sz="1350" dirty="0"/>
          </a:p>
        </p:txBody>
      </p:sp>
      <p:sp>
        <p:nvSpPr>
          <p:cNvPr id="5" name="Shape 3"/>
          <p:cNvSpPr/>
          <p:nvPr/>
        </p:nvSpPr>
        <p:spPr>
          <a:xfrm>
            <a:off x="640080" y="1920240"/>
            <a:ext cx="3465576" cy="1874520"/>
          </a:xfrm>
          <a:prstGeom prst="roundRect">
            <a:avLst>
              <a:gd name="adj" fmla="val 3902"/>
            </a:avLst>
          </a:prstGeom>
          <a:solidFill>
            <a:srgbClr val="E9F3F4"/>
          </a:solidFill>
          <a:ln w="9525">
            <a:solidFill>
              <a:srgbClr val="E9F3F4"/>
            </a:solidFill>
            <a:prstDash val="solid"/>
          </a:ln>
        </p:spPr>
      </p:sp>
      <p:sp>
        <p:nvSpPr>
          <p:cNvPr id="6" name="Shape 4"/>
          <p:cNvSpPr/>
          <p:nvPr/>
        </p:nvSpPr>
        <p:spPr>
          <a:xfrm>
            <a:off x="914400" y="2176272"/>
            <a:ext cx="384048" cy="384048"/>
          </a:xfrm>
          <a:prstGeom prst="ellipse">
            <a:avLst/>
          </a:prstGeom>
          <a:solidFill>
            <a:srgbClr val="0B3B47"/>
          </a:solidFill>
          <a:ln w="6350">
            <a:solidFill>
              <a:srgbClr val="0B3B47"/>
            </a:solidFill>
            <a:prstDash val="solid"/>
          </a:ln>
        </p:spPr>
      </p:sp>
      <p:sp>
        <p:nvSpPr>
          <p:cNvPr id="7" name="Text 5"/>
          <p:cNvSpPr txBox="1"/>
          <p:nvPr/>
        </p:nvSpPr>
        <p:spPr>
          <a:xfrm>
            <a:off x="914400" y="2194560"/>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txBox="1"/>
          <p:nvPr/>
        </p:nvSpPr>
        <p:spPr>
          <a:xfrm>
            <a:off x="914400" y="2697480"/>
            <a:ext cx="2926080" cy="274320"/>
          </a:xfrm>
          <a:prstGeom prst="rect">
            <a:avLst/>
          </a:prstGeom>
          <a:noFill/>
          <a:ln/>
        </p:spPr>
        <p:txBody>
          <a:bodyPr wrap="square" lIns="0" tIns="0" rIns="0" bIns="0" rtlCol="0" anchor="t"/>
          <a:lstStyle/>
          <a:p>
            <a:pPr indent="0" marL="0">
              <a:buNone/>
            </a:pPr>
            <a:r>
              <a:rPr lang="en-US" sz="1450" b="1" dirty="0">
                <a:solidFill>
                  <a:srgbClr val="0B3B47"/>
                </a:solidFill>
                <a:latin typeface="Calibri" pitchFamily="34" charset="0"/>
                <a:ea typeface="Calibri" pitchFamily="34" charset="-122"/>
                <a:cs typeface="Calibri" pitchFamily="34" charset="-120"/>
              </a:rPr>
              <a:t>No visibility</a:t>
            </a:r>
            <a:endParaRPr lang="en-US" sz="1450" dirty="0"/>
          </a:p>
        </p:txBody>
      </p:sp>
      <p:sp>
        <p:nvSpPr>
          <p:cNvPr id="9" name="Text 7"/>
          <p:cNvSpPr txBox="1"/>
          <p:nvPr/>
        </p:nvSpPr>
        <p:spPr>
          <a:xfrm>
            <a:off x="914400" y="3017520"/>
            <a:ext cx="297180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Students cannot check status without walking to the laundry counter.</a:t>
            </a:r>
            <a:endParaRPr lang="en-US" sz="1150" dirty="0"/>
          </a:p>
        </p:txBody>
      </p:sp>
      <p:sp>
        <p:nvSpPr>
          <p:cNvPr id="10" name="Shape 8"/>
          <p:cNvSpPr/>
          <p:nvPr/>
        </p:nvSpPr>
        <p:spPr>
          <a:xfrm>
            <a:off x="4379976" y="1920240"/>
            <a:ext cx="3465576" cy="1874520"/>
          </a:xfrm>
          <a:prstGeom prst="roundRect">
            <a:avLst>
              <a:gd name="adj" fmla="val 3902"/>
            </a:avLst>
          </a:prstGeom>
          <a:solidFill>
            <a:srgbClr val="E9F3F4"/>
          </a:solidFill>
          <a:ln w="9525">
            <a:solidFill>
              <a:srgbClr val="E9F3F4"/>
            </a:solidFill>
            <a:prstDash val="solid"/>
          </a:ln>
        </p:spPr>
      </p:sp>
      <p:sp>
        <p:nvSpPr>
          <p:cNvPr id="11" name="Shape 9"/>
          <p:cNvSpPr/>
          <p:nvPr/>
        </p:nvSpPr>
        <p:spPr>
          <a:xfrm>
            <a:off x="4654296" y="2176272"/>
            <a:ext cx="384048" cy="384048"/>
          </a:xfrm>
          <a:prstGeom prst="ellipse">
            <a:avLst/>
          </a:prstGeom>
          <a:solidFill>
            <a:srgbClr val="0B3B47"/>
          </a:solidFill>
          <a:ln w="6350">
            <a:solidFill>
              <a:srgbClr val="0B3B47"/>
            </a:solidFill>
            <a:prstDash val="solid"/>
          </a:ln>
        </p:spPr>
      </p:sp>
      <p:sp>
        <p:nvSpPr>
          <p:cNvPr id="12" name="Text 10"/>
          <p:cNvSpPr txBox="1"/>
          <p:nvPr/>
        </p:nvSpPr>
        <p:spPr>
          <a:xfrm>
            <a:off x="4654296" y="2194560"/>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txBox="1"/>
          <p:nvPr/>
        </p:nvSpPr>
        <p:spPr>
          <a:xfrm>
            <a:off x="4654296" y="2697480"/>
            <a:ext cx="2926080" cy="274320"/>
          </a:xfrm>
          <a:prstGeom prst="rect">
            <a:avLst/>
          </a:prstGeom>
          <a:noFill/>
          <a:ln/>
        </p:spPr>
        <p:txBody>
          <a:bodyPr wrap="square" lIns="0" tIns="0" rIns="0" bIns="0" rtlCol="0" anchor="t"/>
          <a:lstStyle/>
          <a:p>
            <a:pPr indent="0" marL="0">
              <a:buNone/>
            </a:pPr>
            <a:r>
              <a:rPr lang="en-US" sz="1450" b="1" dirty="0">
                <a:solidFill>
                  <a:srgbClr val="0B3B47"/>
                </a:solidFill>
                <a:latin typeface="Calibri" pitchFamily="34" charset="0"/>
                <a:ea typeface="Calibri" pitchFamily="34" charset="-122"/>
                <a:cs typeface="Calibri" pitchFamily="34" charset="-120"/>
              </a:rPr>
              <a:t>No digital record</a:t>
            </a:r>
            <a:endParaRPr lang="en-US" sz="1450" dirty="0"/>
          </a:p>
        </p:txBody>
      </p:sp>
      <p:sp>
        <p:nvSpPr>
          <p:cNvPr id="14" name="Text 12"/>
          <p:cNvSpPr txBox="1"/>
          <p:nvPr/>
        </p:nvSpPr>
        <p:spPr>
          <a:xfrm>
            <a:off x="4654296" y="3017520"/>
            <a:ext cx="297180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Nothing reliably links a batch of clothes to the student who submitted it.</a:t>
            </a:r>
            <a:endParaRPr lang="en-US" sz="1150" dirty="0"/>
          </a:p>
        </p:txBody>
      </p:sp>
      <p:sp>
        <p:nvSpPr>
          <p:cNvPr id="15" name="Shape 13"/>
          <p:cNvSpPr/>
          <p:nvPr/>
        </p:nvSpPr>
        <p:spPr>
          <a:xfrm>
            <a:off x="8119872" y="1920240"/>
            <a:ext cx="3465576" cy="1874520"/>
          </a:xfrm>
          <a:prstGeom prst="roundRect">
            <a:avLst>
              <a:gd name="adj" fmla="val 3902"/>
            </a:avLst>
          </a:prstGeom>
          <a:solidFill>
            <a:srgbClr val="E9F3F4"/>
          </a:solidFill>
          <a:ln w="9525">
            <a:solidFill>
              <a:srgbClr val="E9F3F4"/>
            </a:solidFill>
            <a:prstDash val="solid"/>
          </a:ln>
        </p:spPr>
      </p:sp>
      <p:sp>
        <p:nvSpPr>
          <p:cNvPr id="16" name="Shape 14"/>
          <p:cNvSpPr/>
          <p:nvPr/>
        </p:nvSpPr>
        <p:spPr>
          <a:xfrm>
            <a:off x="8394192" y="2176272"/>
            <a:ext cx="384048" cy="384048"/>
          </a:xfrm>
          <a:prstGeom prst="ellipse">
            <a:avLst/>
          </a:prstGeom>
          <a:solidFill>
            <a:srgbClr val="0B3B47"/>
          </a:solidFill>
          <a:ln w="6350">
            <a:solidFill>
              <a:srgbClr val="0B3B47"/>
            </a:solidFill>
            <a:prstDash val="solid"/>
          </a:ln>
        </p:spPr>
      </p:sp>
      <p:sp>
        <p:nvSpPr>
          <p:cNvPr id="17" name="Text 15"/>
          <p:cNvSpPr txBox="1"/>
          <p:nvPr/>
        </p:nvSpPr>
        <p:spPr>
          <a:xfrm>
            <a:off x="8394192" y="2194560"/>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8394192" y="2697480"/>
            <a:ext cx="2926080" cy="274320"/>
          </a:xfrm>
          <a:prstGeom prst="rect">
            <a:avLst/>
          </a:prstGeom>
          <a:noFill/>
          <a:ln/>
        </p:spPr>
        <p:txBody>
          <a:bodyPr wrap="square" lIns="0" tIns="0" rIns="0" bIns="0" rtlCol="0" anchor="t"/>
          <a:lstStyle/>
          <a:p>
            <a:pPr indent="0" marL="0">
              <a:buNone/>
            </a:pPr>
            <a:r>
              <a:rPr lang="en-US" sz="1450" b="1" dirty="0">
                <a:solidFill>
                  <a:srgbClr val="0B3B47"/>
                </a:solidFill>
                <a:latin typeface="Calibri" pitchFamily="34" charset="0"/>
                <a:ea typeface="Calibri" pitchFamily="34" charset="-122"/>
                <a:cs typeface="Calibri" pitchFamily="34" charset="-120"/>
              </a:rPr>
              <a:t>No structured queue</a:t>
            </a:r>
            <a:endParaRPr lang="en-US" sz="1450" dirty="0"/>
          </a:p>
        </p:txBody>
      </p:sp>
      <p:sp>
        <p:nvSpPr>
          <p:cNvPr id="19" name="Text 17"/>
          <p:cNvSpPr txBox="1"/>
          <p:nvPr/>
        </p:nvSpPr>
        <p:spPr>
          <a:xfrm>
            <a:off x="8394192" y="3017520"/>
            <a:ext cx="297180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Staff manage incoming and outgoing batches from memory, especially at peak.</a:t>
            </a:r>
            <a:endParaRPr lang="en-US" sz="1150" dirty="0"/>
          </a:p>
        </p:txBody>
      </p:sp>
      <p:sp>
        <p:nvSpPr>
          <p:cNvPr id="20" name="Shape 18"/>
          <p:cNvSpPr/>
          <p:nvPr/>
        </p:nvSpPr>
        <p:spPr>
          <a:xfrm>
            <a:off x="640080" y="4005072"/>
            <a:ext cx="3465576" cy="1874520"/>
          </a:xfrm>
          <a:prstGeom prst="roundRect">
            <a:avLst>
              <a:gd name="adj" fmla="val 3902"/>
            </a:avLst>
          </a:prstGeom>
          <a:solidFill>
            <a:srgbClr val="E9F3F4"/>
          </a:solidFill>
          <a:ln w="9525">
            <a:solidFill>
              <a:srgbClr val="E9F3F4"/>
            </a:solidFill>
            <a:prstDash val="solid"/>
          </a:ln>
        </p:spPr>
      </p:sp>
      <p:sp>
        <p:nvSpPr>
          <p:cNvPr id="21" name="Shape 19"/>
          <p:cNvSpPr/>
          <p:nvPr/>
        </p:nvSpPr>
        <p:spPr>
          <a:xfrm>
            <a:off x="914400" y="4261104"/>
            <a:ext cx="384048" cy="384048"/>
          </a:xfrm>
          <a:prstGeom prst="ellipse">
            <a:avLst/>
          </a:prstGeom>
          <a:solidFill>
            <a:srgbClr val="0B3B47"/>
          </a:solidFill>
          <a:ln w="6350">
            <a:solidFill>
              <a:srgbClr val="0B3B47"/>
            </a:solidFill>
            <a:prstDash val="solid"/>
          </a:ln>
        </p:spPr>
      </p:sp>
      <p:sp>
        <p:nvSpPr>
          <p:cNvPr id="22" name="Text 20"/>
          <p:cNvSpPr txBox="1"/>
          <p:nvPr/>
        </p:nvSpPr>
        <p:spPr>
          <a:xfrm>
            <a:off x="914400" y="427939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txBox="1"/>
          <p:nvPr/>
        </p:nvSpPr>
        <p:spPr>
          <a:xfrm>
            <a:off x="914400" y="4782312"/>
            <a:ext cx="2926080" cy="274320"/>
          </a:xfrm>
          <a:prstGeom prst="rect">
            <a:avLst/>
          </a:prstGeom>
          <a:noFill/>
          <a:ln/>
        </p:spPr>
        <p:txBody>
          <a:bodyPr wrap="square" lIns="0" tIns="0" rIns="0" bIns="0" rtlCol="0" anchor="t"/>
          <a:lstStyle/>
          <a:p>
            <a:pPr indent="0" marL="0">
              <a:buNone/>
            </a:pPr>
            <a:r>
              <a:rPr lang="en-US" sz="1450" b="1" dirty="0">
                <a:solidFill>
                  <a:srgbClr val="0B3B47"/>
                </a:solidFill>
                <a:latin typeface="Calibri" pitchFamily="34" charset="0"/>
                <a:ea typeface="Calibri" pitchFamily="34" charset="-122"/>
                <a:cs typeface="Calibri" pitchFamily="34" charset="-120"/>
              </a:rPr>
              <a:t>Unverified pickup</a:t>
            </a:r>
            <a:endParaRPr lang="en-US" sz="1450" dirty="0"/>
          </a:p>
        </p:txBody>
      </p:sp>
      <p:sp>
        <p:nvSpPr>
          <p:cNvPr id="24" name="Text 22"/>
          <p:cNvSpPr txBox="1"/>
          <p:nvPr/>
        </p:nvSpPr>
        <p:spPr>
          <a:xfrm>
            <a:off x="914400" y="5102352"/>
            <a:ext cx="297180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Collection rests on informal recognition — no guard against duplicate or wrong handover.</a:t>
            </a:r>
            <a:endParaRPr lang="en-US" sz="1150" dirty="0"/>
          </a:p>
        </p:txBody>
      </p:sp>
      <p:sp>
        <p:nvSpPr>
          <p:cNvPr id="25" name="Shape 23"/>
          <p:cNvSpPr/>
          <p:nvPr/>
        </p:nvSpPr>
        <p:spPr>
          <a:xfrm>
            <a:off x="4379976" y="4005072"/>
            <a:ext cx="3465576" cy="1874520"/>
          </a:xfrm>
          <a:prstGeom prst="roundRect">
            <a:avLst>
              <a:gd name="adj" fmla="val 3902"/>
            </a:avLst>
          </a:prstGeom>
          <a:solidFill>
            <a:srgbClr val="E9F3F4"/>
          </a:solidFill>
          <a:ln w="9525">
            <a:solidFill>
              <a:srgbClr val="E9F3F4"/>
            </a:solidFill>
            <a:prstDash val="solid"/>
          </a:ln>
        </p:spPr>
      </p:sp>
      <p:sp>
        <p:nvSpPr>
          <p:cNvPr id="26" name="Shape 24"/>
          <p:cNvSpPr/>
          <p:nvPr/>
        </p:nvSpPr>
        <p:spPr>
          <a:xfrm>
            <a:off x="4654296" y="4261104"/>
            <a:ext cx="384048" cy="384048"/>
          </a:xfrm>
          <a:prstGeom prst="ellipse">
            <a:avLst/>
          </a:prstGeom>
          <a:solidFill>
            <a:srgbClr val="0B3B47"/>
          </a:solidFill>
          <a:ln w="6350">
            <a:solidFill>
              <a:srgbClr val="0B3B47"/>
            </a:solidFill>
            <a:prstDash val="solid"/>
          </a:ln>
        </p:spPr>
      </p:sp>
      <p:sp>
        <p:nvSpPr>
          <p:cNvPr id="27" name="Text 25"/>
          <p:cNvSpPr txBox="1"/>
          <p:nvPr/>
        </p:nvSpPr>
        <p:spPr>
          <a:xfrm>
            <a:off x="4654296" y="427939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8" name="Text 26"/>
          <p:cNvSpPr txBox="1"/>
          <p:nvPr/>
        </p:nvSpPr>
        <p:spPr>
          <a:xfrm>
            <a:off x="4654296" y="4782312"/>
            <a:ext cx="2926080" cy="274320"/>
          </a:xfrm>
          <a:prstGeom prst="rect">
            <a:avLst/>
          </a:prstGeom>
          <a:noFill/>
          <a:ln/>
        </p:spPr>
        <p:txBody>
          <a:bodyPr wrap="square" lIns="0" tIns="0" rIns="0" bIns="0" rtlCol="0" anchor="t"/>
          <a:lstStyle/>
          <a:p>
            <a:pPr indent="0" marL="0">
              <a:buNone/>
            </a:pPr>
            <a:r>
              <a:rPr lang="en-US" sz="1450" b="1" dirty="0">
                <a:solidFill>
                  <a:srgbClr val="0B3B47"/>
                </a:solidFill>
                <a:latin typeface="Calibri" pitchFamily="34" charset="0"/>
                <a:ea typeface="Calibri" pitchFamily="34" charset="-122"/>
                <a:cs typeface="Calibri" pitchFamily="34" charset="-120"/>
              </a:rPr>
              <a:t>No complaint trail</a:t>
            </a:r>
            <a:endParaRPr lang="en-US" sz="1450" dirty="0"/>
          </a:p>
        </p:txBody>
      </p:sp>
      <p:sp>
        <p:nvSpPr>
          <p:cNvPr id="29" name="Text 27"/>
          <p:cNvSpPr txBox="1"/>
          <p:nvPr/>
        </p:nvSpPr>
        <p:spPr>
          <a:xfrm>
            <a:off x="4654296" y="5102352"/>
            <a:ext cx="297180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Missing or damaged items are raised verbally and rarely tracked to resolution.</a:t>
            </a:r>
            <a:endParaRPr lang="en-US" sz="1150" dirty="0"/>
          </a:p>
        </p:txBody>
      </p:sp>
      <p:sp>
        <p:nvSpPr>
          <p:cNvPr id="30" name="Shape 28"/>
          <p:cNvSpPr/>
          <p:nvPr/>
        </p:nvSpPr>
        <p:spPr>
          <a:xfrm>
            <a:off x="8119872" y="4005072"/>
            <a:ext cx="3465576" cy="1874520"/>
          </a:xfrm>
          <a:prstGeom prst="roundRect">
            <a:avLst>
              <a:gd name="adj" fmla="val 3902"/>
            </a:avLst>
          </a:prstGeom>
          <a:solidFill>
            <a:srgbClr val="E9F3F4"/>
          </a:solidFill>
          <a:ln w="9525">
            <a:solidFill>
              <a:srgbClr val="E9F3F4"/>
            </a:solidFill>
            <a:prstDash val="solid"/>
          </a:ln>
        </p:spPr>
      </p:sp>
      <p:sp>
        <p:nvSpPr>
          <p:cNvPr id="31" name="Shape 29"/>
          <p:cNvSpPr/>
          <p:nvPr/>
        </p:nvSpPr>
        <p:spPr>
          <a:xfrm>
            <a:off x="8394192" y="4261104"/>
            <a:ext cx="384048" cy="384048"/>
          </a:xfrm>
          <a:prstGeom prst="ellipse">
            <a:avLst/>
          </a:prstGeom>
          <a:solidFill>
            <a:srgbClr val="0B3B47"/>
          </a:solidFill>
          <a:ln w="6350">
            <a:solidFill>
              <a:srgbClr val="0B3B47"/>
            </a:solidFill>
            <a:prstDash val="solid"/>
          </a:ln>
        </p:spPr>
      </p:sp>
      <p:sp>
        <p:nvSpPr>
          <p:cNvPr id="32" name="Text 30"/>
          <p:cNvSpPr txBox="1"/>
          <p:nvPr/>
        </p:nvSpPr>
        <p:spPr>
          <a:xfrm>
            <a:off x="8394192" y="427939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3" name="Text 31"/>
          <p:cNvSpPr txBox="1"/>
          <p:nvPr/>
        </p:nvSpPr>
        <p:spPr>
          <a:xfrm>
            <a:off x="8394192" y="4782312"/>
            <a:ext cx="2926080" cy="274320"/>
          </a:xfrm>
          <a:prstGeom prst="rect">
            <a:avLst/>
          </a:prstGeom>
          <a:noFill/>
          <a:ln/>
        </p:spPr>
        <p:txBody>
          <a:bodyPr wrap="square" lIns="0" tIns="0" rIns="0" bIns="0" rtlCol="0" anchor="t"/>
          <a:lstStyle/>
          <a:p>
            <a:pPr indent="0" marL="0">
              <a:buNone/>
            </a:pPr>
            <a:r>
              <a:rPr lang="en-US" sz="1450" b="1" dirty="0">
                <a:solidFill>
                  <a:srgbClr val="0B3B47"/>
                </a:solidFill>
                <a:latin typeface="Calibri" pitchFamily="34" charset="0"/>
                <a:ea typeface="Calibri" pitchFamily="34" charset="-122"/>
                <a:cs typeface="Calibri" pitchFamily="34" charset="-120"/>
              </a:rPr>
              <a:t>No operational data</a:t>
            </a:r>
            <a:endParaRPr lang="en-US" sz="1450" dirty="0"/>
          </a:p>
        </p:txBody>
      </p:sp>
      <p:sp>
        <p:nvSpPr>
          <p:cNvPr id="34" name="Text 32"/>
          <p:cNvSpPr txBox="1"/>
          <p:nvPr/>
        </p:nvSpPr>
        <p:spPr>
          <a:xfrm>
            <a:off x="8394192" y="5102352"/>
            <a:ext cx="297180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Administrators have no aggregated view of turnaround, volume or repeat issues.</a:t>
            </a:r>
            <a:endParaRPr lang="en-US" sz="1150" dirty="0"/>
          </a:p>
        </p:txBody>
      </p:sp>
      <p:sp>
        <p:nvSpPr>
          <p:cNvPr id="35" name="Text 33"/>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5</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The Existing System</a:t>
            </a:r>
            <a:endParaRPr lang="en-US" sz="3000" dirty="0"/>
          </a:p>
        </p:txBody>
      </p:sp>
      <p:sp>
        <p:nvSpPr>
          <p:cNvPr id="4" name="Shape 2"/>
          <p:cNvSpPr/>
          <p:nvPr/>
        </p:nvSpPr>
        <p:spPr>
          <a:xfrm>
            <a:off x="640080" y="1417320"/>
            <a:ext cx="5120640" cy="4297680"/>
          </a:xfrm>
          <a:prstGeom prst="roundRect">
            <a:avLst>
              <a:gd name="adj" fmla="val 1702"/>
            </a:avLst>
          </a:prstGeom>
          <a:solidFill>
            <a:srgbClr val="E9F3F4"/>
          </a:solidFill>
          <a:ln w="9525">
            <a:solidFill>
              <a:srgbClr val="E9F3F4"/>
            </a:solidFill>
            <a:prstDash val="solid"/>
          </a:ln>
        </p:spPr>
      </p:sp>
      <p:sp>
        <p:nvSpPr>
          <p:cNvPr id="5" name="Text 3"/>
          <p:cNvSpPr txBox="1"/>
          <p:nvPr/>
        </p:nvSpPr>
        <p:spPr>
          <a:xfrm>
            <a:off x="1005840" y="1737360"/>
            <a:ext cx="4389120" cy="292608"/>
          </a:xfrm>
          <a:prstGeom prst="rect">
            <a:avLst/>
          </a:prstGeom>
          <a:noFill/>
          <a:ln/>
        </p:spPr>
        <p:txBody>
          <a:bodyPr wrap="square" lIns="0" tIns="0" rIns="0" bIns="0" rtlCol="0" anchor="t"/>
          <a:lstStyle/>
          <a:p>
            <a:pPr indent="0" marL="0">
              <a:buNone/>
            </a:pPr>
            <a:r>
              <a:rPr lang="en-US" sz="1700" b="1" dirty="0">
                <a:solidFill>
                  <a:srgbClr val="0B3B47"/>
                </a:solidFill>
                <a:latin typeface="Cambria" pitchFamily="34" charset="0"/>
                <a:ea typeface="Cambria" pitchFamily="34" charset="-122"/>
                <a:cs typeface="Cambria" pitchFamily="34" charset="-120"/>
              </a:rPr>
              <a:t>How it works today</a:t>
            </a:r>
            <a:endParaRPr lang="en-US" sz="1700" dirty="0"/>
          </a:p>
        </p:txBody>
      </p:sp>
      <p:sp>
        <p:nvSpPr>
          <p:cNvPr id="6" name="Text 4"/>
          <p:cNvSpPr txBox="1"/>
          <p:nvPr/>
        </p:nvSpPr>
        <p:spPr>
          <a:xfrm>
            <a:off x="1005840" y="2194560"/>
            <a:ext cx="4434840" cy="1371600"/>
          </a:xfrm>
          <a:prstGeom prst="rect">
            <a:avLst/>
          </a:prstGeom>
          <a:noFill/>
          <a:ln/>
        </p:spPr>
        <p:txBody>
          <a:bodyPr wrap="square" lIns="0" tIns="0" rIns="0" bIns="0" rtlCol="0" anchor="t"/>
          <a:lstStyle/>
          <a:p>
            <a:pPr indent="0" marL="0">
              <a:lnSpc>
                <a:spcPts val="1900"/>
              </a:lnSpc>
              <a:buNone/>
            </a:pPr>
            <a:r>
              <a:rPr lang="en-US" sz="1300" dirty="0">
                <a:solidFill>
                  <a:srgbClr val="27383D"/>
                </a:solidFill>
                <a:latin typeface="Calibri" pitchFamily="34" charset="0"/>
                <a:ea typeface="Calibri" pitchFamily="34" charset="-122"/>
                <a:cs typeface="Calibri" pitchFamily="34" charset="-120"/>
              </a:rPr>
              <a:t>Students hand laundry directly to hostel staff. The handover is recorded in a physical register — if at all — or simply remembered. No receipt or token is issued, and there is no record of what was submitted, when, or in what condition.</a:t>
            </a:r>
            <a:endParaRPr lang="en-US" sz="1300" dirty="0"/>
          </a:p>
        </p:txBody>
      </p:sp>
      <p:sp>
        <p:nvSpPr>
          <p:cNvPr id="7" name="Shape 5"/>
          <p:cNvSpPr/>
          <p:nvPr/>
        </p:nvSpPr>
        <p:spPr>
          <a:xfrm>
            <a:off x="1005840" y="3794760"/>
            <a:ext cx="4434840" cy="1508760"/>
          </a:xfrm>
          <a:prstGeom prst="roundRect">
            <a:avLst>
              <a:gd name="adj" fmla="val 4848"/>
            </a:avLst>
          </a:prstGeom>
          <a:solidFill>
            <a:srgbClr val="FFFFFF"/>
          </a:solidFill>
          <a:ln w="6350">
            <a:solidFill>
              <a:srgbClr val="FFFFFF"/>
            </a:solidFill>
            <a:prstDash val="solid"/>
          </a:ln>
        </p:spPr>
      </p:sp>
      <p:sp>
        <p:nvSpPr>
          <p:cNvPr id="8" name="Text 6"/>
          <p:cNvSpPr txBox="1"/>
          <p:nvPr/>
        </p:nvSpPr>
        <p:spPr>
          <a:xfrm>
            <a:off x="1188720" y="4069080"/>
            <a:ext cx="4069080" cy="274320"/>
          </a:xfrm>
          <a:prstGeom prst="rect">
            <a:avLst/>
          </a:prstGeom>
          <a:noFill/>
          <a:ln/>
        </p:spPr>
        <p:txBody>
          <a:bodyPr wrap="square" lIns="0" tIns="0" rIns="0" bIns="0" rtlCol="0" anchor="t"/>
          <a:lstStyle/>
          <a:p>
            <a:pPr algn="ctr" indent="0" marL="0">
              <a:buNone/>
            </a:pPr>
            <a:r>
              <a:rPr lang="en-US" sz="1300" b="1" dirty="0">
                <a:solidFill>
                  <a:srgbClr val="028090"/>
                </a:solidFill>
                <a:latin typeface="Calibri" pitchFamily="34" charset="0"/>
                <a:ea typeface="Calibri" pitchFamily="34" charset="-122"/>
                <a:cs typeface="Calibri" pitchFamily="34" charset="-120"/>
              </a:rPr>
              <a:t>Paper register   →   Memory   →   Verbal handover</a:t>
            </a:r>
            <a:endParaRPr lang="en-US" sz="1300" dirty="0"/>
          </a:p>
        </p:txBody>
      </p:sp>
      <p:sp>
        <p:nvSpPr>
          <p:cNvPr id="9" name="Text 7"/>
          <p:cNvSpPr txBox="1"/>
          <p:nvPr/>
        </p:nvSpPr>
        <p:spPr>
          <a:xfrm>
            <a:off x="1188720" y="4480560"/>
            <a:ext cx="4069080" cy="685800"/>
          </a:xfrm>
          <a:prstGeom prst="rect">
            <a:avLst/>
          </a:prstGeom>
          <a:noFill/>
          <a:ln/>
        </p:spPr>
        <p:txBody>
          <a:bodyPr wrap="square" lIns="0" tIns="0" rIns="0" bIns="0" rtlCol="0" anchor="t"/>
          <a:lstStyle/>
          <a:p>
            <a:pPr algn="ctr" indent="0" marL="0">
              <a:lnSpc>
                <a:spcPts val="1500"/>
              </a:lnSpc>
              <a:buNone/>
            </a:pPr>
            <a:r>
              <a:rPr lang="en-US" sz="1150" i="1" dirty="0">
                <a:solidFill>
                  <a:srgbClr val="6E8288"/>
                </a:solidFill>
                <a:latin typeface="Calibri" pitchFamily="34" charset="0"/>
                <a:ea typeface="Calibri" pitchFamily="34" charset="-122"/>
                <a:cs typeface="Calibri" pitchFamily="34" charset="-120"/>
              </a:rPr>
              <a:t>The entire chain of custody depends on recollection, so any dispute becomes one person's word against another's.</a:t>
            </a:r>
            <a:endParaRPr lang="en-US" sz="1150" dirty="0"/>
          </a:p>
        </p:txBody>
      </p:sp>
      <p:sp>
        <p:nvSpPr>
          <p:cNvPr id="10" name="Text 8"/>
          <p:cNvSpPr txBox="1"/>
          <p:nvPr/>
        </p:nvSpPr>
        <p:spPr>
          <a:xfrm>
            <a:off x="6400800" y="1600200"/>
            <a:ext cx="4572000" cy="292608"/>
          </a:xfrm>
          <a:prstGeom prst="rect">
            <a:avLst/>
          </a:prstGeom>
          <a:noFill/>
          <a:ln/>
        </p:spPr>
        <p:txBody>
          <a:bodyPr wrap="square" lIns="0" tIns="0" rIns="0" bIns="0" rtlCol="0" anchor="t"/>
          <a:lstStyle/>
          <a:p>
            <a:pPr indent="0" marL="0">
              <a:buNone/>
            </a:pPr>
            <a:r>
              <a:rPr lang="en-US" sz="1700" b="1" dirty="0">
                <a:solidFill>
                  <a:srgbClr val="0B3B47"/>
                </a:solidFill>
                <a:latin typeface="Cambria" pitchFamily="34" charset="0"/>
                <a:ea typeface="Cambria" pitchFamily="34" charset="-122"/>
                <a:cs typeface="Cambria" pitchFamily="34" charset="-120"/>
              </a:rPr>
              <a:t>Consequences</a:t>
            </a:r>
            <a:endParaRPr lang="en-US" sz="1700" dirty="0"/>
          </a:p>
        </p:txBody>
      </p:sp>
      <p:sp>
        <p:nvSpPr>
          <p:cNvPr id="11" name="Shape 9"/>
          <p:cNvSpPr/>
          <p:nvPr/>
        </p:nvSpPr>
        <p:spPr>
          <a:xfrm>
            <a:off x="6400800" y="2167128"/>
            <a:ext cx="182880" cy="182880"/>
          </a:xfrm>
          <a:prstGeom prst="ellipse">
            <a:avLst/>
          </a:prstGeom>
          <a:solidFill>
            <a:srgbClr val="00A896"/>
          </a:solidFill>
          <a:ln w="6350">
            <a:solidFill>
              <a:srgbClr val="00A896"/>
            </a:solidFill>
            <a:prstDash val="solid"/>
          </a:ln>
        </p:spPr>
      </p:sp>
      <p:sp>
        <p:nvSpPr>
          <p:cNvPr id="12" name="Text 10"/>
          <p:cNvSpPr txBox="1"/>
          <p:nvPr/>
        </p:nvSpPr>
        <p:spPr>
          <a:xfrm>
            <a:off x="6766560" y="2103120"/>
            <a:ext cx="4846320" cy="320040"/>
          </a:xfrm>
          <a:prstGeom prst="rect">
            <a:avLst/>
          </a:prstGeom>
          <a:noFill/>
          <a:ln/>
        </p:spPr>
        <p:txBody>
          <a:bodyPr wrap="square" lIns="0" tIns="0" rIns="0" bIns="0" rtlCol="0" anchor="t"/>
          <a:lstStyle/>
          <a:p>
            <a:pPr indent="0" marL="0">
              <a:buNone/>
            </a:pPr>
            <a:r>
              <a:rPr lang="en-US" sz="1350" dirty="0">
                <a:solidFill>
                  <a:srgbClr val="27383D"/>
                </a:solidFill>
                <a:latin typeface="Calibri" pitchFamily="34" charset="0"/>
                <a:ea typeface="Calibri" pitchFamily="34" charset="-122"/>
                <a:cs typeface="Calibri" pitchFamily="34" charset="-120"/>
              </a:rPr>
              <a:t>No visibility into request status</a:t>
            </a:r>
            <a:endParaRPr lang="en-US" sz="1350" dirty="0"/>
          </a:p>
        </p:txBody>
      </p:sp>
      <p:sp>
        <p:nvSpPr>
          <p:cNvPr id="13" name="Shape 11"/>
          <p:cNvSpPr/>
          <p:nvPr/>
        </p:nvSpPr>
        <p:spPr>
          <a:xfrm>
            <a:off x="6400800" y="2770632"/>
            <a:ext cx="182880" cy="182880"/>
          </a:xfrm>
          <a:prstGeom prst="ellipse">
            <a:avLst/>
          </a:prstGeom>
          <a:solidFill>
            <a:srgbClr val="00A896"/>
          </a:solidFill>
          <a:ln w="6350">
            <a:solidFill>
              <a:srgbClr val="00A896"/>
            </a:solidFill>
            <a:prstDash val="solid"/>
          </a:ln>
        </p:spPr>
      </p:sp>
      <p:sp>
        <p:nvSpPr>
          <p:cNvPr id="14" name="Text 12"/>
          <p:cNvSpPr txBox="1"/>
          <p:nvPr/>
        </p:nvSpPr>
        <p:spPr>
          <a:xfrm>
            <a:off x="6766560" y="2706624"/>
            <a:ext cx="4846320" cy="320040"/>
          </a:xfrm>
          <a:prstGeom prst="rect">
            <a:avLst/>
          </a:prstGeom>
          <a:noFill/>
          <a:ln/>
        </p:spPr>
        <p:txBody>
          <a:bodyPr wrap="square" lIns="0" tIns="0" rIns="0" bIns="0" rtlCol="0" anchor="t"/>
          <a:lstStyle/>
          <a:p>
            <a:pPr indent="0" marL="0">
              <a:buNone/>
            </a:pPr>
            <a:r>
              <a:rPr lang="en-US" sz="1350" dirty="0">
                <a:solidFill>
                  <a:srgbClr val="27383D"/>
                </a:solidFill>
                <a:latin typeface="Calibri" pitchFamily="34" charset="0"/>
                <a:ea typeface="Calibri" pitchFamily="34" charset="-122"/>
                <a:cs typeface="Calibri" pitchFamily="34" charset="-120"/>
              </a:rPr>
              <a:t>No accountability when items go missing</a:t>
            </a:r>
            <a:endParaRPr lang="en-US" sz="1350" dirty="0"/>
          </a:p>
        </p:txBody>
      </p:sp>
      <p:sp>
        <p:nvSpPr>
          <p:cNvPr id="15" name="Shape 13"/>
          <p:cNvSpPr/>
          <p:nvPr/>
        </p:nvSpPr>
        <p:spPr>
          <a:xfrm>
            <a:off x="6400800" y="3374136"/>
            <a:ext cx="182880" cy="182880"/>
          </a:xfrm>
          <a:prstGeom prst="ellipse">
            <a:avLst/>
          </a:prstGeom>
          <a:solidFill>
            <a:srgbClr val="00A896"/>
          </a:solidFill>
          <a:ln w="6350">
            <a:solidFill>
              <a:srgbClr val="00A896"/>
            </a:solidFill>
            <a:prstDash val="solid"/>
          </a:ln>
        </p:spPr>
      </p:sp>
      <p:sp>
        <p:nvSpPr>
          <p:cNvPr id="16" name="Text 14"/>
          <p:cNvSpPr txBox="1"/>
          <p:nvPr/>
        </p:nvSpPr>
        <p:spPr>
          <a:xfrm>
            <a:off x="6766560" y="3310128"/>
            <a:ext cx="4846320" cy="320040"/>
          </a:xfrm>
          <a:prstGeom prst="rect">
            <a:avLst/>
          </a:prstGeom>
          <a:noFill/>
          <a:ln/>
        </p:spPr>
        <p:txBody>
          <a:bodyPr wrap="square" lIns="0" tIns="0" rIns="0" bIns="0" rtlCol="0" anchor="t"/>
          <a:lstStyle/>
          <a:p>
            <a:pPr indent="0" marL="0">
              <a:buNone/>
            </a:pPr>
            <a:r>
              <a:rPr lang="en-US" sz="1350" dirty="0">
                <a:solidFill>
                  <a:srgbClr val="27383D"/>
                </a:solidFill>
                <a:latin typeface="Calibri" pitchFamily="34" charset="0"/>
                <a:ea typeface="Calibri" pitchFamily="34" charset="-122"/>
                <a:cs typeface="Calibri" pitchFamily="34" charset="-120"/>
              </a:rPr>
              <a:t>No structured queue for staff</a:t>
            </a:r>
            <a:endParaRPr lang="en-US" sz="1350" dirty="0"/>
          </a:p>
        </p:txBody>
      </p:sp>
      <p:sp>
        <p:nvSpPr>
          <p:cNvPr id="17" name="Shape 15"/>
          <p:cNvSpPr/>
          <p:nvPr/>
        </p:nvSpPr>
        <p:spPr>
          <a:xfrm>
            <a:off x="6400800" y="3977640"/>
            <a:ext cx="182880" cy="182880"/>
          </a:xfrm>
          <a:prstGeom prst="ellipse">
            <a:avLst/>
          </a:prstGeom>
          <a:solidFill>
            <a:srgbClr val="00A896"/>
          </a:solidFill>
          <a:ln w="6350">
            <a:solidFill>
              <a:srgbClr val="00A896"/>
            </a:solidFill>
            <a:prstDash val="solid"/>
          </a:ln>
        </p:spPr>
      </p:sp>
      <p:sp>
        <p:nvSpPr>
          <p:cNvPr id="18" name="Text 16"/>
          <p:cNvSpPr txBox="1"/>
          <p:nvPr/>
        </p:nvSpPr>
        <p:spPr>
          <a:xfrm>
            <a:off x="6766560" y="3913632"/>
            <a:ext cx="4846320" cy="320040"/>
          </a:xfrm>
          <a:prstGeom prst="rect">
            <a:avLst/>
          </a:prstGeom>
          <a:noFill/>
          <a:ln/>
        </p:spPr>
        <p:txBody>
          <a:bodyPr wrap="square" lIns="0" tIns="0" rIns="0" bIns="0" rtlCol="0" anchor="t"/>
          <a:lstStyle/>
          <a:p>
            <a:pPr indent="0" marL="0">
              <a:buNone/>
            </a:pPr>
            <a:r>
              <a:rPr lang="en-US" sz="1350" dirty="0">
                <a:solidFill>
                  <a:srgbClr val="27383D"/>
                </a:solidFill>
                <a:latin typeface="Calibri" pitchFamily="34" charset="0"/>
                <a:ea typeface="Calibri" pitchFamily="34" charset="-122"/>
                <a:cs typeface="Calibri" pitchFamily="34" charset="-120"/>
              </a:rPr>
              <a:t>No verified pickup at collection</a:t>
            </a:r>
            <a:endParaRPr lang="en-US" sz="1350" dirty="0"/>
          </a:p>
        </p:txBody>
      </p:sp>
      <p:sp>
        <p:nvSpPr>
          <p:cNvPr id="19" name="Shape 17"/>
          <p:cNvSpPr/>
          <p:nvPr/>
        </p:nvSpPr>
        <p:spPr>
          <a:xfrm>
            <a:off x="6400800" y="4581144"/>
            <a:ext cx="182880" cy="182880"/>
          </a:xfrm>
          <a:prstGeom prst="ellipse">
            <a:avLst/>
          </a:prstGeom>
          <a:solidFill>
            <a:srgbClr val="00A896"/>
          </a:solidFill>
          <a:ln w="6350">
            <a:solidFill>
              <a:srgbClr val="00A896"/>
            </a:solidFill>
            <a:prstDash val="solid"/>
          </a:ln>
        </p:spPr>
      </p:sp>
      <p:sp>
        <p:nvSpPr>
          <p:cNvPr id="20" name="Text 18"/>
          <p:cNvSpPr txBox="1"/>
          <p:nvPr/>
        </p:nvSpPr>
        <p:spPr>
          <a:xfrm>
            <a:off x="6766560" y="4517136"/>
            <a:ext cx="4846320" cy="320040"/>
          </a:xfrm>
          <a:prstGeom prst="rect">
            <a:avLst/>
          </a:prstGeom>
          <a:noFill/>
          <a:ln/>
        </p:spPr>
        <p:txBody>
          <a:bodyPr wrap="square" lIns="0" tIns="0" rIns="0" bIns="0" rtlCol="0" anchor="t"/>
          <a:lstStyle/>
          <a:p>
            <a:pPr indent="0" marL="0">
              <a:buNone/>
            </a:pPr>
            <a:r>
              <a:rPr lang="en-US" sz="1350" dirty="0">
                <a:solidFill>
                  <a:srgbClr val="27383D"/>
                </a:solidFill>
                <a:latin typeface="Calibri" pitchFamily="34" charset="0"/>
                <a:ea typeface="Calibri" pitchFamily="34" charset="-122"/>
                <a:cs typeface="Calibri" pitchFamily="34" charset="-120"/>
              </a:rPr>
              <a:t>No complaint trail to resolution</a:t>
            </a:r>
            <a:endParaRPr lang="en-US" sz="1350" dirty="0"/>
          </a:p>
        </p:txBody>
      </p:sp>
      <p:sp>
        <p:nvSpPr>
          <p:cNvPr id="21" name="Shape 19"/>
          <p:cNvSpPr/>
          <p:nvPr/>
        </p:nvSpPr>
        <p:spPr>
          <a:xfrm>
            <a:off x="6400800" y="5184648"/>
            <a:ext cx="182880" cy="182880"/>
          </a:xfrm>
          <a:prstGeom prst="ellipse">
            <a:avLst/>
          </a:prstGeom>
          <a:solidFill>
            <a:srgbClr val="00A896"/>
          </a:solidFill>
          <a:ln w="6350">
            <a:solidFill>
              <a:srgbClr val="00A896"/>
            </a:solidFill>
            <a:prstDash val="solid"/>
          </a:ln>
        </p:spPr>
      </p:sp>
      <p:sp>
        <p:nvSpPr>
          <p:cNvPr id="22" name="Text 20"/>
          <p:cNvSpPr txBox="1"/>
          <p:nvPr/>
        </p:nvSpPr>
        <p:spPr>
          <a:xfrm>
            <a:off x="6766560" y="5120640"/>
            <a:ext cx="4846320" cy="320040"/>
          </a:xfrm>
          <a:prstGeom prst="rect">
            <a:avLst/>
          </a:prstGeom>
          <a:noFill/>
          <a:ln/>
        </p:spPr>
        <p:txBody>
          <a:bodyPr wrap="square" lIns="0" tIns="0" rIns="0" bIns="0" rtlCol="0" anchor="t"/>
          <a:lstStyle/>
          <a:p>
            <a:pPr indent="0" marL="0">
              <a:buNone/>
            </a:pPr>
            <a:r>
              <a:rPr lang="en-US" sz="1350" dirty="0">
                <a:solidFill>
                  <a:srgbClr val="27383D"/>
                </a:solidFill>
                <a:latin typeface="Calibri" pitchFamily="34" charset="0"/>
                <a:ea typeface="Calibri" pitchFamily="34" charset="-122"/>
                <a:cs typeface="Calibri" pitchFamily="34" charset="-120"/>
              </a:rPr>
              <a:t>No operational data for administrators</a:t>
            </a:r>
            <a:endParaRPr lang="en-US" sz="1350" dirty="0"/>
          </a:p>
        </p:txBody>
      </p:sp>
      <p:sp>
        <p:nvSpPr>
          <p:cNvPr id="23" name="Text 21"/>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B47"/>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C39A"/>
                </a:solidFill>
                <a:latin typeface="Calibri" pitchFamily="34" charset="0"/>
                <a:ea typeface="Calibri" pitchFamily="34" charset="-122"/>
                <a:cs typeface="Calibri" pitchFamily="34" charset="-120"/>
              </a:rPr>
              <a:t>SECTION 3</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640080" y="1691640"/>
            <a:ext cx="2587752" cy="1993392"/>
          </a:xfrm>
          <a:prstGeom prst="roundRect">
            <a:avLst>
              <a:gd name="adj" fmla="val 3670"/>
            </a:avLst>
          </a:prstGeom>
          <a:solidFill>
            <a:srgbClr val="12505F"/>
          </a:solidFill>
          <a:ln w="9525">
            <a:solidFill>
              <a:srgbClr val="12505F"/>
            </a:solidFill>
            <a:prstDash val="solid"/>
          </a:ln>
        </p:spPr>
      </p:sp>
      <p:sp>
        <p:nvSpPr>
          <p:cNvPr id="5" name="Shape 3"/>
          <p:cNvSpPr/>
          <p:nvPr/>
        </p:nvSpPr>
        <p:spPr>
          <a:xfrm>
            <a:off x="896112" y="1947672"/>
            <a:ext cx="402336" cy="402336"/>
          </a:xfrm>
          <a:prstGeom prst="ellipse">
            <a:avLst/>
          </a:prstGeom>
          <a:solidFill>
            <a:srgbClr val="02C39A"/>
          </a:solidFill>
          <a:ln w="6350">
            <a:solidFill>
              <a:srgbClr val="02C39A"/>
            </a:solidFill>
            <a:prstDash val="solid"/>
          </a:ln>
        </p:spPr>
      </p:sp>
      <p:sp>
        <p:nvSpPr>
          <p:cNvPr id="6" name="Text 4"/>
          <p:cNvSpPr txBox="1"/>
          <p:nvPr/>
        </p:nvSpPr>
        <p:spPr>
          <a:xfrm>
            <a:off x="896112" y="1965960"/>
            <a:ext cx="402336" cy="365760"/>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896112" y="2468880"/>
            <a:ext cx="21031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Track requests</a:t>
            </a:r>
            <a:endParaRPr lang="en-US" sz="1400" dirty="0"/>
          </a:p>
        </p:txBody>
      </p:sp>
      <p:sp>
        <p:nvSpPr>
          <p:cNvPr id="8" name="Text 6"/>
          <p:cNvSpPr txBox="1"/>
          <p:nvPr/>
        </p:nvSpPr>
        <p:spPr>
          <a:xfrm>
            <a:off x="896112" y="2788920"/>
            <a:ext cx="2148840" cy="777240"/>
          </a:xfrm>
          <a:prstGeom prst="rect">
            <a:avLst/>
          </a:prstGeom>
          <a:noFill/>
          <a:ln/>
        </p:spPr>
        <p:txBody>
          <a:bodyPr wrap="square" lIns="0" tIns="0" rIns="0" bIns="0" rtlCol="0" anchor="t"/>
          <a:lstStyle/>
          <a:p>
            <a:pPr indent="0" marL="0">
              <a:lnSpc>
                <a:spcPts val="1400"/>
              </a:lnSpc>
              <a:buNone/>
            </a:pPr>
            <a:r>
              <a:rPr lang="en-US" sz="1100" dirty="0">
                <a:solidFill>
                  <a:srgbClr val="C9E4E8"/>
                </a:solidFill>
                <a:latin typeface="Calibri" pitchFamily="34" charset="0"/>
                <a:ea typeface="Calibri" pitchFamily="34" charset="-122"/>
                <a:cs typeface="Calibri" pitchFamily="34" charset="-120"/>
              </a:rPr>
              <a:t>Give students a mobile interface to submit laundry and track status in real time.</a:t>
            </a:r>
            <a:endParaRPr lang="en-US" sz="1100" dirty="0"/>
          </a:p>
        </p:txBody>
      </p:sp>
      <p:sp>
        <p:nvSpPr>
          <p:cNvPr id="9" name="Shape 7"/>
          <p:cNvSpPr/>
          <p:nvPr/>
        </p:nvSpPr>
        <p:spPr>
          <a:xfrm>
            <a:off x="3456432" y="1691640"/>
            <a:ext cx="2587752" cy="1993392"/>
          </a:xfrm>
          <a:prstGeom prst="roundRect">
            <a:avLst>
              <a:gd name="adj" fmla="val 3670"/>
            </a:avLst>
          </a:prstGeom>
          <a:solidFill>
            <a:srgbClr val="12505F"/>
          </a:solidFill>
          <a:ln w="9525">
            <a:solidFill>
              <a:srgbClr val="12505F"/>
            </a:solidFill>
            <a:prstDash val="solid"/>
          </a:ln>
        </p:spPr>
      </p:sp>
      <p:sp>
        <p:nvSpPr>
          <p:cNvPr id="10" name="Shape 8"/>
          <p:cNvSpPr/>
          <p:nvPr/>
        </p:nvSpPr>
        <p:spPr>
          <a:xfrm>
            <a:off x="3712464" y="1947672"/>
            <a:ext cx="402336" cy="402336"/>
          </a:xfrm>
          <a:prstGeom prst="ellipse">
            <a:avLst/>
          </a:prstGeom>
          <a:solidFill>
            <a:srgbClr val="02C39A"/>
          </a:solidFill>
          <a:ln w="6350">
            <a:solidFill>
              <a:srgbClr val="02C39A"/>
            </a:solidFill>
            <a:prstDash val="solid"/>
          </a:ln>
        </p:spPr>
      </p:sp>
      <p:sp>
        <p:nvSpPr>
          <p:cNvPr id="11" name="Text 9"/>
          <p:cNvSpPr txBox="1"/>
          <p:nvPr/>
        </p:nvSpPr>
        <p:spPr>
          <a:xfrm>
            <a:off x="3712464" y="1965960"/>
            <a:ext cx="402336" cy="365760"/>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3712464" y="2468880"/>
            <a:ext cx="21031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Structure staff work</a:t>
            </a:r>
            <a:endParaRPr lang="en-US" sz="1400" dirty="0"/>
          </a:p>
        </p:txBody>
      </p:sp>
      <p:sp>
        <p:nvSpPr>
          <p:cNvPr id="13" name="Text 11"/>
          <p:cNvSpPr txBox="1"/>
          <p:nvPr/>
        </p:nvSpPr>
        <p:spPr>
          <a:xfrm>
            <a:off x="3712464" y="2788920"/>
            <a:ext cx="2148840" cy="777240"/>
          </a:xfrm>
          <a:prstGeom prst="rect">
            <a:avLst/>
          </a:prstGeom>
          <a:noFill/>
          <a:ln/>
        </p:spPr>
        <p:txBody>
          <a:bodyPr wrap="square" lIns="0" tIns="0" rIns="0" bIns="0" rtlCol="0" anchor="t"/>
          <a:lstStyle/>
          <a:p>
            <a:pPr indent="0" marL="0">
              <a:lnSpc>
                <a:spcPts val="1400"/>
              </a:lnSpc>
              <a:buNone/>
            </a:pPr>
            <a:r>
              <a:rPr lang="en-US" sz="1100" dirty="0">
                <a:solidFill>
                  <a:srgbClr val="C9E4E8"/>
                </a:solidFill>
                <a:latin typeface="Calibri" pitchFamily="34" charset="0"/>
                <a:ea typeface="Calibri" pitchFamily="34" charset="-122"/>
                <a:cs typeface="Calibri" pitchFamily="34" charset="-120"/>
              </a:rPr>
              <a:t>Give staff a queue-based workflow to verify, tag, batch and process laundry.</a:t>
            </a:r>
            <a:endParaRPr lang="en-US" sz="1100" dirty="0"/>
          </a:p>
        </p:txBody>
      </p:sp>
      <p:sp>
        <p:nvSpPr>
          <p:cNvPr id="14" name="Shape 12"/>
          <p:cNvSpPr/>
          <p:nvPr/>
        </p:nvSpPr>
        <p:spPr>
          <a:xfrm>
            <a:off x="6272784" y="1691640"/>
            <a:ext cx="2587752" cy="1993392"/>
          </a:xfrm>
          <a:prstGeom prst="roundRect">
            <a:avLst>
              <a:gd name="adj" fmla="val 3670"/>
            </a:avLst>
          </a:prstGeom>
          <a:solidFill>
            <a:srgbClr val="12505F"/>
          </a:solidFill>
          <a:ln w="9525">
            <a:solidFill>
              <a:srgbClr val="12505F"/>
            </a:solidFill>
            <a:prstDash val="solid"/>
          </a:ln>
        </p:spPr>
      </p:sp>
      <p:sp>
        <p:nvSpPr>
          <p:cNvPr id="15" name="Shape 13"/>
          <p:cNvSpPr/>
          <p:nvPr/>
        </p:nvSpPr>
        <p:spPr>
          <a:xfrm>
            <a:off x="6528816" y="1947672"/>
            <a:ext cx="402336" cy="402336"/>
          </a:xfrm>
          <a:prstGeom prst="ellipse">
            <a:avLst/>
          </a:prstGeom>
          <a:solidFill>
            <a:srgbClr val="02C39A"/>
          </a:solidFill>
          <a:ln w="6350">
            <a:solidFill>
              <a:srgbClr val="02C39A"/>
            </a:solidFill>
            <a:prstDash val="solid"/>
          </a:ln>
        </p:spPr>
      </p:sp>
      <p:sp>
        <p:nvSpPr>
          <p:cNvPr id="16" name="Text 14"/>
          <p:cNvSpPr txBox="1"/>
          <p:nvPr/>
        </p:nvSpPr>
        <p:spPr>
          <a:xfrm>
            <a:off x="6528816" y="1965960"/>
            <a:ext cx="402336" cy="365760"/>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3</a:t>
            </a:r>
            <a:endParaRPr lang="en-US" sz="1250" dirty="0"/>
          </a:p>
        </p:txBody>
      </p:sp>
      <p:sp>
        <p:nvSpPr>
          <p:cNvPr id="17" name="Text 15"/>
          <p:cNvSpPr txBox="1"/>
          <p:nvPr/>
        </p:nvSpPr>
        <p:spPr>
          <a:xfrm>
            <a:off x="6528816" y="2468880"/>
            <a:ext cx="21031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Verify collection</a:t>
            </a:r>
            <a:endParaRPr lang="en-US" sz="1400" dirty="0"/>
          </a:p>
        </p:txBody>
      </p:sp>
      <p:sp>
        <p:nvSpPr>
          <p:cNvPr id="18" name="Text 16"/>
          <p:cNvSpPr txBox="1"/>
          <p:nvPr/>
        </p:nvSpPr>
        <p:spPr>
          <a:xfrm>
            <a:off x="6528816" y="2788920"/>
            <a:ext cx="2148840" cy="777240"/>
          </a:xfrm>
          <a:prstGeom prst="rect">
            <a:avLst/>
          </a:prstGeom>
          <a:noFill/>
          <a:ln/>
        </p:spPr>
        <p:txBody>
          <a:bodyPr wrap="square" lIns="0" tIns="0" rIns="0" bIns="0" rtlCol="0" anchor="t"/>
          <a:lstStyle/>
          <a:p>
            <a:pPr indent="0" marL="0">
              <a:lnSpc>
                <a:spcPts val="1400"/>
              </a:lnSpc>
              <a:buNone/>
            </a:pPr>
            <a:r>
              <a:rPr lang="en-US" sz="1100" dirty="0">
                <a:solidFill>
                  <a:srgbClr val="C9E4E8"/>
                </a:solidFill>
                <a:latin typeface="Calibri" pitchFamily="34" charset="0"/>
                <a:ea typeface="Calibri" pitchFamily="34" charset="-122"/>
                <a:cs typeface="Calibri" pitchFamily="34" charset="-120"/>
              </a:rPr>
              <a:t>Introduce single-use QR pickup tokens to prevent unauthorized or duplicate collection.</a:t>
            </a:r>
            <a:endParaRPr lang="en-US" sz="1100" dirty="0"/>
          </a:p>
        </p:txBody>
      </p:sp>
      <p:sp>
        <p:nvSpPr>
          <p:cNvPr id="19" name="Shape 17"/>
          <p:cNvSpPr/>
          <p:nvPr/>
        </p:nvSpPr>
        <p:spPr>
          <a:xfrm>
            <a:off x="9089136" y="1691640"/>
            <a:ext cx="2587752" cy="1993392"/>
          </a:xfrm>
          <a:prstGeom prst="roundRect">
            <a:avLst>
              <a:gd name="adj" fmla="val 3670"/>
            </a:avLst>
          </a:prstGeom>
          <a:solidFill>
            <a:srgbClr val="12505F"/>
          </a:solidFill>
          <a:ln w="9525">
            <a:solidFill>
              <a:srgbClr val="12505F"/>
            </a:solidFill>
            <a:prstDash val="solid"/>
          </a:ln>
        </p:spPr>
      </p:sp>
      <p:sp>
        <p:nvSpPr>
          <p:cNvPr id="20" name="Shape 18"/>
          <p:cNvSpPr/>
          <p:nvPr/>
        </p:nvSpPr>
        <p:spPr>
          <a:xfrm>
            <a:off x="9345168" y="1947672"/>
            <a:ext cx="402336" cy="402336"/>
          </a:xfrm>
          <a:prstGeom prst="ellipse">
            <a:avLst/>
          </a:prstGeom>
          <a:solidFill>
            <a:srgbClr val="02C39A"/>
          </a:solidFill>
          <a:ln w="6350">
            <a:solidFill>
              <a:srgbClr val="02C39A"/>
            </a:solidFill>
            <a:prstDash val="solid"/>
          </a:ln>
        </p:spPr>
      </p:sp>
      <p:sp>
        <p:nvSpPr>
          <p:cNvPr id="21" name="Text 19"/>
          <p:cNvSpPr txBox="1"/>
          <p:nvPr/>
        </p:nvSpPr>
        <p:spPr>
          <a:xfrm>
            <a:off x="9345168" y="1965960"/>
            <a:ext cx="402336" cy="365760"/>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4</a:t>
            </a:r>
            <a:endParaRPr lang="en-US" sz="1250" dirty="0"/>
          </a:p>
        </p:txBody>
      </p:sp>
      <p:sp>
        <p:nvSpPr>
          <p:cNvPr id="22" name="Text 20"/>
          <p:cNvSpPr txBox="1"/>
          <p:nvPr/>
        </p:nvSpPr>
        <p:spPr>
          <a:xfrm>
            <a:off x="9345168" y="2468880"/>
            <a:ext cx="21031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Restrict access</a:t>
            </a:r>
            <a:endParaRPr lang="en-US" sz="1400" dirty="0"/>
          </a:p>
        </p:txBody>
      </p:sp>
      <p:sp>
        <p:nvSpPr>
          <p:cNvPr id="23" name="Text 21"/>
          <p:cNvSpPr txBox="1"/>
          <p:nvPr/>
        </p:nvSpPr>
        <p:spPr>
          <a:xfrm>
            <a:off x="9345168" y="2788920"/>
            <a:ext cx="2148840" cy="777240"/>
          </a:xfrm>
          <a:prstGeom prst="rect">
            <a:avLst/>
          </a:prstGeom>
          <a:noFill/>
          <a:ln/>
        </p:spPr>
        <p:txBody>
          <a:bodyPr wrap="square" lIns="0" tIns="0" rIns="0" bIns="0" rtlCol="0" anchor="t"/>
          <a:lstStyle/>
          <a:p>
            <a:pPr indent="0" marL="0">
              <a:lnSpc>
                <a:spcPts val="1400"/>
              </a:lnSpc>
              <a:buNone/>
            </a:pPr>
            <a:r>
              <a:rPr lang="en-US" sz="1100" dirty="0">
                <a:solidFill>
                  <a:srgbClr val="C9E4E8"/>
                </a:solidFill>
                <a:latin typeface="Calibri" pitchFamily="34" charset="0"/>
                <a:ea typeface="Calibri" pitchFamily="34" charset="-122"/>
                <a:cs typeface="Calibri" pitchFamily="34" charset="-120"/>
              </a:rPr>
              <a:t>Allow only verified institutional users via email-domain OTP authentication.</a:t>
            </a:r>
            <a:endParaRPr lang="en-US" sz="1100" dirty="0"/>
          </a:p>
        </p:txBody>
      </p:sp>
      <p:sp>
        <p:nvSpPr>
          <p:cNvPr id="24" name="Shape 22"/>
          <p:cNvSpPr/>
          <p:nvPr/>
        </p:nvSpPr>
        <p:spPr>
          <a:xfrm>
            <a:off x="640080" y="3886200"/>
            <a:ext cx="2587752" cy="1993392"/>
          </a:xfrm>
          <a:prstGeom prst="roundRect">
            <a:avLst>
              <a:gd name="adj" fmla="val 3670"/>
            </a:avLst>
          </a:prstGeom>
          <a:solidFill>
            <a:srgbClr val="12505F"/>
          </a:solidFill>
          <a:ln w="9525">
            <a:solidFill>
              <a:srgbClr val="12505F"/>
            </a:solidFill>
            <a:prstDash val="solid"/>
          </a:ln>
        </p:spPr>
      </p:sp>
      <p:sp>
        <p:nvSpPr>
          <p:cNvPr id="25" name="Shape 23"/>
          <p:cNvSpPr/>
          <p:nvPr/>
        </p:nvSpPr>
        <p:spPr>
          <a:xfrm>
            <a:off x="896112" y="4142232"/>
            <a:ext cx="402336" cy="402336"/>
          </a:xfrm>
          <a:prstGeom prst="ellipse">
            <a:avLst/>
          </a:prstGeom>
          <a:solidFill>
            <a:srgbClr val="02C39A"/>
          </a:solidFill>
          <a:ln w="6350">
            <a:solidFill>
              <a:srgbClr val="02C39A"/>
            </a:solidFill>
            <a:prstDash val="solid"/>
          </a:ln>
        </p:spPr>
      </p:sp>
      <p:sp>
        <p:nvSpPr>
          <p:cNvPr id="26" name="Text 24"/>
          <p:cNvSpPr txBox="1"/>
          <p:nvPr/>
        </p:nvSpPr>
        <p:spPr>
          <a:xfrm>
            <a:off x="896112" y="4160520"/>
            <a:ext cx="402336" cy="365760"/>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5</a:t>
            </a:r>
            <a:endParaRPr lang="en-US" sz="1250" dirty="0"/>
          </a:p>
        </p:txBody>
      </p:sp>
      <p:sp>
        <p:nvSpPr>
          <p:cNvPr id="27" name="Text 25"/>
          <p:cNvSpPr txBox="1"/>
          <p:nvPr/>
        </p:nvSpPr>
        <p:spPr>
          <a:xfrm>
            <a:off x="896112" y="4663440"/>
            <a:ext cx="21031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Track complaints</a:t>
            </a:r>
            <a:endParaRPr lang="en-US" sz="1400" dirty="0"/>
          </a:p>
        </p:txBody>
      </p:sp>
      <p:sp>
        <p:nvSpPr>
          <p:cNvPr id="28" name="Text 26"/>
          <p:cNvSpPr txBox="1"/>
          <p:nvPr/>
        </p:nvSpPr>
        <p:spPr>
          <a:xfrm>
            <a:off x="896112" y="4983480"/>
            <a:ext cx="2148840" cy="777240"/>
          </a:xfrm>
          <a:prstGeom prst="rect">
            <a:avLst/>
          </a:prstGeom>
          <a:noFill/>
          <a:ln/>
        </p:spPr>
        <p:txBody>
          <a:bodyPr wrap="square" lIns="0" tIns="0" rIns="0" bIns="0" rtlCol="0" anchor="t"/>
          <a:lstStyle/>
          <a:p>
            <a:pPr indent="0" marL="0">
              <a:lnSpc>
                <a:spcPts val="1400"/>
              </a:lnSpc>
              <a:buNone/>
            </a:pPr>
            <a:r>
              <a:rPr lang="en-US" sz="1100" dirty="0">
                <a:solidFill>
                  <a:srgbClr val="C9E4E8"/>
                </a:solidFill>
                <a:latin typeface="Calibri" pitchFamily="34" charset="0"/>
                <a:ea typeface="Calibri" pitchFamily="34" charset="-122"/>
                <a:cs typeface="Calibri" pitchFamily="34" charset="-120"/>
              </a:rPr>
              <a:t>Let students raise complaints linked to a request, and staff or admins resolve them.</a:t>
            </a:r>
            <a:endParaRPr lang="en-US" sz="1100" dirty="0"/>
          </a:p>
        </p:txBody>
      </p:sp>
      <p:sp>
        <p:nvSpPr>
          <p:cNvPr id="29" name="Shape 27"/>
          <p:cNvSpPr/>
          <p:nvPr/>
        </p:nvSpPr>
        <p:spPr>
          <a:xfrm>
            <a:off x="3456432" y="3886200"/>
            <a:ext cx="2587752" cy="1993392"/>
          </a:xfrm>
          <a:prstGeom prst="roundRect">
            <a:avLst>
              <a:gd name="adj" fmla="val 3670"/>
            </a:avLst>
          </a:prstGeom>
          <a:solidFill>
            <a:srgbClr val="12505F"/>
          </a:solidFill>
          <a:ln w="9525">
            <a:solidFill>
              <a:srgbClr val="12505F"/>
            </a:solidFill>
            <a:prstDash val="solid"/>
          </a:ln>
        </p:spPr>
      </p:sp>
      <p:sp>
        <p:nvSpPr>
          <p:cNvPr id="30" name="Shape 28"/>
          <p:cNvSpPr/>
          <p:nvPr/>
        </p:nvSpPr>
        <p:spPr>
          <a:xfrm>
            <a:off x="3712464" y="4142232"/>
            <a:ext cx="402336" cy="402336"/>
          </a:xfrm>
          <a:prstGeom prst="ellipse">
            <a:avLst/>
          </a:prstGeom>
          <a:solidFill>
            <a:srgbClr val="02C39A"/>
          </a:solidFill>
          <a:ln w="6350">
            <a:solidFill>
              <a:srgbClr val="02C39A"/>
            </a:solidFill>
            <a:prstDash val="solid"/>
          </a:ln>
        </p:spPr>
      </p:sp>
      <p:sp>
        <p:nvSpPr>
          <p:cNvPr id="31" name="Text 29"/>
          <p:cNvSpPr txBox="1"/>
          <p:nvPr/>
        </p:nvSpPr>
        <p:spPr>
          <a:xfrm>
            <a:off x="3712464" y="4160520"/>
            <a:ext cx="402336" cy="365760"/>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6</a:t>
            </a:r>
            <a:endParaRPr lang="en-US" sz="1250" dirty="0"/>
          </a:p>
        </p:txBody>
      </p:sp>
      <p:sp>
        <p:nvSpPr>
          <p:cNvPr id="32" name="Text 30"/>
          <p:cNvSpPr txBox="1"/>
          <p:nvPr/>
        </p:nvSpPr>
        <p:spPr>
          <a:xfrm>
            <a:off x="3712464" y="4663440"/>
            <a:ext cx="21031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Notify automatically</a:t>
            </a:r>
            <a:endParaRPr lang="en-US" sz="1400" dirty="0"/>
          </a:p>
        </p:txBody>
      </p:sp>
      <p:sp>
        <p:nvSpPr>
          <p:cNvPr id="33" name="Text 31"/>
          <p:cNvSpPr txBox="1"/>
          <p:nvPr/>
        </p:nvSpPr>
        <p:spPr>
          <a:xfrm>
            <a:off x="3712464" y="4983480"/>
            <a:ext cx="2148840" cy="777240"/>
          </a:xfrm>
          <a:prstGeom prst="rect">
            <a:avLst/>
          </a:prstGeom>
          <a:noFill/>
          <a:ln/>
        </p:spPr>
        <p:txBody>
          <a:bodyPr wrap="square" lIns="0" tIns="0" rIns="0" bIns="0" rtlCol="0" anchor="t"/>
          <a:lstStyle/>
          <a:p>
            <a:pPr indent="0" marL="0">
              <a:lnSpc>
                <a:spcPts val="1400"/>
              </a:lnSpc>
              <a:buNone/>
            </a:pPr>
            <a:r>
              <a:rPr lang="en-US" sz="1100" dirty="0">
                <a:solidFill>
                  <a:srgbClr val="C9E4E8"/>
                </a:solidFill>
                <a:latin typeface="Calibri" pitchFamily="34" charset="0"/>
                <a:ea typeface="Calibri" pitchFamily="34" charset="-122"/>
                <a:cs typeface="Calibri" pitchFamily="34" charset="-120"/>
              </a:rPr>
              <a:t>Push status changes — received, processing, ready, collected — to the student.</a:t>
            </a:r>
            <a:endParaRPr lang="en-US" sz="1100" dirty="0"/>
          </a:p>
        </p:txBody>
      </p:sp>
      <p:sp>
        <p:nvSpPr>
          <p:cNvPr id="34" name="Shape 32"/>
          <p:cNvSpPr/>
          <p:nvPr/>
        </p:nvSpPr>
        <p:spPr>
          <a:xfrm>
            <a:off x="6272784" y="3886200"/>
            <a:ext cx="2587752" cy="1993392"/>
          </a:xfrm>
          <a:prstGeom prst="roundRect">
            <a:avLst>
              <a:gd name="adj" fmla="val 3670"/>
            </a:avLst>
          </a:prstGeom>
          <a:solidFill>
            <a:srgbClr val="12505F"/>
          </a:solidFill>
          <a:ln w="9525">
            <a:solidFill>
              <a:srgbClr val="12505F"/>
            </a:solidFill>
            <a:prstDash val="solid"/>
          </a:ln>
        </p:spPr>
      </p:sp>
      <p:sp>
        <p:nvSpPr>
          <p:cNvPr id="35" name="Shape 33"/>
          <p:cNvSpPr/>
          <p:nvPr/>
        </p:nvSpPr>
        <p:spPr>
          <a:xfrm>
            <a:off x="6528816" y="4142232"/>
            <a:ext cx="402336" cy="402336"/>
          </a:xfrm>
          <a:prstGeom prst="ellipse">
            <a:avLst/>
          </a:prstGeom>
          <a:solidFill>
            <a:srgbClr val="02C39A"/>
          </a:solidFill>
          <a:ln w="6350">
            <a:solidFill>
              <a:srgbClr val="02C39A"/>
            </a:solidFill>
            <a:prstDash val="solid"/>
          </a:ln>
        </p:spPr>
      </p:sp>
      <p:sp>
        <p:nvSpPr>
          <p:cNvPr id="36" name="Text 34"/>
          <p:cNvSpPr txBox="1"/>
          <p:nvPr/>
        </p:nvSpPr>
        <p:spPr>
          <a:xfrm>
            <a:off x="6528816" y="4160520"/>
            <a:ext cx="402336" cy="365760"/>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7</a:t>
            </a:r>
            <a:endParaRPr lang="en-US" sz="1250" dirty="0"/>
          </a:p>
        </p:txBody>
      </p:sp>
      <p:sp>
        <p:nvSpPr>
          <p:cNvPr id="37" name="Text 35"/>
          <p:cNvSpPr txBox="1"/>
          <p:nvPr/>
        </p:nvSpPr>
        <p:spPr>
          <a:xfrm>
            <a:off x="6528816" y="4663440"/>
            <a:ext cx="21031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Enable oversight</a:t>
            </a:r>
            <a:endParaRPr lang="en-US" sz="1400" dirty="0"/>
          </a:p>
        </p:txBody>
      </p:sp>
      <p:sp>
        <p:nvSpPr>
          <p:cNvPr id="38" name="Text 36"/>
          <p:cNvSpPr txBox="1"/>
          <p:nvPr/>
        </p:nvSpPr>
        <p:spPr>
          <a:xfrm>
            <a:off x="6528816" y="4983480"/>
            <a:ext cx="2148840" cy="777240"/>
          </a:xfrm>
          <a:prstGeom prst="rect">
            <a:avLst/>
          </a:prstGeom>
          <a:noFill/>
          <a:ln/>
        </p:spPr>
        <p:txBody>
          <a:bodyPr wrap="square" lIns="0" tIns="0" rIns="0" bIns="0" rtlCol="0" anchor="t"/>
          <a:lstStyle/>
          <a:p>
            <a:pPr indent="0" marL="0">
              <a:lnSpc>
                <a:spcPts val="1400"/>
              </a:lnSpc>
              <a:buNone/>
            </a:pPr>
            <a:r>
              <a:rPr lang="en-US" sz="1100" dirty="0">
                <a:solidFill>
                  <a:srgbClr val="C9E4E8"/>
                </a:solidFill>
                <a:latin typeface="Calibri" pitchFamily="34" charset="0"/>
                <a:ea typeface="Calibri" pitchFamily="34" charset="-122"/>
                <a:cs typeface="Calibri" pitchFamily="34" charset="-120"/>
              </a:rPr>
              <a:t>Give administrators a central view of hostels, users, activity and complaints.</a:t>
            </a:r>
            <a:endParaRPr lang="en-US" sz="1100" dirty="0"/>
          </a:p>
        </p:txBody>
      </p:sp>
      <p:sp>
        <p:nvSpPr>
          <p:cNvPr id="39" name="Shape 37"/>
          <p:cNvSpPr/>
          <p:nvPr/>
        </p:nvSpPr>
        <p:spPr>
          <a:xfrm>
            <a:off x="9089136" y="3886200"/>
            <a:ext cx="2587752" cy="1993392"/>
          </a:xfrm>
          <a:prstGeom prst="roundRect">
            <a:avLst>
              <a:gd name="adj" fmla="val 3670"/>
            </a:avLst>
          </a:prstGeom>
          <a:solidFill>
            <a:srgbClr val="12505F"/>
          </a:solidFill>
          <a:ln w="9525">
            <a:solidFill>
              <a:srgbClr val="12505F"/>
            </a:solidFill>
            <a:prstDash val="solid"/>
          </a:ln>
        </p:spPr>
      </p:sp>
      <p:sp>
        <p:nvSpPr>
          <p:cNvPr id="40" name="Shape 38"/>
          <p:cNvSpPr/>
          <p:nvPr/>
        </p:nvSpPr>
        <p:spPr>
          <a:xfrm>
            <a:off x="9345168" y="4142232"/>
            <a:ext cx="402336" cy="402336"/>
          </a:xfrm>
          <a:prstGeom prst="ellipse">
            <a:avLst/>
          </a:prstGeom>
          <a:solidFill>
            <a:srgbClr val="02C39A"/>
          </a:solidFill>
          <a:ln w="6350">
            <a:solidFill>
              <a:srgbClr val="02C39A"/>
            </a:solidFill>
            <a:prstDash val="solid"/>
          </a:ln>
        </p:spPr>
      </p:sp>
      <p:sp>
        <p:nvSpPr>
          <p:cNvPr id="41" name="Text 39"/>
          <p:cNvSpPr txBox="1"/>
          <p:nvPr/>
        </p:nvSpPr>
        <p:spPr>
          <a:xfrm>
            <a:off x="9345168" y="4160520"/>
            <a:ext cx="402336" cy="365760"/>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8</a:t>
            </a:r>
            <a:endParaRPr lang="en-US" sz="1250" dirty="0"/>
          </a:p>
        </p:txBody>
      </p:sp>
      <p:sp>
        <p:nvSpPr>
          <p:cNvPr id="42" name="Text 40"/>
          <p:cNvSpPr txBox="1"/>
          <p:nvPr/>
        </p:nvSpPr>
        <p:spPr>
          <a:xfrm>
            <a:off x="9345168" y="4663440"/>
            <a:ext cx="21031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Design to scale</a:t>
            </a:r>
            <a:endParaRPr lang="en-US" sz="1400" dirty="0"/>
          </a:p>
        </p:txBody>
      </p:sp>
      <p:sp>
        <p:nvSpPr>
          <p:cNvPr id="43" name="Text 41"/>
          <p:cNvSpPr txBox="1"/>
          <p:nvPr/>
        </p:nvSpPr>
        <p:spPr>
          <a:xfrm>
            <a:off x="9345168" y="4983480"/>
            <a:ext cx="2148840" cy="777240"/>
          </a:xfrm>
          <a:prstGeom prst="rect">
            <a:avLst/>
          </a:prstGeom>
          <a:noFill/>
          <a:ln/>
        </p:spPr>
        <p:txBody>
          <a:bodyPr wrap="square" lIns="0" tIns="0" rIns="0" bIns="0" rtlCol="0" anchor="t"/>
          <a:lstStyle/>
          <a:p>
            <a:pPr indent="0" marL="0">
              <a:lnSpc>
                <a:spcPts val="1400"/>
              </a:lnSpc>
              <a:buNone/>
            </a:pPr>
            <a:r>
              <a:rPr lang="en-US" sz="1100" dirty="0">
                <a:solidFill>
                  <a:srgbClr val="C9E4E8"/>
                </a:solidFill>
                <a:latin typeface="Calibri" pitchFamily="34" charset="0"/>
                <a:ea typeface="Calibri" pitchFamily="34" charset="-122"/>
                <a:cs typeface="Calibri" pitchFamily="34" charset="-120"/>
              </a:rPr>
              <a:t>Layered client–server architecture and a schema that supports the full workflow.</a:t>
            </a:r>
            <a:endParaRPr lang="en-US" sz="1100" dirty="0"/>
          </a:p>
        </p:txBody>
      </p:sp>
      <p:sp>
        <p:nvSpPr>
          <p:cNvPr id="44" name="Text 42"/>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6</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Proposed System</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350" dirty="0">
                <a:solidFill>
                  <a:srgbClr val="6E8288"/>
                </a:solidFill>
                <a:latin typeface="Calibri" pitchFamily="34" charset="0"/>
                <a:ea typeface="Calibri" pitchFamily="34" charset="-122"/>
                <a:cs typeface="Calibri" pitchFamily="34" charset="-120"/>
              </a:rPr>
              <a:t>Every laundry request becomes a distinct record — linked to the student, its items and a complete status history — so its state is always verifiable rather than remembered.</a:t>
            </a:r>
            <a:endParaRPr lang="en-US" sz="1350" dirty="0"/>
          </a:p>
        </p:txBody>
      </p:sp>
      <p:sp>
        <p:nvSpPr>
          <p:cNvPr id="5" name="Shape 3"/>
          <p:cNvSpPr/>
          <p:nvPr/>
        </p:nvSpPr>
        <p:spPr>
          <a:xfrm>
            <a:off x="640080" y="1920240"/>
            <a:ext cx="2057400" cy="749808"/>
          </a:xfrm>
          <a:prstGeom prst="chevron">
            <a:avLst/>
          </a:prstGeom>
          <a:solidFill>
            <a:srgbClr val="028090"/>
          </a:solidFill>
          <a:ln w="12700">
            <a:solidFill>
              <a:srgbClr val="FFFFFF"/>
            </a:solidFill>
            <a:prstDash val="solid"/>
          </a:ln>
        </p:spPr>
      </p:sp>
      <p:sp>
        <p:nvSpPr>
          <p:cNvPr id="6" name="Text 4"/>
          <p:cNvSpPr txBox="1"/>
          <p:nvPr/>
        </p:nvSpPr>
        <p:spPr>
          <a:xfrm>
            <a:off x="841248" y="1920240"/>
            <a:ext cx="1691640" cy="7498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Submitted</a:t>
            </a:r>
            <a:endParaRPr lang="en-US" sz="1150" dirty="0"/>
          </a:p>
        </p:txBody>
      </p:sp>
      <p:sp>
        <p:nvSpPr>
          <p:cNvPr id="7" name="Shape 5"/>
          <p:cNvSpPr/>
          <p:nvPr/>
        </p:nvSpPr>
        <p:spPr>
          <a:xfrm>
            <a:off x="2450592" y="1920240"/>
            <a:ext cx="2057400" cy="749808"/>
          </a:xfrm>
          <a:prstGeom prst="chevron">
            <a:avLst/>
          </a:prstGeom>
          <a:solidFill>
            <a:srgbClr val="028090"/>
          </a:solidFill>
          <a:ln w="12700">
            <a:solidFill>
              <a:srgbClr val="FFFFFF"/>
            </a:solidFill>
            <a:prstDash val="solid"/>
          </a:ln>
        </p:spPr>
      </p:sp>
      <p:sp>
        <p:nvSpPr>
          <p:cNvPr id="8" name="Text 6"/>
          <p:cNvSpPr txBox="1"/>
          <p:nvPr/>
        </p:nvSpPr>
        <p:spPr>
          <a:xfrm>
            <a:off x="2651760" y="1920240"/>
            <a:ext cx="1691640" cy="7498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Verified</a:t>
            </a:r>
            <a:endParaRPr lang="en-US" sz="1150" dirty="0"/>
          </a:p>
        </p:txBody>
      </p:sp>
      <p:sp>
        <p:nvSpPr>
          <p:cNvPr id="9" name="Shape 7"/>
          <p:cNvSpPr/>
          <p:nvPr/>
        </p:nvSpPr>
        <p:spPr>
          <a:xfrm>
            <a:off x="4261104" y="1920240"/>
            <a:ext cx="2057400" cy="749808"/>
          </a:xfrm>
          <a:prstGeom prst="chevron">
            <a:avLst/>
          </a:prstGeom>
          <a:solidFill>
            <a:srgbClr val="00A896"/>
          </a:solidFill>
          <a:ln w="12700">
            <a:solidFill>
              <a:srgbClr val="FFFFFF"/>
            </a:solidFill>
            <a:prstDash val="solid"/>
          </a:ln>
        </p:spPr>
      </p:sp>
      <p:sp>
        <p:nvSpPr>
          <p:cNvPr id="10" name="Text 8"/>
          <p:cNvSpPr txBox="1"/>
          <p:nvPr/>
        </p:nvSpPr>
        <p:spPr>
          <a:xfrm>
            <a:off x="4462272" y="1920240"/>
            <a:ext cx="1691640" cy="7498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Processing</a:t>
            </a:r>
            <a:endParaRPr lang="en-US" sz="1150" dirty="0"/>
          </a:p>
        </p:txBody>
      </p:sp>
      <p:sp>
        <p:nvSpPr>
          <p:cNvPr id="11" name="Shape 9"/>
          <p:cNvSpPr/>
          <p:nvPr/>
        </p:nvSpPr>
        <p:spPr>
          <a:xfrm>
            <a:off x="6071616" y="1920240"/>
            <a:ext cx="2057400" cy="749808"/>
          </a:xfrm>
          <a:prstGeom prst="chevron">
            <a:avLst/>
          </a:prstGeom>
          <a:solidFill>
            <a:srgbClr val="00A896"/>
          </a:solidFill>
          <a:ln w="12700">
            <a:solidFill>
              <a:srgbClr val="FFFFFF"/>
            </a:solidFill>
            <a:prstDash val="solid"/>
          </a:ln>
        </p:spPr>
      </p:sp>
      <p:sp>
        <p:nvSpPr>
          <p:cNvPr id="12" name="Text 10"/>
          <p:cNvSpPr txBox="1"/>
          <p:nvPr/>
        </p:nvSpPr>
        <p:spPr>
          <a:xfrm>
            <a:off x="6272784" y="1920240"/>
            <a:ext cx="1691640" cy="7498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Returned</a:t>
            </a:r>
            <a:endParaRPr lang="en-US" sz="1150" dirty="0"/>
          </a:p>
        </p:txBody>
      </p:sp>
      <p:sp>
        <p:nvSpPr>
          <p:cNvPr id="13" name="Shape 11"/>
          <p:cNvSpPr/>
          <p:nvPr/>
        </p:nvSpPr>
        <p:spPr>
          <a:xfrm>
            <a:off x="7882128" y="1920240"/>
            <a:ext cx="2057400" cy="749808"/>
          </a:xfrm>
          <a:prstGeom prst="chevron">
            <a:avLst/>
          </a:prstGeom>
          <a:solidFill>
            <a:srgbClr val="02C39A"/>
          </a:solidFill>
          <a:ln w="12700">
            <a:solidFill>
              <a:srgbClr val="FFFFFF"/>
            </a:solidFill>
            <a:prstDash val="solid"/>
          </a:ln>
        </p:spPr>
      </p:sp>
      <p:sp>
        <p:nvSpPr>
          <p:cNvPr id="14" name="Text 12"/>
          <p:cNvSpPr txBox="1"/>
          <p:nvPr/>
        </p:nvSpPr>
        <p:spPr>
          <a:xfrm>
            <a:off x="8083296" y="1920240"/>
            <a:ext cx="1691640" cy="7498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Ready for Pickup</a:t>
            </a:r>
            <a:endParaRPr lang="en-US" sz="1150" dirty="0"/>
          </a:p>
        </p:txBody>
      </p:sp>
      <p:sp>
        <p:nvSpPr>
          <p:cNvPr id="15" name="Shape 13"/>
          <p:cNvSpPr/>
          <p:nvPr/>
        </p:nvSpPr>
        <p:spPr>
          <a:xfrm>
            <a:off x="9692640" y="1920240"/>
            <a:ext cx="2057400" cy="749808"/>
          </a:xfrm>
          <a:prstGeom prst="chevron">
            <a:avLst/>
          </a:prstGeom>
          <a:solidFill>
            <a:srgbClr val="02C39A"/>
          </a:solidFill>
          <a:ln w="12700">
            <a:solidFill>
              <a:srgbClr val="FFFFFF"/>
            </a:solidFill>
            <a:prstDash val="solid"/>
          </a:ln>
        </p:spPr>
      </p:sp>
      <p:sp>
        <p:nvSpPr>
          <p:cNvPr id="16" name="Text 14"/>
          <p:cNvSpPr txBox="1"/>
          <p:nvPr/>
        </p:nvSpPr>
        <p:spPr>
          <a:xfrm>
            <a:off x="9893808" y="1920240"/>
            <a:ext cx="1691640" cy="7498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Collected</a:t>
            </a:r>
            <a:endParaRPr lang="en-US" sz="1150" dirty="0"/>
          </a:p>
        </p:txBody>
      </p:sp>
      <p:sp>
        <p:nvSpPr>
          <p:cNvPr id="17" name="Text 15"/>
          <p:cNvSpPr txBox="1"/>
          <p:nvPr/>
        </p:nvSpPr>
        <p:spPr>
          <a:xfrm>
            <a:off x="640080" y="2761488"/>
            <a:ext cx="10881360" cy="237744"/>
          </a:xfrm>
          <a:prstGeom prst="rect">
            <a:avLst/>
          </a:prstGeom>
          <a:noFill/>
          <a:ln/>
        </p:spPr>
        <p:txBody>
          <a:bodyPr wrap="square" lIns="0" tIns="0" rIns="0" bIns="0" rtlCol="0" anchor="t"/>
          <a:lstStyle/>
          <a:p>
            <a:pPr algn="ctr" indent="0" marL="0">
              <a:buNone/>
            </a:pPr>
            <a:r>
              <a:rPr lang="en-US" sz="1050" i="1" dirty="0">
                <a:solidFill>
                  <a:srgbClr val="6E8288"/>
                </a:solidFill>
                <a:latin typeface="Calibri" pitchFamily="34" charset="0"/>
                <a:ea typeface="Calibri" pitchFamily="34" charset="-122"/>
                <a:cs typeface="Calibri" pitchFamily="34" charset="-120"/>
              </a:rPr>
              <a:t>The laundry request state transitions maintained by the system</a:t>
            </a:r>
            <a:endParaRPr lang="en-US" sz="1050" dirty="0"/>
          </a:p>
        </p:txBody>
      </p:sp>
      <p:sp>
        <p:nvSpPr>
          <p:cNvPr id="18" name="Shape 16"/>
          <p:cNvSpPr/>
          <p:nvPr/>
        </p:nvSpPr>
        <p:spPr>
          <a:xfrm>
            <a:off x="640080" y="3200400"/>
            <a:ext cx="3465576" cy="1481328"/>
          </a:xfrm>
          <a:prstGeom prst="roundRect">
            <a:avLst>
              <a:gd name="adj" fmla="val 4938"/>
            </a:avLst>
          </a:prstGeom>
          <a:solidFill>
            <a:srgbClr val="F4F9F9"/>
          </a:solidFill>
          <a:ln w="9525">
            <a:solidFill>
              <a:srgbClr val="F4F9F9"/>
            </a:solidFill>
            <a:prstDash val="solid"/>
          </a:ln>
        </p:spPr>
      </p:sp>
      <p:sp>
        <p:nvSpPr>
          <p:cNvPr id="19" name="Shape 17"/>
          <p:cNvSpPr/>
          <p:nvPr/>
        </p:nvSpPr>
        <p:spPr>
          <a:xfrm>
            <a:off x="896112" y="3438144"/>
            <a:ext cx="365760" cy="365760"/>
          </a:xfrm>
          <a:prstGeom prst="ellipse">
            <a:avLst/>
          </a:prstGeom>
          <a:solidFill>
            <a:srgbClr val="028090"/>
          </a:solidFill>
          <a:ln w="6350">
            <a:solidFill>
              <a:srgbClr val="028090"/>
            </a:solidFill>
            <a:prstDash val="solid"/>
          </a:ln>
        </p:spPr>
      </p:sp>
      <p:sp>
        <p:nvSpPr>
          <p:cNvPr id="20" name="Text 18"/>
          <p:cNvSpPr txBox="1"/>
          <p:nvPr/>
        </p:nvSpPr>
        <p:spPr>
          <a:xfrm>
            <a:off x="896112" y="3456432"/>
            <a:ext cx="36576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21" name="Text 19"/>
          <p:cNvSpPr txBox="1"/>
          <p:nvPr/>
        </p:nvSpPr>
        <p:spPr>
          <a:xfrm>
            <a:off x="1389888" y="3493008"/>
            <a:ext cx="2468880" cy="274320"/>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Login</a:t>
            </a:r>
            <a:endParaRPr lang="en-US" sz="1350" dirty="0"/>
          </a:p>
        </p:txBody>
      </p:sp>
      <p:sp>
        <p:nvSpPr>
          <p:cNvPr id="22" name="Text 20"/>
          <p:cNvSpPr txBox="1"/>
          <p:nvPr/>
        </p:nvSpPr>
        <p:spPr>
          <a:xfrm>
            <a:off x="896112" y="3931920"/>
            <a:ext cx="301752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Student authenticates with an institutional email, verified by OTP.</a:t>
            </a:r>
            <a:endParaRPr lang="en-US" sz="1150" dirty="0"/>
          </a:p>
        </p:txBody>
      </p:sp>
      <p:sp>
        <p:nvSpPr>
          <p:cNvPr id="23" name="Shape 21"/>
          <p:cNvSpPr/>
          <p:nvPr/>
        </p:nvSpPr>
        <p:spPr>
          <a:xfrm>
            <a:off x="4379976" y="3200400"/>
            <a:ext cx="3465576" cy="1481328"/>
          </a:xfrm>
          <a:prstGeom prst="roundRect">
            <a:avLst>
              <a:gd name="adj" fmla="val 4938"/>
            </a:avLst>
          </a:prstGeom>
          <a:solidFill>
            <a:srgbClr val="F4F9F9"/>
          </a:solidFill>
          <a:ln w="9525">
            <a:solidFill>
              <a:srgbClr val="F4F9F9"/>
            </a:solidFill>
            <a:prstDash val="solid"/>
          </a:ln>
        </p:spPr>
      </p:sp>
      <p:sp>
        <p:nvSpPr>
          <p:cNvPr id="24" name="Shape 22"/>
          <p:cNvSpPr/>
          <p:nvPr/>
        </p:nvSpPr>
        <p:spPr>
          <a:xfrm>
            <a:off x="4636008" y="3438144"/>
            <a:ext cx="365760" cy="365760"/>
          </a:xfrm>
          <a:prstGeom prst="ellipse">
            <a:avLst/>
          </a:prstGeom>
          <a:solidFill>
            <a:srgbClr val="028090"/>
          </a:solidFill>
          <a:ln w="6350">
            <a:solidFill>
              <a:srgbClr val="028090"/>
            </a:solidFill>
            <a:prstDash val="solid"/>
          </a:ln>
        </p:spPr>
      </p:sp>
      <p:sp>
        <p:nvSpPr>
          <p:cNvPr id="25" name="Text 23"/>
          <p:cNvSpPr txBox="1"/>
          <p:nvPr/>
        </p:nvSpPr>
        <p:spPr>
          <a:xfrm>
            <a:off x="4636008" y="3456432"/>
            <a:ext cx="36576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26" name="Text 24"/>
          <p:cNvSpPr txBox="1"/>
          <p:nvPr/>
        </p:nvSpPr>
        <p:spPr>
          <a:xfrm>
            <a:off x="5129784" y="3493008"/>
            <a:ext cx="2468880" cy="274320"/>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Submit</a:t>
            </a:r>
            <a:endParaRPr lang="en-US" sz="1350" dirty="0"/>
          </a:p>
        </p:txBody>
      </p:sp>
      <p:sp>
        <p:nvSpPr>
          <p:cNvPr id="27" name="Text 25"/>
          <p:cNvSpPr txBox="1"/>
          <p:nvPr/>
        </p:nvSpPr>
        <p:spPr>
          <a:xfrm>
            <a:off x="4636008" y="3931920"/>
            <a:ext cx="301752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Student records items and quantities as a laundry request.</a:t>
            </a:r>
            <a:endParaRPr lang="en-US" sz="1150" dirty="0"/>
          </a:p>
        </p:txBody>
      </p:sp>
      <p:sp>
        <p:nvSpPr>
          <p:cNvPr id="28" name="Shape 26"/>
          <p:cNvSpPr/>
          <p:nvPr/>
        </p:nvSpPr>
        <p:spPr>
          <a:xfrm>
            <a:off x="8119872" y="3200400"/>
            <a:ext cx="3465576" cy="1481328"/>
          </a:xfrm>
          <a:prstGeom prst="roundRect">
            <a:avLst>
              <a:gd name="adj" fmla="val 4938"/>
            </a:avLst>
          </a:prstGeom>
          <a:solidFill>
            <a:srgbClr val="F4F9F9"/>
          </a:solidFill>
          <a:ln w="9525">
            <a:solidFill>
              <a:srgbClr val="F4F9F9"/>
            </a:solidFill>
            <a:prstDash val="solid"/>
          </a:ln>
        </p:spPr>
      </p:sp>
      <p:sp>
        <p:nvSpPr>
          <p:cNvPr id="29" name="Shape 27"/>
          <p:cNvSpPr/>
          <p:nvPr/>
        </p:nvSpPr>
        <p:spPr>
          <a:xfrm>
            <a:off x="8375904" y="3438144"/>
            <a:ext cx="365760" cy="365760"/>
          </a:xfrm>
          <a:prstGeom prst="ellipse">
            <a:avLst/>
          </a:prstGeom>
          <a:solidFill>
            <a:srgbClr val="028090"/>
          </a:solidFill>
          <a:ln w="6350">
            <a:solidFill>
              <a:srgbClr val="028090"/>
            </a:solidFill>
            <a:prstDash val="solid"/>
          </a:ln>
        </p:spPr>
      </p:sp>
      <p:sp>
        <p:nvSpPr>
          <p:cNvPr id="30" name="Text 28"/>
          <p:cNvSpPr txBox="1"/>
          <p:nvPr/>
        </p:nvSpPr>
        <p:spPr>
          <a:xfrm>
            <a:off x="8375904" y="3456432"/>
            <a:ext cx="36576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31" name="Text 29"/>
          <p:cNvSpPr txBox="1"/>
          <p:nvPr/>
        </p:nvSpPr>
        <p:spPr>
          <a:xfrm>
            <a:off x="8869680" y="3493008"/>
            <a:ext cx="2468880" cy="274320"/>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Verify &amp; batch</a:t>
            </a:r>
            <a:endParaRPr lang="en-US" sz="1350" dirty="0"/>
          </a:p>
        </p:txBody>
      </p:sp>
      <p:sp>
        <p:nvSpPr>
          <p:cNvPr id="32" name="Text 30"/>
          <p:cNvSpPr txBox="1"/>
          <p:nvPr/>
        </p:nvSpPr>
        <p:spPr>
          <a:xfrm>
            <a:off x="8375904" y="3931920"/>
            <a:ext cx="301752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Staff verify and tag the request, grouping requests into processing batches.</a:t>
            </a:r>
            <a:endParaRPr lang="en-US" sz="1150" dirty="0"/>
          </a:p>
        </p:txBody>
      </p:sp>
      <p:sp>
        <p:nvSpPr>
          <p:cNvPr id="33" name="Shape 31"/>
          <p:cNvSpPr/>
          <p:nvPr/>
        </p:nvSpPr>
        <p:spPr>
          <a:xfrm>
            <a:off x="640080" y="4892040"/>
            <a:ext cx="3465576" cy="1481328"/>
          </a:xfrm>
          <a:prstGeom prst="roundRect">
            <a:avLst>
              <a:gd name="adj" fmla="val 4938"/>
            </a:avLst>
          </a:prstGeom>
          <a:solidFill>
            <a:srgbClr val="F4F9F9"/>
          </a:solidFill>
          <a:ln w="9525">
            <a:solidFill>
              <a:srgbClr val="F4F9F9"/>
            </a:solidFill>
            <a:prstDash val="solid"/>
          </a:ln>
        </p:spPr>
      </p:sp>
      <p:sp>
        <p:nvSpPr>
          <p:cNvPr id="34" name="Shape 32"/>
          <p:cNvSpPr/>
          <p:nvPr/>
        </p:nvSpPr>
        <p:spPr>
          <a:xfrm>
            <a:off x="896112" y="5129784"/>
            <a:ext cx="365760" cy="365760"/>
          </a:xfrm>
          <a:prstGeom prst="ellipse">
            <a:avLst/>
          </a:prstGeom>
          <a:solidFill>
            <a:srgbClr val="028090"/>
          </a:solidFill>
          <a:ln w="6350">
            <a:solidFill>
              <a:srgbClr val="028090"/>
            </a:solidFill>
            <a:prstDash val="solid"/>
          </a:ln>
        </p:spPr>
      </p:sp>
      <p:sp>
        <p:nvSpPr>
          <p:cNvPr id="35" name="Text 33"/>
          <p:cNvSpPr txBox="1"/>
          <p:nvPr/>
        </p:nvSpPr>
        <p:spPr>
          <a:xfrm>
            <a:off x="896112" y="5148072"/>
            <a:ext cx="36576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36" name="Text 34"/>
          <p:cNvSpPr txBox="1"/>
          <p:nvPr/>
        </p:nvSpPr>
        <p:spPr>
          <a:xfrm>
            <a:off x="1389888" y="5184648"/>
            <a:ext cx="2468880" cy="274320"/>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Process &amp; log</a:t>
            </a:r>
            <a:endParaRPr lang="en-US" sz="1350" dirty="0"/>
          </a:p>
        </p:txBody>
      </p:sp>
      <p:sp>
        <p:nvSpPr>
          <p:cNvPr id="37" name="Text 35"/>
          <p:cNvSpPr txBox="1"/>
          <p:nvPr/>
        </p:nvSpPr>
        <p:spPr>
          <a:xfrm>
            <a:off x="896112" y="5623560"/>
            <a:ext cx="301752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Each transition through washing, ironing and return is updated and logged.</a:t>
            </a:r>
            <a:endParaRPr lang="en-US" sz="1150" dirty="0"/>
          </a:p>
        </p:txBody>
      </p:sp>
      <p:sp>
        <p:nvSpPr>
          <p:cNvPr id="38" name="Shape 36"/>
          <p:cNvSpPr/>
          <p:nvPr/>
        </p:nvSpPr>
        <p:spPr>
          <a:xfrm>
            <a:off x="4379976" y="4892040"/>
            <a:ext cx="3465576" cy="1481328"/>
          </a:xfrm>
          <a:prstGeom prst="roundRect">
            <a:avLst>
              <a:gd name="adj" fmla="val 4938"/>
            </a:avLst>
          </a:prstGeom>
          <a:solidFill>
            <a:srgbClr val="F4F9F9"/>
          </a:solidFill>
          <a:ln w="9525">
            <a:solidFill>
              <a:srgbClr val="F4F9F9"/>
            </a:solidFill>
            <a:prstDash val="solid"/>
          </a:ln>
        </p:spPr>
      </p:sp>
      <p:sp>
        <p:nvSpPr>
          <p:cNvPr id="39" name="Shape 37"/>
          <p:cNvSpPr/>
          <p:nvPr/>
        </p:nvSpPr>
        <p:spPr>
          <a:xfrm>
            <a:off x="4636008" y="5129784"/>
            <a:ext cx="365760" cy="365760"/>
          </a:xfrm>
          <a:prstGeom prst="ellipse">
            <a:avLst/>
          </a:prstGeom>
          <a:solidFill>
            <a:srgbClr val="028090"/>
          </a:solidFill>
          <a:ln w="6350">
            <a:solidFill>
              <a:srgbClr val="028090"/>
            </a:solidFill>
            <a:prstDash val="solid"/>
          </a:ln>
        </p:spPr>
      </p:sp>
      <p:sp>
        <p:nvSpPr>
          <p:cNvPr id="40" name="Text 38"/>
          <p:cNvSpPr txBox="1"/>
          <p:nvPr/>
        </p:nvSpPr>
        <p:spPr>
          <a:xfrm>
            <a:off x="4636008" y="5148072"/>
            <a:ext cx="36576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41" name="Text 39"/>
          <p:cNvSpPr txBox="1"/>
          <p:nvPr/>
        </p:nvSpPr>
        <p:spPr>
          <a:xfrm>
            <a:off x="5129784" y="5184648"/>
            <a:ext cx="2468880" cy="274320"/>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Notify &amp; activate</a:t>
            </a:r>
            <a:endParaRPr lang="en-US" sz="1350" dirty="0"/>
          </a:p>
        </p:txBody>
      </p:sp>
      <p:sp>
        <p:nvSpPr>
          <p:cNvPr id="42" name="Text 40"/>
          <p:cNvSpPr txBox="1"/>
          <p:nvPr/>
        </p:nvSpPr>
        <p:spPr>
          <a:xfrm>
            <a:off x="4636008" y="5623560"/>
            <a:ext cx="301752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The student is notified and a QR pickup token is activated for the request.</a:t>
            </a:r>
            <a:endParaRPr lang="en-US" sz="1150" dirty="0"/>
          </a:p>
        </p:txBody>
      </p:sp>
      <p:sp>
        <p:nvSpPr>
          <p:cNvPr id="43" name="Shape 41"/>
          <p:cNvSpPr/>
          <p:nvPr/>
        </p:nvSpPr>
        <p:spPr>
          <a:xfrm>
            <a:off x="8119872" y="4892040"/>
            <a:ext cx="3465576" cy="1481328"/>
          </a:xfrm>
          <a:prstGeom prst="roundRect">
            <a:avLst>
              <a:gd name="adj" fmla="val 4938"/>
            </a:avLst>
          </a:prstGeom>
          <a:solidFill>
            <a:srgbClr val="F4F9F9"/>
          </a:solidFill>
          <a:ln w="9525">
            <a:solidFill>
              <a:srgbClr val="F4F9F9"/>
            </a:solidFill>
            <a:prstDash val="solid"/>
          </a:ln>
        </p:spPr>
      </p:sp>
      <p:sp>
        <p:nvSpPr>
          <p:cNvPr id="44" name="Shape 42"/>
          <p:cNvSpPr/>
          <p:nvPr/>
        </p:nvSpPr>
        <p:spPr>
          <a:xfrm>
            <a:off x="8375904" y="5129784"/>
            <a:ext cx="365760" cy="365760"/>
          </a:xfrm>
          <a:prstGeom prst="ellipse">
            <a:avLst/>
          </a:prstGeom>
          <a:solidFill>
            <a:srgbClr val="028090"/>
          </a:solidFill>
          <a:ln w="6350">
            <a:solidFill>
              <a:srgbClr val="028090"/>
            </a:solidFill>
            <a:prstDash val="solid"/>
          </a:ln>
        </p:spPr>
      </p:sp>
      <p:sp>
        <p:nvSpPr>
          <p:cNvPr id="45" name="Text 43"/>
          <p:cNvSpPr txBox="1"/>
          <p:nvPr/>
        </p:nvSpPr>
        <p:spPr>
          <a:xfrm>
            <a:off x="8375904" y="5148072"/>
            <a:ext cx="36576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46" name="Text 44"/>
          <p:cNvSpPr txBox="1"/>
          <p:nvPr/>
        </p:nvSpPr>
        <p:spPr>
          <a:xfrm>
            <a:off x="8869680" y="5184648"/>
            <a:ext cx="2468880" cy="274320"/>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Scan &amp; close</a:t>
            </a:r>
            <a:endParaRPr lang="en-US" sz="1350" dirty="0"/>
          </a:p>
        </p:txBody>
      </p:sp>
      <p:sp>
        <p:nvSpPr>
          <p:cNvPr id="47" name="Text 45"/>
          <p:cNvSpPr txBox="1"/>
          <p:nvPr/>
        </p:nvSpPr>
        <p:spPr>
          <a:xfrm>
            <a:off x="8375904" y="5623560"/>
            <a:ext cx="3017520" cy="6400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Staff scan and validate the token, mark it collected, and block reuse.</a:t>
            </a:r>
            <a:endParaRPr lang="en-US" sz="1150" dirty="0"/>
          </a:p>
        </p:txBody>
      </p:sp>
      <p:sp>
        <p:nvSpPr>
          <p:cNvPr id="48" name="Text 46"/>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4</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Scope of the Project</a:t>
            </a:r>
            <a:endParaRPr lang="en-US" sz="3000" dirty="0"/>
          </a:p>
        </p:txBody>
      </p:sp>
      <p:sp>
        <p:nvSpPr>
          <p:cNvPr id="4" name="Shape 2"/>
          <p:cNvSpPr/>
          <p:nvPr/>
        </p:nvSpPr>
        <p:spPr>
          <a:xfrm>
            <a:off x="640080" y="1508760"/>
            <a:ext cx="5486400" cy="4663440"/>
          </a:xfrm>
          <a:prstGeom prst="roundRect">
            <a:avLst>
              <a:gd name="adj" fmla="val 1569"/>
            </a:avLst>
          </a:prstGeom>
          <a:solidFill>
            <a:srgbClr val="E9F3F4"/>
          </a:solidFill>
          <a:ln w="9525">
            <a:solidFill>
              <a:srgbClr val="E9F3F4"/>
            </a:solidFill>
            <a:prstDash val="solid"/>
          </a:ln>
        </p:spPr>
      </p:sp>
      <p:sp>
        <p:nvSpPr>
          <p:cNvPr id="5" name="Text 3"/>
          <p:cNvSpPr txBox="1"/>
          <p:nvPr/>
        </p:nvSpPr>
        <p:spPr>
          <a:xfrm>
            <a:off x="1005840" y="1828800"/>
            <a:ext cx="3657600" cy="274320"/>
          </a:xfrm>
          <a:prstGeom prst="rect">
            <a:avLst/>
          </a:prstGeom>
          <a:noFill/>
          <a:ln/>
        </p:spPr>
        <p:txBody>
          <a:bodyPr wrap="square" lIns="0" tIns="0" rIns="0" bIns="0" rtlCol="0" anchor="t"/>
          <a:lstStyle/>
          <a:p>
            <a:pPr indent="0" marL="0">
              <a:buNone/>
            </a:pPr>
            <a:r>
              <a:rPr lang="en-US" sz="1200" b="1" spc="200" kern="0" dirty="0">
                <a:solidFill>
                  <a:srgbClr val="028090"/>
                </a:solidFill>
                <a:latin typeface="Calibri" pitchFamily="34" charset="0"/>
                <a:ea typeface="Calibri" pitchFamily="34" charset="-122"/>
                <a:cs typeface="Calibri" pitchFamily="34" charset="-120"/>
              </a:rPr>
              <a:t>IN SCOPE</a:t>
            </a:r>
            <a:endParaRPr lang="en-US" sz="1200" dirty="0"/>
          </a:p>
        </p:txBody>
      </p:sp>
      <p:sp>
        <p:nvSpPr>
          <p:cNvPr id="6" name="Text 4"/>
          <p:cNvSpPr txBox="1"/>
          <p:nvPr/>
        </p:nvSpPr>
        <p:spPr>
          <a:xfrm>
            <a:off x="1005840" y="2240280"/>
            <a:ext cx="4846320" cy="365760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27383D"/>
                </a:solidFill>
                <a:latin typeface="Calibri" pitchFamily="34" charset="0"/>
                <a:ea typeface="Calibri" pitchFamily="34" charset="-122"/>
                <a:cs typeface="Calibri" pitchFamily="34" charset="-120"/>
              </a:rPr>
              <a:t>Mobile application (React Native / Expo) for students and laundry staff</a:t>
            </a:r>
            <a:endParaRPr lang="en-US" sz="1200" dirty="0"/>
          </a:p>
          <a:p>
            <a:pPr marL="342900" indent="-342900">
              <a:lnSpc>
                <a:spcPts val="1600"/>
              </a:lnSpc>
              <a:spcAft>
                <a:spcPts val="800"/>
              </a:spcAft>
              <a:buSzPct val="100000"/>
              <a:buChar char="•"/>
            </a:pPr>
            <a:r>
              <a:rPr lang="en-US" sz="1200" dirty="0">
                <a:solidFill>
                  <a:srgbClr val="27383D"/>
                </a:solidFill>
                <a:latin typeface="Calibri" pitchFamily="34" charset="0"/>
                <a:ea typeface="Calibri" pitchFamily="34" charset="-122"/>
                <a:cs typeface="Calibri" pitchFamily="34" charset="-120"/>
              </a:rPr>
              <a:t>Backend API (Node.js / Express) mediating all data access and business logic</a:t>
            </a:r>
            <a:endParaRPr lang="en-US" sz="1200" dirty="0"/>
          </a:p>
          <a:p>
            <a:pPr marL="342900" indent="-342900">
              <a:lnSpc>
                <a:spcPts val="1600"/>
              </a:lnSpc>
              <a:spcAft>
                <a:spcPts val="800"/>
              </a:spcAft>
              <a:buSzPct val="100000"/>
              <a:buChar char="•"/>
            </a:pPr>
            <a:r>
              <a:rPr lang="en-US" sz="1200" dirty="0">
                <a:solidFill>
                  <a:srgbClr val="27383D"/>
                </a:solidFill>
                <a:latin typeface="Calibri" pitchFamily="34" charset="0"/>
                <a:ea typeface="Calibri" pitchFamily="34" charset="-122"/>
                <a:cs typeface="Calibri" pitchFamily="34" charset="-120"/>
              </a:rPr>
              <a:t>Institutional-email OTP authentication via Supabase Authentication</a:t>
            </a:r>
            <a:endParaRPr lang="en-US" sz="1200" dirty="0"/>
          </a:p>
          <a:p>
            <a:pPr marL="342900" indent="-342900">
              <a:lnSpc>
                <a:spcPts val="1600"/>
              </a:lnSpc>
              <a:spcAft>
                <a:spcPts val="800"/>
              </a:spcAft>
              <a:buSzPct val="100000"/>
              <a:buChar char="•"/>
            </a:pPr>
            <a:r>
              <a:rPr lang="en-US" sz="1200" dirty="0">
                <a:solidFill>
                  <a:srgbClr val="27383D"/>
                </a:solidFill>
                <a:latin typeface="Calibri" pitchFamily="34" charset="0"/>
                <a:ea typeface="Calibri" pitchFamily="34" charset="-122"/>
                <a:cs typeface="Calibri" pitchFamily="34" charset="-120"/>
              </a:rPr>
              <a:t>Relational PostgreSQL schema covering users, hostels, requests, items, status history, batches, tokens, complaints, notifications and audit logs</a:t>
            </a:r>
            <a:endParaRPr lang="en-US" sz="1200" dirty="0"/>
          </a:p>
          <a:p>
            <a:pPr marL="342900" indent="-342900">
              <a:lnSpc>
                <a:spcPts val="1600"/>
              </a:lnSpc>
              <a:spcAft>
                <a:spcPts val="800"/>
              </a:spcAft>
              <a:buSzPct val="100000"/>
              <a:buChar char="•"/>
            </a:pPr>
            <a:r>
              <a:rPr lang="en-US" sz="1200" dirty="0">
                <a:solidFill>
                  <a:srgbClr val="27383D"/>
                </a:solidFill>
                <a:latin typeface="Calibri" pitchFamily="34" charset="0"/>
                <a:ea typeface="Calibri" pitchFamily="34" charset="-122"/>
                <a:cs typeface="Calibri" pitchFamily="34" charset="-120"/>
              </a:rPr>
              <a:t>Full laundry lifecycle: submission → verification → processing → return → ready → QR collection</a:t>
            </a:r>
            <a:endParaRPr lang="en-US" sz="1200" dirty="0"/>
          </a:p>
          <a:p>
            <a:pPr marL="342900" indent="-342900">
              <a:lnSpc>
                <a:spcPts val="1600"/>
              </a:lnSpc>
              <a:spcAft>
                <a:spcPts val="800"/>
              </a:spcAft>
              <a:buSzPct val="100000"/>
              <a:buChar char="•"/>
            </a:pPr>
            <a:r>
              <a:rPr lang="en-US" sz="1200" dirty="0">
                <a:solidFill>
                  <a:srgbClr val="27383D"/>
                </a:solidFill>
                <a:latin typeface="Calibri" pitchFamily="34" charset="0"/>
                <a:ea typeface="Calibri" pitchFamily="34" charset="-122"/>
                <a:cs typeface="Calibri" pitchFamily="34" charset="-120"/>
              </a:rPr>
              <a:t>Complaint-management workflow and in-app notifications</a:t>
            </a:r>
            <a:endParaRPr lang="en-US" sz="1200" dirty="0"/>
          </a:p>
          <a:p>
            <a:pPr marL="342900" indent="-342900">
              <a:lnSpc>
                <a:spcPts val="1600"/>
              </a:lnSpc>
              <a:spcAft>
                <a:spcPts val="800"/>
              </a:spcAft>
              <a:buSzPct val="100000"/>
              <a:buChar char="•"/>
            </a:pPr>
            <a:r>
              <a:rPr lang="en-US" sz="1200" dirty="0">
                <a:solidFill>
                  <a:srgbClr val="27383D"/>
                </a:solidFill>
                <a:latin typeface="Calibri" pitchFamily="34" charset="0"/>
                <a:ea typeface="Calibri" pitchFamily="34" charset="-122"/>
                <a:cs typeface="Calibri" pitchFamily="34" charset="-120"/>
              </a:rPr>
              <a:t>Administrative view for users, hostels, complaints and activity</a:t>
            </a:r>
            <a:endParaRPr lang="en-US" sz="1200" dirty="0"/>
          </a:p>
        </p:txBody>
      </p:sp>
      <p:sp>
        <p:nvSpPr>
          <p:cNvPr id="7" name="Shape 5"/>
          <p:cNvSpPr/>
          <p:nvPr/>
        </p:nvSpPr>
        <p:spPr>
          <a:xfrm>
            <a:off x="6492240" y="1508760"/>
            <a:ext cx="5029200" cy="4663440"/>
          </a:xfrm>
          <a:prstGeom prst="roundRect">
            <a:avLst>
              <a:gd name="adj" fmla="val 1569"/>
            </a:avLst>
          </a:prstGeom>
          <a:solidFill>
            <a:srgbClr val="F4F9F9"/>
          </a:solidFill>
          <a:ln w="9525">
            <a:solidFill>
              <a:srgbClr val="F4F9F9"/>
            </a:solidFill>
            <a:prstDash val="solid"/>
          </a:ln>
        </p:spPr>
      </p:sp>
      <p:sp>
        <p:nvSpPr>
          <p:cNvPr id="8" name="Text 6"/>
          <p:cNvSpPr txBox="1"/>
          <p:nvPr/>
        </p:nvSpPr>
        <p:spPr>
          <a:xfrm>
            <a:off x="6858000" y="1828800"/>
            <a:ext cx="3657600" cy="274320"/>
          </a:xfrm>
          <a:prstGeom prst="rect">
            <a:avLst/>
          </a:prstGeom>
          <a:noFill/>
          <a:ln/>
        </p:spPr>
        <p:txBody>
          <a:bodyPr wrap="square" lIns="0" tIns="0" rIns="0" bIns="0" rtlCol="0" anchor="t"/>
          <a:lstStyle/>
          <a:p>
            <a:pPr indent="0" marL="0">
              <a:buNone/>
            </a:pPr>
            <a:r>
              <a:rPr lang="en-US" sz="1200" b="1" spc="200" kern="0" dirty="0">
                <a:solidFill>
                  <a:srgbClr val="6E8288"/>
                </a:solidFill>
                <a:latin typeface="Calibri" pitchFamily="34" charset="0"/>
                <a:ea typeface="Calibri" pitchFamily="34" charset="-122"/>
                <a:cs typeface="Calibri" pitchFamily="34" charset="-120"/>
              </a:rPr>
              <a:t>OUT OF SCOPE</a:t>
            </a:r>
            <a:endParaRPr lang="en-US" sz="1200" dirty="0"/>
          </a:p>
        </p:txBody>
      </p:sp>
      <p:sp>
        <p:nvSpPr>
          <p:cNvPr id="9" name="Text 7"/>
          <p:cNvSpPr txBox="1"/>
          <p:nvPr/>
        </p:nvSpPr>
        <p:spPr>
          <a:xfrm>
            <a:off x="6858000" y="2240280"/>
            <a:ext cx="4389120" cy="310896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00" dirty="0">
                <a:solidFill>
                  <a:srgbClr val="27383D"/>
                </a:solidFill>
                <a:latin typeface="Calibri" pitchFamily="34" charset="0"/>
                <a:ea typeface="Calibri" pitchFamily="34" charset="-122"/>
                <a:cs typeface="Calibri" pitchFamily="34" charset="-120"/>
              </a:rPr>
              <a:t>Payment or billing integration for laundry services</a:t>
            </a:r>
            <a:endParaRPr lang="en-US" sz="1200" dirty="0"/>
          </a:p>
          <a:p>
            <a:pPr marL="342900" indent="-342900">
              <a:lnSpc>
                <a:spcPts val="1600"/>
              </a:lnSpc>
              <a:spcAft>
                <a:spcPts val="1000"/>
              </a:spcAft>
              <a:buSzPct val="100000"/>
              <a:buChar char="•"/>
            </a:pPr>
            <a:r>
              <a:rPr lang="en-US" sz="1200" dirty="0">
                <a:solidFill>
                  <a:srgbClr val="27383D"/>
                </a:solidFill>
                <a:latin typeface="Calibri" pitchFamily="34" charset="0"/>
                <a:ea typeface="Calibri" pitchFamily="34" charset="-122"/>
                <a:cs typeface="Calibri" pitchFamily="34" charset="-120"/>
              </a:rPr>
              <a:t>Integration with external or commercial laundry vendors</a:t>
            </a:r>
            <a:endParaRPr lang="en-US" sz="1200" dirty="0"/>
          </a:p>
          <a:p>
            <a:pPr marL="342900" indent="-342900">
              <a:lnSpc>
                <a:spcPts val="1600"/>
              </a:lnSpc>
              <a:spcAft>
                <a:spcPts val="1000"/>
              </a:spcAft>
              <a:buSzPct val="100000"/>
              <a:buChar char="•"/>
            </a:pPr>
            <a:r>
              <a:rPr lang="en-US" sz="1200" dirty="0">
                <a:solidFill>
                  <a:srgbClr val="27383D"/>
                </a:solidFill>
                <a:latin typeface="Calibri" pitchFamily="34" charset="0"/>
                <a:ea typeface="Calibri" pitchFamily="34" charset="-122"/>
                <a:cs typeface="Calibri" pitchFamily="34" charset="-120"/>
              </a:rPr>
              <a:t>SMS-based OTP delivery — the design uses email OTP only</a:t>
            </a:r>
            <a:endParaRPr lang="en-US" sz="1200" dirty="0"/>
          </a:p>
          <a:p>
            <a:pPr marL="342900" indent="-342900">
              <a:lnSpc>
                <a:spcPts val="1600"/>
              </a:lnSpc>
              <a:spcAft>
                <a:spcPts val="1000"/>
              </a:spcAft>
              <a:buSzPct val="100000"/>
              <a:buChar char="•"/>
            </a:pPr>
            <a:r>
              <a:rPr lang="en-US" sz="1200" dirty="0">
                <a:solidFill>
                  <a:srgbClr val="27383D"/>
                </a:solidFill>
                <a:latin typeface="Calibri" pitchFamily="34" charset="0"/>
                <a:ea typeface="Calibri" pitchFamily="34" charset="-122"/>
                <a:cs typeface="Calibri" pitchFamily="34" charset="-120"/>
              </a:rPr>
              <a:t>Multi-institution or multi-campus deployment</a:t>
            </a:r>
            <a:endParaRPr lang="en-US" sz="1200" dirty="0"/>
          </a:p>
          <a:p>
            <a:pPr marL="342900" indent="-342900">
              <a:lnSpc>
                <a:spcPts val="1600"/>
              </a:lnSpc>
              <a:spcAft>
                <a:spcPts val="1000"/>
              </a:spcAft>
              <a:buSzPct val="100000"/>
              <a:buChar char="•"/>
            </a:pPr>
            <a:r>
              <a:rPr lang="en-US" sz="1200" dirty="0">
                <a:solidFill>
                  <a:srgbClr val="27383D"/>
                </a:solidFill>
                <a:latin typeface="Calibri" pitchFamily="34" charset="0"/>
                <a:ea typeface="Calibri" pitchFamily="34" charset="-122"/>
                <a:cs typeface="Calibri" pitchFamily="34" charset="-120"/>
              </a:rPr>
              <a:t>Dedicated QR scanning hardware beyond the staff device camera</a:t>
            </a:r>
            <a:endParaRPr lang="en-US" sz="1200" dirty="0"/>
          </a:p>
        </p:txBody>
      </p:sp>
      <p:sp>
        <p:nvSpPr>
          <p:cNvPr id="10" name="Text 8"/>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7</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Actors &amp; Requirement Gathering</a:t>
            </a:r>
            <a:endParaRPr lang="en-US" sz="3000" dirty="0"/>
          </a:p>
        </p:txBody>
      </p:sp>
      <p:sp>
        <p:nvSpPr>
          <p:cNvPr id="4" name="Shape 2"/>
          <p:cNvSpPr/>
          <p:nvPr/>
        </p:nvSpPr>
        <p:spPr>
          <a:xfrm>
            <a:off x="640080" y="1508760"/>
            <a:ext cx="3465576" cy="2331720"/>
          </a:xfrm>
          <a:prstGeom prst="roundRect">
            <a:avLst>
              <a:gd name="adj" fmla="val 3137"/>
            </a:avLst>
          </a:prstGeom>
          <a:solidFill>
            <a:srgbClr val="E9F3F4"/>
          </a:solidFill>
          <a:ln w="9525">
            <a:solidFill>
              <a:srgbClr val="E9F3F4"/>
            </a:solidFill>
            <a:prstDash val="solid"/>
          </a:ln>
        </p:spPr>
      </p:sp>
      <p:sp>
        <p:nvSpPr>
          <p:cNvPr id="5" name="Shape 3"/>
          <p:cNvSpPr/>
          <p:nvPr/>
        </p:nvSpPr>
        <p:spPr>
          <a:xfrm>
            <a:off x="914400" y="1783080"/>
            <a:ext cx="457200" cy="457200"/>
          </a:xfrm>
          <a:prstGeom prst="ellipse">
            <a:avLst/>
          </a:prstGeom>
          <a:solidFill>
            <a:srgbClr val="028090"/>
          </a:solidFill>
          <a:ln w="6350">
            <a:solidFill>
              <a:srgbClr val="028090"/>
            </a:solidFill>
            <a:prstDash val="solid"/>
          </a:ln>
        </p:spPr>
      </p:sp>
      <p:sp>
        <p:nvSpPr>
          <p:cNvPr id="6" name="Text 4"/>
          <p:cNvSpPr txBox="1"/>
          <p:nvPr/>
        </p:nvSpPr>
        <p:spPr>
          <a:xfrm>
            <a:off x="914400" y="1801368"/>
            <a:ext cx="457200"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914400" y="2395728"/>
            <a:ext cx="2926080" cy="292608"/>
          </a:xfrm>
          <a:prstGeom prst="rect">
            <a:avLst/>
          </a:prstGeom>
          <a:noFill/>
          <a:ln/>
        </p:spPr>
        <p:txBody>
          <a:bodyPr wrap="square" lIns="0" tIns="0" rIns="0" bIns="0" rtlCol="0" anchor="t"/>
          <a:lstStyle/>
          <a:p>
            <a:pPr indent="0" marL="0">
              <a:buNone/>
            </a:pPr>
            <a:r>
              <a:rPr lang="en-US" sz="1700" b="1" dirty="0">
                <a:solidFill>
                  <a:srgbClr val="0B3B47"/>
                </a:solidFill>
                <a:latin typeface="Cambria" pitchFamily="34" charset="0"/>
                <a:ea typeface="Cambria" pitchFamily="34" charset="-122"/>
                <a:cs typeface="Cambria" pitchFamily="34" charset="-120"/>
              </a:rPr>
              <a:t>Student</a:t>
            </a:r>
            <a:endParaRPr lang="en-US" sz="1700" dirty="0"/>
          </a:p>
        </p:txBody>
      </p:sp>
      <p:sp>
        <p:nvSpPr>
          <p:cNvPr id="8" name="Text 6"/>
          <p:cNvSpPr txBox="1"/>
          <p:nvPr/>
        </p:nvSpPr>
        <p:spPr>
          <a:xfrm>
            <a:off x="914400" y="2788920"/>
            <a:ext cx="2971800" cy="91440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Submits laundry requests, tracks status, receives notifications, presents the QR code at pickup and files complaints.</a:t>
            </a:r>
            <a:endParaRPr lang="en-US" sz="1150" dirty="0"/>
          </a:p>
        </p:txBody>
      </p:sp>
      <p:sp>
        <p:nvSpPr>
          <p:cNvPr id="9" name="Shape 7"/>
          <p:cNvSpPr/>
          <p:nvPr/>
        </p:nvSpPr>
        <p:spPr>
          <a:xfrm>
            <a:off x="4379976" y="1508760"/>
            <a:ext cx="3465576" cy="2331720"/>
          </a:xfrm>
          <a:prstGeom prst="roundRect">
            <a:avLst>
              <a:gd name="adj" fmla="val 3137"/>
            </a:avLst>
          </a:prstGeom>
          <a:solidFill>
            <a:srgbClr val="E9F3F4"/>
          </a:solidFill>
          <a:ln w="9525">
            <a:solidFill>
              <a:srgbClr val="E9F3F4"/>
            </a:solidFill>
            <a:prstDash val="solid"/>
          </a:ln>
        </p:spPr>
      </p:sp>
      <p:sp>
        <p:nvSpPr>
          <p:cNvPr id="10" name="Shape 8"/>
          <p:cNvSpPr/>
          <p:nvPr/>
        </p:nvSpPr>
        <p:spPr>
          <a:xfrm>
            <a:off x="4654296" y="1783080"/>
            <a:ext cx="457200" cy="457200"/>
          </a:xfrm>
          <a:prstGeom prst="ellipse">
            <a:avLst/>
          </a:prstGeom>
          <a:solidFill>
            <a:srgbClr val="028090"/>
          </a:solidFill>
          <a:ln w="6350">
            <a:solidFill>
              <a:srgbClr val="028090"/>
            </a:solidFill>
            <a:prstDash val="solid"/>
          </a:ln>
        </p:spPr>
      </p:sp>
      <p:sp>
        <p:nvSpPr>
          <p:cNvPr id="11" name="Text 9"/>
          <p:cNvSpPr txBox="1"/>
          <p:nvPr/>
        </p:nvSpPr>
        <p:spPr>
          <a:xfrm>
            <a:off x="4654296" y="1801368"/>
            <a:ext cx="457200"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4654296" y="2395728"/>
            <a:ext cx="2926080" cy="292608"/>
          </a:xfrm>
          <a:prstGeom prst="rect">
            <a:avLst/>
          </a:prstGeom>
          <a:noFill/>
          <a:ln/>
        </p:spPr>
        <p:txBody>
          <a:bodyPr wrap="square" lIns="0" tIns="0" rIns="0" bIns="0" rtlCol="0" anchor="t"/>
          <a:lstStyle/>
          <a:p>
            <a:pPr indent="0" marL="0">
              <a:buNone/>
            </a:pPr>
            <a:r>
              <a:rPr lang="en-US" sz="1700" b="1" dirty="0">
                <a:solidFill>
                  <a:srgbClr val="0B3B47"/>
                </a:solidFill>
                <a:latin typeface="Cambria" pitchFamily="34" charset="0"/>
                <a:ea typeface="Cambria" pitchFamily="34" charset="-122"/>
                <a:cs typeface="Cambria" pitchFamily="34" charset="-120"/>
              </a:rPr>
              <a:t>Laundry Staff</a:t>
            </a:r>
            <a:endParaRPr lang="en-US" sz="1700" dirty="0"/>
          </a:p>
        </p:txBody>
      </p:sp>
      <p:sp>
        <p:nvSpPr>
          <p:cNvPr id="13" name="Text 11"/>
          <p:cNvSpPr txBox="1"/>
          <p:nvPr/>
        </p:nvSpPr>
        <p:spPr>
          <a:xfrm>
            <a:off x="4654296" y="2788920"/>
            <a:ext cx="2971800" cy="91440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Verifies incoming requests, processes and updates status, manages pickup batches and scans QR codes to confirm collection.</a:t>
            </a:r>
            <a:endParaRPr lang="en-US" sz="1150" dirty="0"/>
          </a:p>
        </p:txBody>
      </p:sp>
      <p:sp>
        <p:nvSpPr>
          <p:cNvPr id="14" name="Shape 12"/>
          <p:cNvSpPr/>
          <p:nvPr/>
        </p:nvSpPr>
        <p:spPr>
          <a:xfrm>
            <a:off x="8119872" y="1508760"/>
            <a:ext cx="3465576" cy="2331720"/>
          </a:xfrm>
          <a:prstGeom prst="roundRect">
            <a:avLst>
              <a:gd name="adj" fmla="val 3137"/>
            </a:avLst>
          </a:prstGeom>
          <a:solidFill>
            <a:srgbClr val="E9F3F4"/>
          </a:solidFill>
          <a:ln w="9525">
            <a:solidFill>
              <a:srgbClr val="E9F3F4"/>
            </a:solidFill>
            <a:prstDash val="solid"/>
          </a:ln>
        </p:spPr>
      </p:sp>
      <p:sp>
        <p:nvSpPr>
          <p:cNvPr id="15" name="Shape 13"/>
          <p:cNvSpPr/>
          <p:nvPr/>
        </p:nvSpPr>
        <p:spPr>
          <a:xfrm>
            <a:off x="8394192" y="1783080"/>
            <a:ext cx="457200" cy="457200"/>
          </a:xfrm>
          <a:prstGeom prst="ellipse">
            <a:avLst/>
          </a:prstGeom>
          <a:solidFill>
            <a:srgbClr val="028090"/>
          </a:solidFill>
          <a:ln w="6350">
            <a:solidFill>
              <a:srgbClr val="028090"/>
            </a:solidFill>
            <a:prstDash val="solid"/>
          </a:ln>
        </p:spPr>
      </p:sp>
      <p:sp>
        <p:nvSpPr>
          <p:cNvPr id="16" name="Text 14"/>
          <p:cNvSpPr txBox="1"/>
          <p:nvPr/>
        </p:nvSpPr>
        <p:spPr>
          <a:xfrm>
            <a:off x="8394192" y="1801368"/>
            <a:ext cx="457200"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txBox="1"/>
          <p:nvPr/>
        </p:nvSpPr>
        <p:spPr>
          <a:xfrm>
            <a:off x="8394192" y="2395728"/>
            <a:ext cx="2926080" cy="292608"/>
          </a:xfrm>
          <a:prstGeom prst="rect">
            <a:avLst/>
          </a:prstGeom>
          <a:noFill/>
          <a:ln/>
        </p:spPr>
        <p:txBody>
          <a:bodyPr wrap="square" lIns="0" tIns="0" rIns="0" bIns="0" rtlCol="0" anchor="t"/>
          <a:lstStyle/>
          <a:p>
            <a:pPr indent="0" marL="0">
              <a:buNone/>
            </a:pPr>
            <a:r>
              <a:rPr lang="en-US" sz="1700" b="1" dirty="0">
                <a:solidFill>
                  <a:srgbClr val="0B3B47"/>
                </a:solidFill>
                <a:latin typeface="Cambria" pitchFamily="34" charset="0"/>
                <a:ea typeface="Cambria" pitchFamily="34" charset="-122"/>
                <a:cs typeface="Cambria" pitchFamily="34" charset="-120"/>
              </a:rPr>
              <a:t>Administrator</a:t>
            </a:r>
            <a:endParaRPr lang="en-US" sz="1700" dirty="0"/>
          </a:p>
        </p:txBody>
      </p:sp>
      <p:sp>
        <p:nvSpPr>
          <p:cNvPr id="18" name="Text 16"/>
          <p:cNvSpPr txBox="1"/>
          <p:nvPr/>
        </p:nvSpPr>
        <p:spPr>
          <a:xfrm>
            <a:off x="8394192" y="2788920"/>
            <a:ext cx="2971800" cy="91440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Manages users and hostels, and monitors complaints and overall laundry activity across the hostel system.</a:t>
            </a:r>
            <a:endParaRPr lang="en-US" sz="1150" dirty="0"/>
          </a:p>
        </p:txBody>
      </p:sp>
      <p:sp>
        <p:nvSpPr>
          <p:cNvPr id="19" name="Shape 17"/>
          <p:cNvSpPr/>
          <p:nvPr/>
        </p:nvSpPr>
        <p:spPr>
          <a:xfrm>
            <a:off x="640080" y="4069080"/>
            <a:ext cx="10908792" cy="1965960"/>
          </a:xfrm>
          <a:prstGeom prst="roundRect">
            <a:avLst>
              <a:gd name="adj" fmla="val 3721"/>
            </a:avLst>
          </a:prstGeom>
          <a:solidFill>
            <a:srgbClr val="0B3B47"/>
          </a:solidFill>
          <a:ln w="6350">
            <a:solidFill>
              <a:srgbClr val="0B3B47"/>
            </a:solidFill>
            <a:prstDash val="solid"/>
          </a:ln>
        </p:spPr>
      </p:sp>
      <p:sp>
        <p:nvSpPr>
          <p:cNvPr id="20" name="Text 18"/>
          <p:cNvSpPr txBox="1"/>
          <p:nvPr/>
        </p:nvSpPr>
        <p:spPr>
          <a:xfrm>
            <a:off x="1051560" y="4343400"/>
            <a:ext cx="5486400" cy="292608"/>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How requirements were gathered</a:t>
            </a:r>
            <a:endParaRPr lang="en-US" sz="1600" dirty="0"/>
          </a:p>
        </p:txBody>
      </p:sp>
      <p:sp>
        <p:nvSpPr>
          <p:cNvPr id="21" name="Text 19"/>
          <p:cNvSpPr txBox="1"/>
          <p:nvPr/>
        </p:nvSpPr>
        <p:spPr>
          <a:xfrm>
            <a:off x="1051560" y="4846320"/>
            <a:ext cx="320040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Team discussions</a:t>
            </a:r>
            <a:endParaRPr lang="en-US" sz="1300" dirty="0"/>
          </a:p>
        </p:txBody>
      </p:sp>
      <p:sp>
        <p:nvSpPr>
          <p:cNvPr id="22" name="Text 20"/>
          <p:cNvSpPr txBox="1"/>
          <p:nvPr/>
        </p:nvSpPr>
        <p:spPr>
          <a:xfrm>
            <a:off x="1051560" y="5138928"/>
            <a:ext cx="3200400" cy="640080"/>
          </a:xfrm>
          <a:prstGeom prst="rect">
            <a:avLst/>
          </a:prstGeom>
          <a:noFill/>
          <a:ln/>
        </p:spPr>
        <p:txBody>
          <a:bodyPr wrap="square" lIns="0" tIns="0" rIns="0" bIns="0" rtlCol="0" anchor="t"/>
          <a:lstStyle/>
          <a:p>
            <a:pPr indent="0" marL="0">
              <a:lnSpc>
                <a:spcPts val="1500"/>
              </a:lnSpc>
              <a:buNone/>
            </a:pPr>
            <a:r>
              <a:rPr lang="en-US" sz="1150" dirty="0">
                <a:solidFill>
                  <a:srgbClr val="C9E4E8"/>
                </a:solidFill>
                <a:latin typeface="Calibri" pitchFamily="34" charset="0"/>
                <a:ea typeface="Calibri" pitchFamily="34" charset="-122"/>
                <a:cs typeface="Calibri" pitchFamily="34" charset="-120"/>
              </a:rPr>
              <a:t>to define the intended student-facing laundry lifecycle</a:t>
            </a:r>
            <a:endParaRPr lang="en-US" sz="1150" dirty="0"/>
          </a:p>
        </p:txBody>
      </p:sp>
      <p:sp>
        <p:nvSpPr>
          <p:cNvPr id="23" name="Text 21"/>
          <p:cNvSpPr txBox="1"/>
          <p:nvPr/>
        </p:nvSpPr>
        <p:spPr>
          <a:xfrm>
            <a:off x="4544568" y="4846320"/>
            <a:ext cx="320040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Staff interviews</a:t>
            </a:r>
            <a:endParaRPr lang="en-US" sz="1300" dirty="0"/>
          </a:p>
        </p:txBody>
      </p:sp>
      <p:sp>
        <p:nvSpPr>
          <p:cNvPr id="24" name="Text 22"/>
          <p:cNvSpPr txBox="1"/>
          <p:nvPr/>
        </p:nvSpPr>
        <p:spPr>
          <a:xfrm>
            <a:off x="4544568" y="5138928"/>
            <a:ext cx="3200400" cy="640080"/>
          </a:xfrm>
          <a:prstGeom prst="rect">
            <a:avLst/>
          </a:prstGeom>
          <a:noFill/>
          <a:ln/>
        </p:spPr>
        <p:txBody>
          <a:bodyPr wrap="square" lIns="0" tIns="0" rIns="0" bIns="0" rtlCol="0" anchor="t"/>
          <a:lstStyle/>
          <a:p>
            <a:pPr indent="0" marL="0">
              <a:lnSpc>
                <a:spcPts val="1500"/>
              </a:lnSpc>
              <a:buNone/>
            </a:pPr>
            <a:r>
              <a:rPr lang="en-US" sz="1150" dirty="0">
                <a:solidFill>
                  <a:srgbClr val="C9E4E8"/>
                </a:solidFill>
                <a:latin typeface="Calibri" pitchFamily="34" charset="0"/>
                <a:ea typeface="Calibri" pitchFamily="34" charset="-122"/>
                <a:cs typeface="Calibri" pitchFamily="34" charset="-120"/>
              </a:rPr>
              <a:t>with the hostel laundry coordinator on real handling practice</a:t>
            </a:r>
            <a:endParaRPr lang="en-US" sz="1150" dirty="0"/>
          </a:p>
        </p:txBody>
      </p:sp>
      <p:sp>
        <p:nvSpPr>
          <p:cNvPr id="25" name="Text 23"/>
          <p:cNvSpPr txBox="1"/>
          <p:nvPr/>
        </p:nvSpPr>
        <p:spPr>
          <a:xfrm>
            <a:off x="8037576" y="4846320"/>
            <a:ext cx="320040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Translation</a:t>
            </a:r>
            <a:endParaRPr lang="en-US" sz="1300" dirty="0"/>
          </a:p>
        </p:txBody>
      </p:sp>
      <p:sp>
        <p:nvSpPr>
          <p:cNvPr id="26" name="Text 24"/>
          <p:cNvSpPr txBox="1"/>
          <p:nvPr/>
        </p:nvSpPr>
        <p:spPr>
          <a:xfrm>
            <a:off x="8037576" y="5138928"/>
            <a:ext cx="3200400" cy="640080"/>
          </a:xfrm>
          <a:prstGeom prst="rect">
            <a:avLst/>
          </a:prstGeom>
          <a:noFill/>
          <a:ln/>
        </p:spPr>
        <p:txBody>
          <a:bodyPr wrap="square" lIns="0" tIns="0" rIns="0" bIns="0" rtlCol="0" anchor="t"/>
          <a:lstStyle/>
          <a:p>
            <a:pPr indent="0" marL="0">
              <a:lnSpc>
                <a:spcPts val="1500"/>
              </a:lnSpc>
              <a:buNone/>
            </a:pPr>
            <a:r>
              <a:rPr lang="en-US" sz="1150" dirty="0">
                <a:solidFill>
                  <a:srgbClr val="C9E4E8"/>
                </a:solidFill>
                <a:latin typeface="Calibri" pitchFamily="34" charset="0"/>
                <a:ea typeface="Calibri" pitchFamily="34" charset="-122"/>
                <a:cs typeface="Calibri" pitchFamily="34" charset="-120"/>
              </a:rPr>
              <a:t>of operational needs into functional requirements and the QR design</a:t>
            </a:r>
            <a:endParaRPr lang="en-US" sz="1150" dirty="0"/>
          </a:p>
        </p:txBody>
      </p:sp>
      <p:sp>
        <p:nvSpPr>
          <p:cNvPr id="27" name="Text 25"/>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8</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Functional Requirements</a:t>
            </a:r>
            <a:endParaRPr lang="en-US" sz="3000" dirty="0"/>
          </a:p>
        </p:txBody>
      </p:sp>
      <p:sp>
        <p:nvSpPr>
          <p:cNvPr id="4" name="Shape 2"/>
          <p:cNvSpPr/>
          <p:nvPr/>
        </p:nvSpPr>
        <p:spPr>
          <a:xfrm>
            <a:off x="640080" y="1463040"/>
            <a:ext cx="3465576" cy="4617720"/>
          </a:xfrm>
          <a:prstGeom prst="roundRect">
            <a:avLst>
              <a:gd name="adj" fmla="val 2111"/>
            </a:avLst>
          </a:prstGeom>
          <a:solidFill>
            <a:srgbClr val="F4F9F9"/>
          </a:solidFill>
          <a:ln w="9525">
            <a:solidFill>
              <a:srgbClr val="F4F9F9"/>
            </a:solidFill>
            <a:prstDash val="solid"/>
          </a:ln>
        </p:spPr>
      </p:sp>
      <p:sp>
        <p:nvSpPr>
          <p:cNvPr id="5" name="Shape 3"/>
          <p:cNvSpPr/>
          <p:nvPr/>
        </p:nvSpPr>
        <p:spPr>
          <a:xfrm>
            <a:off x="640080" y="1463040"/>
            <a:ext cx="3465576" cy="658368"/>
          </a:xfrm>
          <a:prstGeom prst="roundRect">
            <a:avLst>
              <a:gd name="adj" fmla="val 11111"/>
            </a:avLst>
          </a:prstGeom>
          <a:solidFill>
            <a:srgbClr val="028090"/>
          </a:solidFill>
          <a:ln w="6350">
            <a:solidFill>
              <a:srgbClr val="028090"/>
            </a:solidFill>
            <a:prstDash val="solid"/>
          </a:ln>
        </p:spPr>
      </p:sp>
      <p:sp>
        <p:nvSpPr>
          <p:cNvPr id="6" name="Text 4"/>
          <p:cNvSpPr txBox="1"/>
          <p:nvPr/>
        </p:nvSpPr>
        <p:spPr>
          <a:xfrm>
            <a:off x="932688" y="1463040"/>
            <a:ext cx="2926080" cy="65836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Student</a:t>
            </a:r>
            <a:endParaRPr lang="en-US" sz="1600" dirty="0"/>
          </a:p>
        </p:txBody>
      </p:sp>
      <p:sp>
        <p:nvSpPr>
          <p:cNvPr id="7" name="Text 5"/>
          <p:cNvSpPr txBox="1"/>
          <p:nvPr/>
        </p:nvSpPr>
        <p:spPr>
          <a:xfrm>
            <a:off x="932688" y="2377440"/>
            <a:ext cx="2926080" cy="352044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Register and log in with an institutional email verified by OTP</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Submit a laundry request specifying item types and quantities</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View current status and full history of each request</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Receive notifications on status changes</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View and present a QR-based pickup token</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Submit a complaint linked to a specific request</a:t>
            </a:r>
            <a:endParaRPr lang="en-US" sz="1150" dirty="0"/>
          </a:p>
        </p:txBody>
      </p:sp>
      <p:sp>
        <p:nvSpPr>
          <p:cNvPr id="8" name="Shape 6"/>
          <p:cNvSpPr/>
          <p:nvPr/>
        </p:nvSpPr>
        <p:spPr>
          <a:xfrm>
            <a:off x="4379976" y="1463040"/>
            <a:ext cx="3465576" cy="4617720"/>
          </a:xfrm>
          <a:prstGeom prst="roundRect">
            <a:avLst>
              <a:gd name="adj" fmla="val 2111"/>
            </a:avLst>
          </a:prstGeom>
          <a:solidFill>
            <a:srgbClr val="F4F9F9"/>
          </a:solidFill>
          <a:ln w="9525">
            <a:solidFill>
              <a:srgbClr val="F4F9F9"/>
            </a:solidFill>
            <a:prstDash val="solid"/>
          </a:ln>
        </p:spPr>
      </p:sp>
      <p:sp>
        <p:nvSpPr>
          <p:cNvPr id="9" name="Shape 7"/>
          <p:cNvSpPr/>
          <p:nvPr/>
        </p:nvSpPr>
        <p:spPr>
          <a:xfrm>
            <a:off x="4379976" y="1463040"/>
            <a:ext cx="3465576" cy="658368"/>
          </a:xfrm>
          <a:prstGeom prst="roundRect">
            <a:avLst>
              <a:gd name="adj" fmla="val 11111"/>
            </a:avLst>
          </a:prstGeom>
          <a:solidFill>
            <a:srgbClr val="00A896"/>
          </a:solidFill>
          <a:ln w="6350">
            <a:solidFill>
              <a:srgbClr val="00A896"/>
            </a:solidFill>
            <a:prstDash val="solid"/>
          </a:ln>
        </p:spPr>
      </p:sp>
      <p:sp>
        <p:nvSpPr>
          <p:cNvPr id="10" name="Text 8"/>
          <p:cNvSpPr txBox="1"/>
          <p:nvPr/>
        </p:nvSpPr>
        <p:spPr>
          <a:xfrm>
            <a:off x="4672584" y="1463040"/>
            <a:ext cx="2926080" cy="65836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Laundry Staff</a:t>
            </a:r>
            <a:endParaRPr lang="en-US" sz="1600" dirty="0"/>
          </a:p>
        </p:txBody>
      </p:sp>
      <p:sp>
        <p:nvSpPr>
          <p:cNvPr id="11" name="Text 9"/>
          <p:cNvSpPr txBox="1"/>
          <p:nvPr/>
        </p:nvSpPr>
        <p:spPr>
          <a:xfrm>
            <a:off x="4672584" y="2377440"/>
            <a:ext cx="2926080" cy="352044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View an incoming queue of laundry requests</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Verify and tag a laundry request</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Group requests into processing batches</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Update status through processing and return</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Scan and validate a QR pickup token and record collection</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Prevent a pickup token from being used more than once</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View and respond to linked complaints</a:t>
            </a:r>
            <a:endParaRPr lang="en-US" sz="1150" dirty="0"/>
          </a:p>
        </p:txBody>
      </p:sp>
      <p:sp>
        <p:nvSpPr>
          <p:cNvPr id="12" name="Shape 10"/>
          <p:cNvSpPr/>
          <p:nvPr/>
        </p:nvSpPr>
        <p:spPr>
          <a:xfrm>
            <a:off x="8119872" y="1463040"/>
            <a:ext cx="3465576" cy="4617720"/>
          </a:xfrm>
          <a:prstGeom prst="roundRect">
            <a:avLst>
              <a:gd name="adj" fmla="val 2111"/>
            </a:avLst>
          </a:prstGeom>
          <a:solidFill>
            <a:srgbClr val="F4F9F9"/>
          </a:solidFill>
          <a:ln w="9525">
            <a:solidFill>
              <a:srgbClr val="F4F9F9"/>
            </a:solidFill>
            <a:prstDash val="solid"/>
          </a:ln>
        </p:spPr>
      </p:sp>
      <p:sp>
        <p:nvSpPr>
          <p:cNvPr id="13" name="Shape 11"/>
          <p:cNvSpPr/>
          <p:nvPr/>
        </p:nvSpPr>
        <p:spPr>
          <a:xfrm>
            <a:off x="8119872" y="1463040"/>
            <a:ext cx="3465576" cy="658368"/>
          </a:xfrm>
          <a:prstGeom prst="roundRect">
            <a:avLst>
              <a:gd name="adj" fmla="val 11111"/>
            </a:avLst>
          </a:prstGeom>
          <a:solidFill>
            <a:srgbClr val="0B3B47"/>
          </a:solidFill>
          <a:ln w="6350">
            <a:solidFill>
              <a:srgbClr val="0B3B47"/>
            </a:solidFill>
            <a:prstDash val="solid"/>
          </a:ln>
        </p:spPr>
      </p:sp>
      <p:sp>
        <p:nvSpPr>
          <p:cNvPr id="14" name="Text 12"/>
          <p:cNvSpPr txBox="1"/>
          <p:nvPr/>
        </p:nvSpPr>
        <p:spPr>
          <a:xfrm>
            <a:off x="8412480" y="1463040"/>
            <a:ext cx="2926080" cy="65836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Administrator</a:t>
            </a:r>
            <a:endParaRPr lang="en-US" sz="1600" dirty="0"/>
          </a:p>
        </p:txBody>
      </p:sp>
      <p:sp>
        <p:nvSpPr>
          <p:cNvPr id="15" name="Text 13"/>
          <p:cNvSpPr txBox="1"/>
          <p:nvPr/>
        </p:nvSpPr>
        <p:spPr>
          <a:xfrm>
            <a:off x="8412480" y="2377440"/>
            <a:ext cx="2926080" cy="352044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Manage hostel and user records</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View aggregated laundry activity across hostels</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Monitor and track resolution of complaints</a:t>
            </a:r>
            <a:endParaRPr lang="en-US" sz="1150" dirty="0"/>
          </a:p>
          <a:p>
            <a:pPr marL="342900" indent="-342900">
              <a:lnSpc>
                <a:spcPts val="1500"/>
              </a:lnSpc>
              <a:spcAft>
                <a:spcPts val="900"/>
              </a:spcAft>
              <a:buSzPct val="100000"/>
              <a:buChar char="•"/>
            </a:pPr>
            <a:r>
              <a:rPr lang="en-US" sz="1150" dirty="0">
                <a:solidFill>
                  <a:srgbClr val="27383D"/>
                </a:solidFill>
                <a:latin typeface="Calibri" pitchFamily="34" charset="0"/>
                <a:ea typeface="Calibri" pitchFamily="34" charset="-122"/>
                <a:cs typeface="Calibri" pitchFamily="34" charset="-120"/>
              </a:rPr>
              <a:t>Access audit logs of significant system actions</a:t>
            </a:r>
            <a:endParaRPr lang="en-US" sz="1150" dirty="0"/>
          </a:p>
        </p:txBody>
      </p:sp>
      <p:sp>
        <p:nvSpPr>
          <p:cNvPr id="16" name="Text 14"/>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9</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Non-Functional Requirements</a:t>
            </a:r>
            <a:endParaRPr lang="en-US" sz="3000" dirty="0"/>
          </a:p>
        </p:txBody>
      </p:sp>
      <p:sp>
        <p:nvSpPr>
          <p:cNvPr id="4" name="Shape 2"/>
          <p:cNvSpPr/>
          <p:nvPr/>
        </p:nvSpPr>
        <p:spPr>
          <a:xfrm>
            <a:off x="640080" y="1554480"/>
            <a:ext cx="2587752" cy="1993392"/>
          </a:xfrm>
          <a:prstGeom prst="roundRect">
            <a:avLst>
              <a:gd name="adj" fmla="val 3670"/>
            </a:avLst>
          </a:prstGeom>
          <a:solidFill>
            <a:srgbClr val="E9F3F4"/>
          </a:solidFill>
          <a:ln w="9525">
            <a:solidFill>
              <a:srgbClr val="E9F3F4"/>
            </a:solidFill>
            <a:prstDash val="solid"/>
          </a:ln>
        </p:spPr>
      </p:sp>
      <p:sp>
        <p:nvSpPr>
          <p:cNvPr id="5" name="Text 3"/>
          <p:cNvSpPr txBox="1"/>
          <p:nvPr/>
        </p:nvSpPr>
        <p:spPr>
          <a:xfrm>
            <a:off x="914400" y="1847088"/>
            <a:ext cx="2103120" cy="292608"/>
          </a:xfrm>
          <a:prstGeom prst="rect">
            <a:avLst/>
          </a:prstGeom>
          <a:noFill/>
          <a:ln/>
        </p:spPr>
        <p:txBody>
          <a:bodyPr wrap="square" lIns="0" tIns="0" rIns="0" bIns="0" rtlCol="0" anchor="t"/>
          <a:lstStyle/>
          <a:p>
            <a:pPr indent="0" marL="0">
              <a:buNone/>
            </a:pPr>
            <a:r>
              <a:rPr lang="en-US" sz="1550" b="1" dirty="0">
                <a:solidFill>
                  <a:srgbClr val="028090"/>
                </a:solidFill>
                <a:latin typeface="Cambria" pitchFamily="34" charset="0"/>
                <a:ea typeface="Cambria" pitchFamily="34" charset="-122"/>
                <a:cs typeface="Cambria" pitchFamily="34" charset="-120"/>
              </a:rPr>
              <a:t>Security</a:t>
            </a:r>
            <a:endParaRPr lang="en-US" sz="1550" dirty="0"/>
          </a:p>
        </p:txBody>
      </p:sp>
      <p:sp>
        <p:nvSpPr>
          <p:cNvPr id="6" name="Text 4"/>
          <p:cNvSpPr txBox="1"/>
          <p:nvPr/>
        </p:nvSpPr>
        <p:spPr>
          <a:xfrm>
            <a:off x="914400" y="2304288"/>
            <a:ext cx="2148840" cy="10972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Access restricted to verified institutional emails via OTP; pickup tokens are single-use.</a:t>
            </a:r>
            <a:endParaRPr lang="en-US" sz="1150" dirty="0"/>
          </a:p>
        </p:txBody>
      </p:sp>
      <p:sp>
        <p:nvSpPr>
          <p:cNvPr id="7" name="Shape 5"/>
          <p:cNvSpPr/>
          <p:nvPr/>
        </p:nvSpPr>
        <p:spPr>
          <a:xfrm>
            <a:off x="3456432" y="1554480"/>
            <a:ext cx="2587752" cy="1993392"/>
          </a:xfrm>
          <a:prstGeom prst="roundRect">
            <a:avLst>
              <a:gd name="adj" fmla="val 3670"/>
            </a:avLst>
          </a:prstGeom>
          <a:solidFill>
            <a:srgbClr val="E9F3F4"/>
          </a:solidFill>
          <a:ln w="9525">
            <a:solidFill>
              <a:srgbClr val="E9F3F4"/>
            </a:solidFill>
            <a:prstDash val="solid"/>
          </a:ln>
        </p:spPr>
      </p:sp>
      <p:sp>
        <p:nvSpPr>
          <p:cNvPr id="8" name="Text 6"/>
          <p:cNvSpPr txBox="1"/>
          <p:nvPr/>
        </p:nvSpPr>
        <p:spPr>
          <a:xfrm>
            <a:off x="3730752" y="1847088"/>
            <a:ext cx="2103120" cy="292608"/>
          </a:xfrm>
          <a:prstGeom prst="rect">
            <a:avLst/>
          </a:prstGeom>
          <a:noFill/>
          <a:ln/>
        </p:spPr>
        <p:txBody>
          <a:bodyPr wrap="square" lIns="0" tIns="0" rIns="0" bIns="0" rtlCol="0" anchor="t"/>
          <a:lstStyle/>
          <a:p>
            <a:pPr indent="0" marL="0">
              <a:buNone/>
            </a:pPr>
            <a:r>
              <a:rPr lang="en-US" sz="1550" b="1" dirty="0">
                <a:solidFill>
                  <a:srgbClr val="028090"/>
                </a:solidFill>
                <a:latin typeface="Cambria" pitchFamily="34" charset="0"/>
                <a:ea typeface="Cambria" pitchFamily="34" charset="-122"/>
                <a:cs typeface="Cambria" pitchFamily="34" charset="-120"/>
              </a:rPr>
              <a:t>Usability</a:t>
            </a:r>
            <a:endParaRPr lang="en-US" sz="1550" dirty="0"/>
          </a:p>
        </p:txBody>
      </p:sp>
      <p:sp>
        <p:nvSpPr>
          <p:cNvPr id="9" name="Text 7"/>
          <p:cNvSpPr txBox="1"/>
          <p:nvPr/>
        </p:nvSpPr>
        <p:spPr>
          <a:xfrm>
            <a:off x="3730752" y="2304288"/>
            <a:ext cx="2148840" cy="10972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A student should submit a request and check status in minimal steps.</a:t>
            </a:r>
            <a:endParaRPr lang="en-US" sz="1150" dirty="0"/>
          </a:p>
        </p:txBody>
      </p:sp>
      <p:sp>
        <p:nvSpPr>
          <p:cNvPr id="10" name="Shape 8"/>
          <p:cNvSpPr/>
          <p:nvPr/>
        </p:nvSpPr>
        <p:spPr>
          <a:xfrm>
            <a:off x="6272784" y="1554480"/>
            <a:ext cx="2587752" cy="1993392"/>
          </a:xfrm>
          <a:prstGeom prst="roundRect">
            <a:avLst>
              <a:gd name="adj" fmla="val 3670"/>
            </a:avLst>
          </a:prstGeom>
          <a:solidFill>
            <a:srgbClr val="E9F3F4"/>
          </a:solidFill>
          <a:ln w="9525">
            <a:solidFill>
              <a:srgbClr val="E9F3F4"/>
            </a:solidFill>
            <a:prstDash val="solid"/>
          </a:ln>
        </p:spPr>
      </p:sp>
      <p:sp>
        <p:nvSpPr>
          <p:cNvPr id="11" name="Text 9"/>
          <p:cNvSpPr txBox="1"/>
          <p:nvPr/>
        </p:nvSpPr>
        <p:spPr>
          <a:xfrm>
            <a:off x="6547104" y="1847088"/>
            <a:ext cx="2103120" cy="292608"/>
          </a:xfrm>
          <a:prstGeom prst="rect">
            <a:avLst/>
          </a:prstGeom>
          <a:noFill/>
          <a:ln/>
        </p:spPr>
        <p:txBody>
          <a:bodyPr wrap="square" lIns="0" tIns="0" rIns="0" bIns="0" rtlCol="0" anchor="t"/>
          <a:lstStyle/>
          <a:p>
            <a:pPr indent="0" marL="0">
              <a:buNone/>
            </a:pPr>
            <a:r>
              <a:rPr lang="en-US" sz="1550" b="1" dirty="0">
                <a:solidFill>
                  <a:srgbClr val="028090"/>
                </a:solidFill>
                <a:latin typeface="Cambria" pitchFamily="34" charset="0"/>
                <a:ea typeface="Cambria" pitchFamily="34" charset="-122"/>
                <a:cs typeface="Cambria" pitchFamily="34" charset="-120"/>
              </a:rPr>
              <a:t>Reliability</a:t>
            </a:r>
            <a:endParaRPr lang="en-US" sz="1550" dirty="0"/>
          </a:p>
        </p:txBody>
      </p:sp>
      <p:sp>
        <p:nvSpPr>
          <p:cNvPr id="12" name="Text 10"/>
          <p:cNvSpPr txBox="1"/>
          <p:nvPr/>
        </p:nvSpPr>
        <p:spPr>
          <a:xfrm>
            <a:off x="6547104" y="2304288"/>
            <a:ext cx="2148840" cy="10972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Status transitions and token validation are recorded consistently and can be trusted over recollection.</a:t>
            </a:r>
            <a:endParaRPr lang="en-US" sz="1150" dirty="0"/>
          </a:p>
        </p:txBody>
      </p:sp>
      <p:sp>
        <p:nvSpPr>
          <p:cNvPr id="13" name="Shape 11"/>
          <p:cNvSpPr/>
          <p:nvPr/>
        </p:nvSpPr>
        <p:spPr>
          <a:xfrm>
            <a:off x="9089136" y="1554480"/>
            <a:ext cx="2587752" cy="1993392"/>
          </a:xfrm>
          <a:prstGeom prst="roundRect">
            <a:avLst>
              <a:gd name="adj" fmla="val 3670"/>
            </a:avLst>
          </a:prstGeom>
          <a:solidFill>
            <a:srgbClr val="E9F3F4"/>
          </a:solidFill>
          <a:ln w="9525">
            <a:solidFill>
              <a:srgbClr val="E9F3F4"/>
            </a:solidFill>
            <a:prstDash val="solid"/>
          </a:ln>
        </p:spPr>
      </p:sp>
      <p:sp>
        <p:nvSpPr>
          <p:cNvPr id="14" name="Text 12"/>
          <p:cNvSpPr txBox="1"/>
          <p:nvPr/>
        </p:nvSpPr>
        <p:spPr>
          <a:xfrm>
            <a:off x="9363456" y="1847088"/>
            <a:ext cx="2103120" cy="292608"/>
          </a:xfrm>
          <a:prstGeom prst="rect">
            <a:avLst/>
          </a:prstGeom>
          <a:noFill/>
          <a:ln/>
        </p:spPr>
        <p:txBody>
          <a:bodyPr wrap="square" lIns="0" tIns="0" rIns="0" bIns="0" rtlCol="0" anchor="t"/>
          <a:lstStyle/>
          <a:p>
            <a:pPr indent="0" marL="0">
              <a:buNone/>
            </a:pPr>
            <a:r>
              <a:rPr lang="en-US" sz="1550" b="1" dirty="0">
                <a:solidFill>
                  <a:srgbClr val="028090"/>
                </a:solidFill>
                <a:latin typeface="Cambria" pitchFamily="34" charset="0"/>
                <a:ea typeface="Cambria" pitchFamily="34" charset="-122"/>
                <a:cs typeface="Cambria" pitchFamily="34" charset="-120"/>
              </a:rPr>
              <a:t>Performance</a:t>
            </a:r>
            <a:endParaRPr lang="en-US" sz="1550" dirty="0"/>
          </a:p>
        </p:txBody>
      </p:sp>
      <p:sp>
        <p:nvSpPr>
          <p:cNvPr id="15" name="Text 13"/>
          <p:cNvSpPr txBox="1"/>
          <p:nvPr/>
        </p:nvSpPr>
        <p:spPr>
          <a:xfrm>
            <a:off x="9363456" y="2304288"/>
            <a:ext cx="2148840" cy="10972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Login, status check and submission should respond within a few seconds under normal load.</a:t>
            </a:r>
            <a:endParaRPr lang="en-US" sz="1150" dirty="0"/>
          </a:p>
        </p:txBody>
      </p:sp>
      <p:sp>
        <p:nvSpPr>
          <p:cNvPr id="16" name="Shape 14"/>
          <p:cNvSpPr/>
          <p:nvPr/>
        </p:nvSpPr>
        <p:spPr>
          <a:xfrm>
            <a:off x="640080" y="3749040"/>
            <a:ext cx="2587752" cy="1993392"/>
          </a:xfrm>
          <a:prstGeom prst="roundRect">
            <a:avLst>
              <a:gd name="adj" fmla="val 3670"/>
            </a:avLst>
          </a:prstGeom>
          <a:solidFill>
            <a:srgbClr val="E9F3F4"/>
          </a:solidFill>
          <a:ln w="9525">
            <a:solidFill>
              <a:srgbClr val="E9F3F4"/>
            </a:solidFill>
            <a:prstDash val="solid"/>
          </a:ln>
        </p:spPr>
      </p:sp>
      <p:sp>
        <p:nvSpPr>
          <p:cNvPr id="17" name="Text 15"/>
          <p:cNvSpPr txBox="1"/>
          <p:nvPr/>
        </p:nvSpPr>
        <p:spPr>
          <a:xfrm>
            <a:off x="914400" y="4041648"/>
            <a:ext cx="2103120" cy="292608"/>
          </a:xfrm>
          <a:prstGeom prst="rect">
            <a:avLst/>
          </a:prstGeom>
          <a:noFill/>
          <a:ln/>
        </p:spPr>
        <p:txBody>
          <a:bodyPr wrap="square" lIns="0" tIns="0" rIns="0" bIns="0" rtlCol="0" anchor="t"/>
          <a:lstStyle/>
          <a:p>
            <a:pPr indent="0" marL="0">
              <a:buNone/>
            </a:pPr>
            <a:r>
              <a:rPr lang="en-US" sz="1550" b="1" dirty="0">
                <a:solidFill>
                  <a:srgbClr val="028090"/>
                </a:solidFill>
                <a:latin typeface="Cambria" pitchFamily="34" charset="0"/>
                <a:ea typeface="Cambria" pitchFamily="34" charset="-122"/>
                <a:cs typeface="Cambria" pitchFamily="34" charset="-120"/>
              </a:rPr>
              <a:t>Scalability</a:t>
            </a:r>
            <a:endParaRPr lang="en-US" sz="1550" dirty="0"/>
          </a:p>
        </p:txBody>
      </p:sp>
      <p:sp>
        <p:nvSpPr>
          <p:cNvPr id="18" name="Text 16"/>
          <p:cNvSpPr txBox="1"/>
          <p:nvPr/>
        </p:nvSpPr>
        <p:spPr>
          <a:xfrm>
            <a:off x="914400" y="4498848"/>
            <a:ext cx="2148840" cy="10972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The schema covers all entities from the outset, so new modules need no data-model redesign.</a:t>
            </a:r>
            <a:endParaRPr lang="en-US" sz="1150" dirty="0"/>
          </a:p>
        </p:txBody>
      </p:sp>
      <p:sp>
        <p:nvSpPr>
          <p:cNvPr id="19" name="Shape 17"/>
          <p:cNvSpPr/>
          <p:nvPr/>
        </p:nvSpPr>
        <p:spPr>
          <a:xfrm>
            <a:off x="3456432" y="3749040"/>
            <a:ext cx="2587752" cy="1993392"/>
          </a:xfrm>
          <a:prstGeom prst="roundRect">
            <a:avLst>
              <a:gd name="adj" fmla="val 3670"/>
            </a:avLst>
          </a:prstGeom>
          <a:solidFill>
            <a:srgbClr val="E9F3F4"/>
          </a:solidFill>
          <a:ln w="9525">
            <a:solidFill>
              <a:srgbClr val="E9F3F4"/>
            </a:solidFill>
            <a:prstDash val="solid"/>
          </a:ln>
        </p:spPr>
      </p:sp>
      <p:sp>
        <p:nvSpPr>
          <p:cNvPr id="20" name="Text 18"/>
          <p:cNvSpPr txBox="1"/>
          <p:nvPr/>
        </p:nvSpPr>
        <p:spPr>
          <a:xfrm>
            <a:off x="3730752" y="4041648"/>
            <a:ext cx="2103120" cy="292608"/>
          </a:xfrm>
          <a:prstGeom prst="rect">
            <a:avLst/>
          </a:prstGeom>
          <a:noFill/>
          <a:ln/>
        </p:spPr>
        <p:txBody>
          <a:bodyPr wrap="square" lIns="0" tIns="0" rIns="0" bIns="0" rtlCol="0" anchor="t"/>
          <a:lstStyle/>
          <a:p>
            <a:pPr indent="0" marL="0">
              <a:buNone/>
            </a:pPr>
            <a:r>
              <a:rPr lang="en-US" sz="1550" b="1" dirty="0">
                <a:solidFill>
                  <a:srgbClr val="028090"/>
                </a:solidFill>
                <a:latin typeface="Cambria" pitchFamily="34" charset="0"/>
                <a:ea typeface="Cambria" pitchFamily="34" charset="-122"/>
                <a:cs typeface="Cambria" pitchFamily="34" charset="-120"/>
              </a:rPr>
              <a:t>Maintainability</a:t>
            </a:r>
            <a:endParaRPr lang="en-US" sz="1550" dirty="0"/>
          </a:p>
        </p:txBody>
      </p:sp>
      <p:sp>
        <p:nvSpPr>
          <p:cNvPr id="21" name="Text 19"/>
          <p:cNvSpPr txBox="1"/>
          <p:nvPr/>
        </p:nvSpPr>
        <p:spPr>
          <a:xfrm>
            <a:off x="3730752" y="4498848"/>
            <a:ext cx="2148840" cy="10972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Frontend and backend are independent components communicating over a REST API.</a:t>
            </a:r>
            <a:endParaRPr lang="en-US" sz="1150" dirty="0"/>
          </a:p>
        </p:txBody>
      </p:sp>
      <p:sp>
        <p:nvSpPr>
          <p:cNvPr id="22" name="Shape 20"/>
          <p:cNvSpPr/>
          <p:nvPr/>
        </p:nvSpPr>
        <p:spPr>
          <a:xfrm>
            <a:off x="6272784" y="3749040"/>
            <a:ext cx="2587752" cy="1993392"/>
          </a:xfrm>
          <a:prstGeom prst="roundRect">
            <a:avLst>
              <a:gd name="adj" fmla="val 3670"/>
            </a:avLst>
          </a:prstGeom>
          <a:solidFill>
            <a:srgbClr val="E9F3F4"/>
          </a:solidFill>
          <a:ln w="9525">
            <a:solidFill>
              <a:srgbClr val="E9F3F4"/>
            </a:solidFill>
            <a:prstDash val="solid"/>
          </a:ln>
        </p:spPr>
      </p:sp>
      <p:sp>
        <p:nvSpPr>
          <p:cNvPr id="23" name="Text 21"/>
          <p:cNvSpPr txBox="1"/>
          <p:nvPr/>
        </p:nvSpPr>
        <p:spPr>
          <a:xfrm>
            <a:off x="6547104" y="4041648"/>
            <a:ext cx="2103120" cy="292608"/>
          </a:xfrm>
          <a:prstGeom prst="rect">
            <a:avLst/>
          </a:prstGeom>
          <a:noFill/>
          <a:ln/>
        </p:spPr>
        <p:txBody>
          <a:bodyPr wrap="square" lIns="0" tIns="0" rIns="0" bIns="0" rtlCol="0" anchor="t"/>
          <a:lstStyle/>
          <a:p>
            <a:pPr indent="0" marL="0">
              <a:buNone/>
            </a:pPr>
            <a:r>
              <a:rPr lang="en-US" sz="1550" b="1" dirty="0">
                <a:solidFill>
                  <a:srgbClr val="028090"/>
                </a:solidFill>
                <a:latin typeface="Cambria" pitchFamily="34" charset="0"/>
                <a:ea typeface="Cambria" pitchFamily="34" charset="-122"/>
                <a:cs typeface="Cambria" pitchFamily="34" charset="-120"/>
              </a:rPr>
              <a:t>Availability</a:t>
            </a:r>
            <a:endParaRPr lang="en-US" sz="1550" dirty="0"/>
          </a:p>
        </p:txBody>
      </p:sp>
      <p:sp>
        <p:nvSpPr>
          <p:cNvPr id="24" name="Text 22"/>
          <p:cNvSpPr txBox="1"/>
          <p:nvPr/>
        </p:nvSpPr>
        <p:spPr>
          <a:xfrm>
            <a:off x="6547104" y="4498848"/>
            <a:ext cx="2148840" cy="109728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Backend and Supabase-hosted database remain available through hostel operating hours.</a:t>
            </a:r>
            <a:endParaRPr lang="en-US" sz="1150" dirty="0"/>
          </a:p>
        </p:txBody>
      </p:sp>
      <p:sp>
        <p:nvSpPr>
          <p:cNvPr id="25" name="Shape 23"/>
          <p:cNvSpPr/>
          <p:nvPr/>
        </p:nvSpPr>
        <p:spPr>
          <a:xfrm>
            <a:off x="9089136" y="3749040"/>
            <a:ext cx="2587752" cy="1993392"/>
          </a:xfrm>
          <a:prstGeom prst="roundRect">
            <a:avLst>
              <a:gd name="adj" fmla="val 3670"/>
            </a:avLst>
          </a:prstGeom>
          <a:solidFill>
            <a:srgbClr val="0B3B47"/>
          </a:solidFill>
          <a:ln w="6350">
            <a:solidFill>
              <a:srgbClr val="0B3B47"/>
            </a:solidFill>
            <a:prstDash val="solid"/>
          </a:ln>
        </p:spPr>
      </p:sp>
      <p:sp>
        <p:nvSpPr>
          <p:cNvPr id="26" name="Text 24"/>
          <p:cNvSpPr txBox="1"/>
          <p:nvPr/>
        </p:nvSpPr>
        <p:spPr>
          <a:xfrm>
            <a:off x="9363456" y="4343400"/>
            <a:ext cx="2103120" cy="914400"/>
          </a:xfrm>
          <a:prstGeom prst="rect">
            <a:avLst/>
          </a:prstGeom>
          <a:noFill/>
          <a:ln/>
        </p:spPr>
        <p:txBody>
          <a:bodyPr wrap="square" lIns="0" tIns="0" rIns="0" bIns="0" rtlCol="0" anchor="t"/>
          <a:lstStyle/>
          <a:p>
            <a:pPr indent="0" marL="0">
              <a:lnSpc>
                <a:spcPts val="1800"/>
              </a:lnSpc>
              <a:buNone/>
            </a:pPr>
            <a:r>
              <a:rPr lang="en-US" sz="1300" i="1" dirty="0">
                <a:solidFill>
                  <a:srgbClr val="FFFFFF"/>
                </a:solidFill>
                <a:latin typeface="Calibri" pitchFamily="34" charset="0"/>
                <a:ea typeface="Calibri" pitchFamily="34" charset="-122"/>
                <a:cs typeface="Calibri" pitchFamily="34" charset="-120"/>
              </a:rPr>
              <a:t>All business rules live in the backend, so the client cannot bypass them.</a:t>
            </a:r>
            <a:endParaRPr lang="en-US" sz="1300" dirty="0"/>
          </a:p>
        </p:txBody>
      </p:sp>
      <p:sp>
        <p:nvSpPr>
          <p:cNvPr id="27" name="Text 25"/>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10</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System Architecture</a:t>
            </a:r>
            <a:endParaRPr lang="en-US" sz="3000" dirty="0"/>
          </a:p>
        </p:txBody>
      </p:sp>
      <p:sp>
        <p:nvSpPr>
          <p:cNvPr id="4" name="Text 2"/>
          <p:cNvSpPr txBox="1"/>
          <p:nvPr/>
        </p:nvSpPr>
        <p:spPr>
          <a:xfrm>
            <a:off x="640080" y="1325880"/>
            <a:ext cx="10881360" cy="320040"/>
          </a:xfrm>
          <a:prstGeom prst="rect">
            <a:avLst/>
          </a:prstGeom>
          <a:noFill/>
          <a:ln/>
        </p:spPr>
        <p:txBody>
          <a:bodyPr wrap="square" lIns="0" tIns="0" rIns="0" bIns="0" rtlCol="0" anchor="t"/>
          <a:lstStyle/>
          <a:p>
            <a:pPr indent="0" marL="0">
              <a:buNone/>
            </a:pPr>
            <a:r>
              <a:rPr lang="en-US" sz="1350" dirty="0">
                <a:solidFill>
                  <a:srgbClr val="6E8288"/>
                </a:solidFill>
                <a:latin typeface="Calibri" pitchFamily="34" charset="0"/>
                <a:ea typeface="Calibri" pitchFamily="34" charset="-122"/>
                <a:cs typeface="Calibri" pitchFamily="34" charset="-120"/>
              </a:rPr>
              <a:t>A layered client–server architecture separating the mobile frontend, backend logic, and data and authentication services.</a:t>
            </a:r>
            <a:endParaRPr lang="en-US" sz="1350" dirty="0"/>
          </a:p>
        </p:txBody>
      </p:sp>
      <p:pic>
        <p:nvPicPr>
          <p:cNvPr id="5" name="Image 0" descr="/home/claude/img/arch.png">    </p:cNvPr>
          <p:cNvPicPr>
            <a:picLocks noChangeAspect="1"/>
          </p:cNvPicPr>
          <p:nvPr/>
        </p:nvPicPr>
        <p:blipFill>
          <a:blip r:embed="rId1"/>
          <a:stretch>
            <a:fillRect/>
          </a:stretch>
        </p:blipFill>
        <p:spPr>
          <a:xfrm>
            <a:off x="640080" y="1828800"/>
            <a:ext cx="10908792" cy="1362456"/>
          </a:xfrm>
          <a:prstGeom prst="rect">
            <a:avLst/>
          </a:prstGeom>
        </p:spPr>
      </p:pic>
      <p:sp>
        <p:nvSpPr>
          <p:cNvPr id="6" name="Text 3"/>
          <p:cNvSpPr txBox="1"/>
          <p:nvPr/>
        </p:nvSpPr>
        <p:spPr>
          <a:xfrm>
            <a:off x="640080" y="3246120"/>
            <a:ext cx="10881360" cy="228600"/>
          </a:xfrm>
          <a:prstGeom prst="rect">
            <a:avLst/>
          </a:prstGeom>
          <a:noFill/>
          <a:ln/>
        </p:spPr>
        <p:txBody>
          <a:bodyPr wrap="square" lIns="0" tIns="0" rIns="0" bIns="0" rtlCol="0" anchor="t"/>
          <a:lstStyle/>
          <a:p>
            <a:pPr algn="ctr" indent="0" marL="0">
              <a:buNone/>
            </a:pPr>
            <a:r>
              <a:rPr lang="en-US" sz="1000" i="1" dirty="0">
                <a:solidFill>
                  <a:srgbClr val="6E8288"/>
                </a:solidFill>
                <a:latin typeface="Calibri" pitchFamily="34" charset="0"/>
                <a:ea typeface="Calibri" pitchFamily="34" charset="-122"/>
                <a:cs typeface="Calibri" pitchFamily="34" charset="-120"/>
              </a:rPr>
              <a:t>Figure 10.1 — System Architecture</a:t>
            </a:r>
            <a:endParaRPr lang="en-US" sz="1000" dirty="0"/>
          </a:p>
        </p:txBody>
      </p:sp>
      <p:sp>
        <p:nvSpPr>
          <p:cNvPr id="7" name="Shape 4"/>
          <p:cNvSpPr/>
          <p:nvPr/>
        </p:nvSpPr>
        <p:spPr>
          <a:xfrm>
            <a:off x="640080" y="3611880"/>
            <a:ext cx="2587752" cy="2148840"/>
          </a:xfrm>
          <a:prstGeom prst="roundRect">
            <a:avLst>
              <a:gd name="adj" fmla="val 3404"/>
            </a:avLst>
          </a:prstGeom>
          <a:solidFill>
            <a:srgbClr val="F4F9F9"/>
          </a:solidFill>
          <a:ln w="9525">
            <a:solidFill>
              <a:srgbClr val="F4F9F9"/>
            </a:solidFill>
            <a:prstDash val="solid"/>
          </a:ln>
        </p:spPr>
      </p:sp>
      <p:sp>
        <p:nvSpPr>
          <p:cNvPr id="8" name="Text 5"/>
          <p:cNvSpPr txBox="1"/>
          <p:nvPr/>
        </p:nvSpPr>
        <p:spPr>
          <a:xfrm>
            <a:off x="896112" y="3858768"/>
            <a:ext cx="210312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Mobile Frontend</a:t>
            </a:r>
            <a:endParaRPr lang="en-US" sz="1400" dirty="0"/>
          </a:p>
        </p:txBody>
      </p:sp>
      <p:sp>
        <p:nvSpPr>
          <p:cNvPr id="9" name="Text 6"/>
          <p:cNvSpPr txBox="1"/>
          <p:nvPr/>
        </p:nvSpPr>
        <p:spPr>
          <a:xfrm>
            <a:off x="896112" y="4224528"/>
            <a:ext cx="2148840" cy="1371600"/>
          </a:xfrm>
          <a:prstGeom prst="rect">
            <a:avLst/>
          </a:prstGeom>
          <a:noFill/>
          <a:ln/>
        </p:spPr>
        <p:txBody>
          <a:bodyPr wrap="square" lIns="0" tIns="0" rIns="0" bIns="0" rtlCol="0" anchor="t"/>
          <a:lstStyle/>
          <a:p>
            <a:pPr indent="0" marL="0">
              <a:lnSpc>
                <a:spcPts val="1400"/>
              </a:lnSpc>
              <a:buNone/>
            </a:pPr>
            <a:r>
              <a:rPr lang="en-US" sz="1100" dirty="0">
                <a:solidFill>
                  <a:srgbClr val="27383D"/>
                </a:solidFill>
                <a:latin typeface="Calibri" pitchFamily="34" charset="0"/>
                <a:ea typeface="Calibri" pitchFamily="34" charset="-122"/>
                <a:cs typeface="Calibri" pitchFamily="34" charset="-120"/>
              </a:rPr>
              <a:t>React Native + Expo + TypeScript. Presents student and staff interfaces; talks to the backend over HTTPS.</a:t>
            </a:r>
            <a:endParaRPr lang="en-US" sz="1100" dirty="0"/>
          </a:p>
        </p:txBody>
      </p:sp>
      <p:sp>
        <p:nvSpPr>
          <p:cNvPr id="10" name="Shape 7"/>
          <p:cNvSpPr/>
          <p:nvPr/>
        </p:nvSpPr>
        <p:spPr>
          <a:xfrm>
            <a:off x="3456432" y="3611880"/>
            <a:ext cx="2587752" cy="2148840"/>
          </a:xfrm>
          <a:prstGeom prst="roundRect">
            <a:avLst>
              <a:gd name="adj" fmla="val 3404"/>
            </a:avLst>
          </a:prstGeom>
          <a:solidFill>
            <a:srgbClr val="F4F9F9"/>
          </a:solidFill>
          <a:ln w="9525">
            <a:solidFill>
              <a:srgbClr val="F4F9F9"/>
            </a:solidFill>
            <a:prstDash val="solid"/>
          </a:ln>
        </p:spPr>
      </p:sp>
      <p:sp>
        <p:nvSpPr>
          <p:cNvPr id="11" name="Text 8"/>
          <p:cNvSpPr txBox="1"/>
          <p:nvPr/>
        </p:nvSpPr>
        <p:spPr>
          <a:xfrm>
            <a:off x="3712464" y="3858768"/>
            <a:ext cx="210312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Backend API</a:t>
            </a:r>
            <a:endParaRPr lang="en-US" sz="1400" dirty="0"/>
          </a:p>
        </p:txBody>
      </p:sp>
      <p:sp>
        <p:nvSpPr>
          <p:cNvPr id="12" name="Text 9"/>
          <p:cNvSpPr txBox="1"/>
          <p:nvPr/>
        </p:nvSpPr>
        <p:spPr>
          <a:xfrm>
            <a:off x="3712464" y="4224528"/>
            <a:ext cx="2148840" cy="1371600"/>
          </a:xfrm>
          <a:prstGeom prst="rect">
            <a:avLst/>
          </a:prstGeom>
          <a:noFill/>
          <a:ln/>
        </p:spPr>
        <p:txBody>
          <a:bodyPr wrap="square" lIns="0" tIns="0" rIns="0" bIns="0" rtlCol="0" anchor="t"/>
          <a:lstStyle/>
          <a:p>
            <a:pPr indent="0" marL="0">
              <a:lnSpc>
                <a:spcPts val="1400"/>
              </a:lnSpc>
              <a:buNone/>
            </a:pPr>
            <a:r>
              <a:rPr lang="en-US" sz="1100" dirty="0">
                <a:solidFill>
                  <a:srgbClr val="27383D"/>
                </a:solidFill>
                <a:latin typeface="Calibri" pitchFamily="34" charset="0"/>
                <a:ea typeface="Calibri" pitchFamily="34" charset="-122"/>
                <a:cs typeface="Calibri" pitchFamily="34" charset="-120"/>
              </a:rPr>
              <a:t>Node.js + Express. Exposes REST endpoints, applies validation and business rules, mediates all data access.</a:t>
            </a:r>
            <a:endParaRPr lang="en-US" sz="1100" dirty="0"/>
          </a:p>
        </p:txBody>
      </p:sp>
      <p:sp>
        <p:nvSpPr>
          <p:cNvPr id="13" name="Shape 10"/>
          <p:cNvSpPr/>
          <p:nvPr/>
        </p:nvSpPr>
        <p:spPr>
          <a:xfrm>
            <a:off x="6272784" y="3611880"/>
            <a:ext cx="2587752" cy="2148840"/>
          </a:xfrm>
          <a:prstGeom prst="roundRect">
            <a:avLst>
              <a:gd name="adj" fmla="val 3404"/>
            </a:avLst>
          </a:prstGeom>
          <a:solidFill>
            <a:srgbClr val="F4F9F9"/>
          </a:solidFill>
          <a:ln w="9525">
            <a:solidFill>
              <a:srgbClr val="F4F9F9"/>
            </a:solidFill>
            <a:prstDash val="solid"/>
          </a:ln>
        </p:spPr>
      </p:sp>
      <p:sp>
        <p:nvSpPr>
          <p:cNvPr id="14" name="Text 11"/>
          <p:cNvSpPr txBox="1"/>
          <p:nvPr/>
        </p:nvSpPr>
        <p:spPr>
          <a:xfrm>
            <a:off x="6528816" y="3858768"/>
            <a:ext cx="210312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Supabase Auth</a:t>
            </a:r>
            <a:endParaRPr lang="en-US" sz="1400" dirty="0"/>
          </a:p>
        </p:txBody>
      </p:sp>
      <p:sp>
        <p:nvSpPr>
          <p:cNvPr id="15" name="Text 12"/>
          <p:cNvSpPr txBox="1"/>
          <p:nvPr/>
        </p:nvSpPr>
        <p:spPr>
          <a:xfrm>
            <a:off x="6528816" y="4224528"/>
            <a:ext cx="2148840" cy="1371600"/>
          </a:xfrm>
          <a:prstGeom prst="rect">
            <a:avLst/>
          </a:prstGeom>
          <a:noFill/>
          <a:ln/>
        </p:spPr>
        <p:txBody>
          <a:bodyPr wrap="square" lIns="0" tIns="0" rIns="0" bIns="0" rtlCol="0" anchor="t"/>
          <a:lstStyle/>
          <a:p>
            <a:pPr indent="0" marL="0">
              <a:lnSpc>
                <a:spcPts val="1400"/>
              </a:lnSpc>
              <a:buNone/>
            </a:pPr>
            <a:r>
              <a:rPr lang="en-US" sz="1100" dirty="0">
                <a:solidFill>
                  <a:srgbClr val="27383D"/>
                </a:solidFill>
                <a:latin typeface="Calibri" pitchFamily="34" charset="0"/>
                <a:ea typeface="Calibri" pitchFamily="34" charset="-122"/>
                <a:cs typeface="Calibri" pitchFamily="34" charset="-120"/>
              </a:rPr>
              <a:t>Handles OTP generation and verification for institutional email addresses.</a:t>
            </a:r>
            <a:endParaRPr lang="en-US" sz="1100" dirty="0"/>
          </a:p>
        </p:txBody>
      </p:sp>
      <p:sp>
        <p:nvSpPr>
          <p:cNvPr id="16" name="Shape 13"/>
          <p:cNvSpPr/>
          <p:nvPr/>
        </p:nvSpPr>
        <p:spPr>
          <a:xfrm>
            <a:off x="9089136" y="3611880"/>
            <a:ext cx="2587752" cy="2148840"/>
          </a:xfrm>
          <a:prstGeom prst="roundRect">
            <a:avLst>
              <a:gd name="adj" fmla="val 3404"/>
            </a:avLst>
          </a:prstGeom>
          <a:solidFill>
            <a:srgbClr val="F4F9F9"/>
          </a:solidFill>
          <a:ln w="9525">
            <a:solidFill>
              <a:srgbClr val="F4F9F9"/>
            </a:solidFill>
            <a:prstDash val="solid"/>
          </a:ln>
        </p:spPr>
      </p:sp>
      <p:sp>
        <p:nvSpPr>
          <p:cNvPr id="17" name="Text 14"/>
          <p:cNvSpPr txBox="1"/>
          <p:nvPr/>
        </p:nvSpPr>
        <p:spPr>
          <a:xfrm>
            <a:off x="9345168" y="3858768"/>
            <a:ext cx="2103120" cy="274320"/>
          </a:xfrm>
          <a:prstGeom prst="rect">
            <a:avLst/>
          </a:prstGeom>
          <a:noFill/>
          <a:ln/>
        </p:spPr>
        <p:txBody>
          <a:bodyPr wrap="square" lIns="0" tIns="0" rIns="0" bIns="0" rtlCol="0" anchor="t"/>
          <a:lstStyle/>
          <a:p>
            <a:pPr indent="0" marL="0">
              <a:buNone/>
            </a:pPr>
            <a:r>
              <a:rPr lang="en-US" sz="1400" b="1" dirty="0">
                <a:solidFill>
                  <a:srgbClr val="0B3B47"/>
                </a:solidFill>
                <a:latin typeface="Calibri" pitchFamily="34" charset="0"/>
                <a:ea typeface="Calibri" pitchFamily="34" charset="-122"/>
                <a:cs typeface="Calibri" pitchFamily="34" charset="-120"/>
              </a:rPr>
              <a:t>PostgreSQL</a:t>
            </a:r>
            <a:endParaRPr lang="en-US" sz="1400" dirty="0"/>
          </a:p>
        </p:txBody>
      </p:sp>
      <p:sp>
        <p:nvSpPr>
          <p:cNvPr id="18" name="Text 15"/>
          <p:cNvSpPr txBox="1"/>
          <p:nvPr/>
        </p:nvSpPr>
        <p:spPr>
          <a:xfrm>
            <a:off x="9345168" y="4224528"/>
            <a:ext cx="2148840" cy="1371600"/>
          </a:xfrm>
          <a:prstGeom prst="rect">
            <a:avLst/>
          </a:prstGeom>
          <a:noFill/>
          <a:ln/>
        </p:spPr>
        <p:txBody>
          <a:bodyPr wrap="square" lIns="0" tIns="0" rIns="0" bIns="0" rtlCol="0" anchor="t"/>
          <a:lstStyle/>
          <a:p>
            <a:pPr indent="0" marL="0">
              <a:lnSpc>
                <a:spcPts val="1400"/>
              </a:lnSpc>
              <a:buNone/>
            </a:pPr>
            <a:r>
              <a:rPr lang="en-US" sz="1100" dirty="0">
                <a:solidFill>
                  <a:srgbClr val="27383D"/>
                </a:solidFill>
                <a:latin typeface="Calibri" pitchFamily="34" charset="0"/>
                <a:ea typeface="Calibri" pitchFamily="34" charset="-122"/>
                <a:cs typeface="Calibri" pitchFamily="34" charset="-120"/>
              </a:rPr>
              <a:t>Stores users, hostels, requests, items, status history, batches, tokens, complaints, notifications, audit logs.</a:t>
            </a:r>
            <a:endParaRPr lang="en-US" sz="1100" dirty="0"/>
          </a:p>
        </p:txBody>
      </p:sp>
      <p:sp>
        <p:nvSpPr>
          <p:cNvPr id="19" name="Text 16"/>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12</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Use Case Diagram</a:t>
            </a:r>
            <a:endParaRPr lang="en-US" sz="3000" dirty="0"/>
          </a:p>
        </p:txBody>
      </p:sp>
      <p:pic>
        <p:nvPicPr>
          <p:cNvPr id="4" name="Image 0" descr="/home/claude/img/usecase.png">    </p:cNvPr>
          <p:cNvPicPr>
            <a:picLocks noChangeAspect="1"/>
          </p:cNvPicPr>
          <p:nvPr/>
        </p:nvPicPr>
        <p:blipFill>
          <a:blip r:embed="rId1"/>
          <a:stretch>
            <a:fillRect/>
          </a:stretch>
        </p:blipFill>
        <p:spPr>
          <a:xfrm>
            <a:off x="868680" y="1325880"/>
            <a:ext cx="2880360" cy="4800600"/>
          </a:xfrm>
          <a:prstGeom prst="rect">
            <a:avLst/>
          </a:prstGeom>
        </p:spPr>
      </p:pic>
      <p:sp>
        <p:nvSpPr>
          <p:cNvPr id="5" name="Text 2"/>
          <p:cNvSpPr txBox="1"/>
          <p:nvPr/>
        </p:nvSpPr>
        <p:spPr>
          <a:xfrm>
            <a:off x="640080" y="6199632"/>
            <a:ext cx="3337560" cy="219456"/>
          </a:xfrm>
          <a:prstGeom prst="rect">
            <a:avLst/>
          </a:prstGeom>
          <a:noFill/>
          <a:ln/>
        </p:spPr>
        <p:txBody>
          <a:bodyPr wrap="square" lIns="0" tIns="0" rIns="0" bIns="0" rtlCol="0" anchor="t"/>
          <a:lstStyle/>
          <a:p>
            <a:pPr algn="ctr" indent="0" marL="0">
              <a:buNone/>
            </a:pPr>
            <a:r>
              <a:rPr lang="en-US" sz="1000" i="1" dirty="0">
                <a:solidFill>
                  <a:srgbClr val="6E8288"/>
                </a:solidFill>
                <a:latin typeface="Calibri" pitchFamily="34" charset="0"/>
                <a:ea typeface="Calibri" pitchFamily="34" charset="-122"/>
                <a:cs typeface="Calibri" pitchFamily="34" charset="-120"/>
              </a:rPr>
              <a:t>Figure 12.1 — Use Case Diagram</a:t>
            </a:r>
            <a:endParaRPr lang="en-US" sz="1000" dirty="0"/>
          </a:p>
        </p:txBody>
      </p:sp>
      <p:sp>
        <p:nvSpPr>
          <p:cNvPr id="6" name="Shape 3"/>
          <p:cNvSpPr/>
          <p:nvPr/>
        </p:nvSpPr>
        <p:spPr>
          <a:xfrm>
            <a:off x="4480560" y="1463040"/>
            <a:ext cx="7068312" cy="4480560"/>
          </a:xfrm>
          <a:prstGeom prst="roundRect">
            <a:avLst>
              <a:gd name="adj" fmla="val 1633"/>
            </a:avLst>
          </a:prstGeom>
          <a:solidFill>
            <a:srgbClr val="F4F9F9"/>
          </a:solidFill>
          <a:ln w="9525">
            <a:solidFill>
              <a:srgbClr val="F4F9F9"/>
            </a:solidFill>
            <a:prstDash val="solid"/>
          </a:ln>
        </p:spPr>
      </p:sp>
      <p:sp>
        <p:nvSpPr>
          <p:cNvPr id="7" name="Text 4"/>
          <p:cNvSpPr txBox="1"/>
          <p:nvPr/>
        </p:nvSpPr>
        <p:spPr>
          <a:xfrm>
            <a:off x="4846320" y="1783080"/>
            <a:ext cx="5943600" cy="320040"/>
          </a:xfrm>
          <a:prstGeom prst="rect">
            <a:avLst/>
          </a:prstGeom>
          <a:noFill/>
          <a:ln/>
        </p:spPr>
        <p:txBody>
          <a:bodyPr wrap="square" lIns="0" tIns="0" rIns="0" bIns="0" rtlCol="0" anchor="t"/>
          <a:lstStyle/>
          <a:p>
            <a:pPr indent="0" marL="0">
              <a:buNone/>
            </a:pPr>
            <a:r>
              <a:rPr lang="en-US" sz="1800" b="1" dirty="0">
                <a:solidFill>
                  <a:srgbClr val="0B3B47"/>
                </a:solidFill>
                <a:latin typeface="Cambria" pitchFamily="34" charset="0"/>
                <a:ea typeface="Cambria" pitchFamily="34" charset="-122"/>
                <a:cs typeface="Cambria" pitchFamily="34" charset="-120"/>
              </a:rPr>
              <a:t>What the diagram establishes</a:t>
            </a:r>
            <a:endParaRPr lang="en-US" sz="1800" dirty="0"/>
          </a:p>
        </p:txBody>
      </p:sp>
      <p:sp>
        <p:nvSpPr>
          <p:cNvPr id="8" name="Shape 5"/>
          <p:cNvSpPr/>
          <p:nvPr/>
        </p:nvSpPr>
        <p:spPr>
          <a:xfrm>
            <a:off x="4846320" y="2313432"/>
            <a:ext cx="310896" cy="310896"/>
          </a:xfrm>
          <a:prstGeom prst="ellipse">
            <a:avLst/>
          </a:prstGeom>
          <a:solidFill>
            <a:srgbClr val="028090"/>
          </a:solidFill>
          <a:ln w="6350">
            <a:solidFill>
              <a:srgbClr val="028090"/>
            </a:solidFill>
            <a:prstDash val="solid"/>
          </a:ln>
        </p:spPr>
      </p:sp>
      <p:sp>
        <p:nvSpPr>
          <p:cNvPr id="9" name="Text 6"/>
          <p:cNvSpPr txBox="1"/>
          <p:nvPr/>
        </p:nvSpPr>
        <p:spPr>
          <a:xfrm>
            <a:off x="4846320" y="2331720"/>
            <a:ext cx="310896"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7"/>
          <p:cNvSpPr txBox="1"/>
          <p:nvPr/>
        </p:nvSpPr>
        <p:spPr>
          <a:xfrm>
            <a:off x="5303520" y="2286000"/>
            <a:ext cx="5943600" cy="237744"/>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Three actors, one system boundary</a:t>
            </a:r>
            <a:endParaRPr lang="en-US" sz="1300" dirty="0"/>
          </a:p>
        </p:txBody>
      </p:sp>
      <p:sp>
        <p:nvSpPr>
          <p:cNvPr id="11" name="Text 8"/>
          <p:cNvSpPr txBox="1"/>
          <p:nvPr/>
        </p:nvSpPr>
        <p:spPr>
          <a:xfrm>
            <a:off x="5303520" y="2542032"/>
            <a:ext cx="5989320" cy="438912"/>
          </a:xfrm>
          <a:prstGeom prst="rect">
            <a:avLst/>
          </a:prstGeom>
          <a:noFill/>
          <a:ln/>
        </p:spPr>
        <p:txBody>
          <a:bodyPr wrap="square" lIns="0" tIns="0" rIns="0" bIns="0" rtlCol="0" anchor="t"/>
          <a:lstStyle/>
          <a:p>
            <a:pPr indent="0" marL="0">
              <a:lnSpc>
                <a:spcPts val="1400"/>
              </a:lnSpc>
              <a:buNone/>
            </a:pPr>
            <a:r>
              <a:rPr lang="en-US" sz="1100" dirty="0">
                <a:solidFill>
                  <a:srgbClr val="27383D"/>
                </a:solidFill>
                <a:latin typeface="Calibri" pitchFamily="34" charset="0"/>
                <a:ea typeface="Calibri" pitchFamily="34" charset="-122"/>
                <a:cs typeface="Calibri" pitchFamily="34" charset="-120"/>
              </a:rPr>
              <a:t>Student, Laundry Staff and Administrator each interact with a distinct but overlapping set of use cases.</a:t>
            </a:r>
            <a:endParaRPr lang="en-US" sz="1100" dirty="0"/>
          </a:p>
        </p:txBody>
      </p:sp>
      <p:sp>
        <p:nvSpPr>
          <p:cNvPr id="12" name="Shape 9"/>
          <p:cNvSpPr/>
          <p:nvPr/>
        </p:nvSpPr>
        <p:spPr>
          <a:xfrm>
            <a:off x="4846320" y="3072384"/>
            <a:ext cx="310896" cy="310896"/>
          </a:xfrm>
          <a:prstGeom prst="ellipse">
            <a:avLst/>
          </a:prstGeom>
          <a:solidFill>
            <a:srgbClr val="028090"/>
          </a:solidFill>
          <a:ln w="6350">
            <a:solidFill>
              <a:srgbClr val="028090"/>
            </a:solidFill>
            <a:prstDash val="solid"/>
          </a:ln>
        </p:spPr>
      </p:sp>
      <p:sp>
        <p:nvSpPr>
          <p:cNvPr id="13" name="Text 10"/>
          <p:cNvSpPr txBox="1"/>
          <p:nvPr/>
        </p:nvSpPr>
        <p:spPr>
          <a:xfrm>
            <a:off x="4846320" y="3090672"/>
            <a:ext cx="310896"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1"/>
          <p:cNvSpPr txBox="1"/>
          <p:nvPr/>
        </p:nvSpPr>
        <p:spPr>
          <a:xfrm>
            <a:off x="5303520" y="3044952"/>
            <a:ext cx="5943600" cy="237744"/>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Student use cases</a:t>
            </a:r>
            <a:endParaRPr lang="en-US" sz="1300" dirty="0"/>
          </a:p>
        </p:txBody>
      </p:sp>
      <p:sp>
        <p:nvSpPr>
          <p:cNvPr id="15" name="Text 12"/>
          <p:cNvSpPr txBox="1"/>
          <p:nvPr/>
        </p:nvSpPr>
        <p:spPr>
          <a:xfrm>
            <a:off x="5303520" y="3300984"/>
            <a:ext cx="5989320" cy="438912"/>
          </a:xfrm>
          <a:prstGeom prst="rect">
            <a:avLst/>
          </a:prstGeom>
          <a:noFill/>
          <a:ln/>
        </p:spPr>
        <p:txBody>
          <a:bodyPr wrap="square" lIns="0" tIns="0" rIns="0" bIns="0" rtlCol="0" anchor="t"/>
          <a:lstStyle/>
          <a:p>
            <a:pPr indent="0" marL="0">
              <a:lnSpc>
                <a:spcPts val="1400"/>
              </a:lnSpc>
              <a:buNone/>
            </a:pPr>
            <a:r>
              <a:rPr lang="en-US" sz="1100" dirty="0">
                <a:solidFill>
                  <a:srgbClr val="27383D"/>
                </a:solidFill>
                <a:latin typeface="Calibri" pitchFamily="34" charset="0"/>
                <a:ea typeface="Calibri" pitchFamily="34" charset="-122"/>
                <a:cs typeface="Calibri" pitchFamily="34" charset="-120"/>
              </a:rPr>
              <a:t>Login, submit request, track status, view QR token, receive notifications, file complaint.</a:t>
            </a:r>
            <a:endParaRPr lang="en-US" sz="1100" dirty="0"/>
          </a:p>
        </p:txBody>
      </p:sp>
      <p:sp>
        <p:nvSpPr>
          <p:cNvPr id="16" name="Shape 13"/>
          <p:cNvSpPr/>
          <p:nvPr/>
        </p:nvSpPr>
        <p:spPr>
          <a:xfrm>
            <a:off x="4846320" y="3831336"/>
            <a:ext cx="310896" cy="310896"/>
          </a:xfrm>
          <a:prstGeom prst="ellipse">
            <a:avLst/>
          </a:prstGeom>
          <a:solidFill>
            <a:srgbClr val="028090"/>
          </a:solidFill>
          <a:ln w="6350">
            <a:solidFill>
              <a:srgbClr val="028090"/>
            </a:solidFill>
            <a:prstDash val="solid"/>
          </a:ln>
        </p:spPr>
      </p:sp>
      <p:sp>
        <p:nvSpPr>
          <p:cNvPr id="17" name="Text 14"/>
          <p:cNvSpPr txBox="1"/>
          <p:nvPr/>
        </p:nvSpPr>
        <p:spPr>
          <a:xfrm>
            <a:off x="4846320" y="3849624"/>
            <a:ext cx="310896"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5"/>
          <p:cNvSpPr txBox="1"/>
          <p:nvPr/>
        </p:nvSpPr>
        <p:spPr>
          <a:xfrm>
            <a:off x="5303520" y="3803904"/>
            <a:ext cx="5943600" cy="237744"/>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Staff use cases</a:t>
            </a:r>
            <a:endParaRPr lang="en-US" sz="1300" dirty="0"/>
          </a:p>
        </p:txBody>
      </p:sp>
      <p:sp>
        <p:nvSpPr>
          <p:cNvPr id="19" name="Text 16"/>
          <p:cNvSpPr txBox="1"/>
          <p:nvPr/>
        </p:nvSpPr>
        <p:spPr>
          <a:xfrm>
            <a:off x="5303520" y="4059936"/>
            <a:ext cx="5989320" cy="438912"/>
          </a:xfrm>
          <a:prstGeom prst="rect">
            <a:avLst/>
          </a:prstGeom>
          <a:noFill/>
          <a:ln/>
        </p:spPr>
        <p:txBody>
          <a:bodyPr wrap="square" lIns="0" tIns="0" rIns="0" bIns="0" rtlCol="0" anchor="t"/>
          <a:lstStyle/>
          <a:p>
            <a:pPr indent="0" marL="0">
              <a:lnSpc>
                <a:spcPts val="1400"/>
              </a:lnSpc>
              <a:buNone/>
            </a:pPr>
            <a:r>
              <a:rPr lang="en-US" sz="1100" dirty="0">
                <a:solidFill>
                  <a:srgbClr val="27383D"/>
                </a:solidFill>
                <a:latin typeface="Calibri" pitchFamily="34" charset="0"/>
                <a:ea typeface="Calibri" pitchFamily="34" charset="-122"/>
                <a:cs typeface="Calibri" pitchFamily="34" charset="-120"/>
              </a:rPr>
              <a:t>View queue, verify and tag, batch, update status, scan QR and confirm collection, respond to complaints.</a:t>
            </a:r>
            <a:endParaRPr lang="en-US" sz="1100" dirty="0"/>
          </a:p>
        </p:txBody>
      </p:sp>
      <p:sp>
        <p:nvSpPr>
          <p:cNvPr id="20" name="Shape 17"/>
          <p:cNvSpPr/>
          <p:nvPr/>
        </p:nvSpPr>
        <p:spPr>
          <a:xfrm>
            <a:off x="4846320" y="4590288"/>
            <a:ext cx="310896" cy="310896"/>
          </a:xfrm>
          <a:prstGeom prst="ellipse">
            <a:avLst/>
          </a:prstGeom>
          <a:solidFill>
            <a:srgbClr val="028090"/>
          </a:solidFill>
          <a:ln w="6350">
            <a:solidFill>
              <a:srgbClr val="028090"/>
            </a:solidFill>
            <a:prstDash val="solid"/>
          </a:ln>
        </p:spPr>
      </p:sp>
      <p:sp>
        <p:nvSpPr>
          <p:cNvPr id="21" name="Text 18"/>
          <p:cNvSpPr txBox="1"/>
          <p:nvPr/>
        </p:nvSpPr>
        <p:spPr>
          <a:xfrm>
            <a:off x="4846320" y="4608576"/>
            <a:ext cx="310896"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19"/>
          <p:cNvSpPr txBox="1"/>
          <p:nvPr/>
        </p:nvSpPr>
        <p:spPr>
          <a:xfrm>
            <a:off x="5303520" y="4562856"/>
            <a:ext cx="5943600" cy="237744"/>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Administrator use cases</a:t>
            </a:r>
            <a:endParaRPr lang="en-US" sz="1300" dirty="0"/>
          </a:p>
        </p:txBody>
      </p:sp>
      <p:sp>
        <p:nvSpPr>
          <p:cNvPr id="23" name="Text 20"/>
          <p:cNvSpPr txBox="1"/>
          <p:nvPr/>
        </p:nvSpPr>
        <p:spPr>
          <a:xfrm>
            <a:off x="5303520" y="4818888"/>
            <a:ext cx="5989320" cy="438912"/>
          </a:xfrm>
          <a:prstGeom prst="rect">
            <a:avLst/>
          </a:prstGeom>
          <a:noFill/>
          <a:ln/>
        </p:spPr>
        <p:txBody>
          <a:bodyPr wrap="square" lIns="0" tIns="0" rIns="0" bIns="0" rtlCol="0" anchor="t"/>
          <a:lstStyle/>
          <a:p>
            <a:pPr indent="0" marL="0">
              <a:lnSpc>
                <a:spcPts val="1400"/>
              </a:lnSpc>
              <a:buNone/>
            </a:pPr>
            <a:r>
              <a:rPr lang="en-US" sz="1100" dirty="0">
                <a:solidFill>
                  <a:srgbClr val="27383D"/>
                </a:solidFill>
                <a:latin typeface="Calibri" pitchFamily="34" charset="0"/>
                <a:ea typeface="Calibri" pitchFamily="34" charset="-122"/>
                <a:cs typeface="Calibri" pitchFamily="34" charset="-120"/>
              </a:rPr>
              <a:t>Manage users and hostels, monitor activity and complaints, access audit logs.</a:t>
            </a:r>
            <a:endParaRPr lang="en-US" sz="1100" dirty="0"/>
          </a:p>
        </p:txBody>
      </p:sp>
      <p:sp>
        <p:nvSpPr>
          <p:cNvPr id="24" name="Shape 21"/>
          <p:cNvSpPr/>
          <p:nvPr/>
        </p:nvSpPr>
        <p:spPr>
          <a:xfrm>
            <a:off x="4846320" y="5349240"/>
            <a:ext cx="310896" cy="310896"/>
          </a:xfrm>
          <a:prstGeom prst="ellipse">
            <a:avLst/>
          </a:prstGeom>
          <a:solidFill>
            <a:srgbClr val="028090"/>
          </a:solidFill>
          <a:ln w="6350">
            <a:solidFill>
              <a:srgbClr val="028090"/>
            </a:solidFill>
            <a:prstDash val="solid"/>
          </a:ln>
        </p:spPr>
      </p:sp>
      <p:sp>
        <p:nvSpPr>
          <p:cNvPr id="25" name="Text 22"/>
          <p:cNvSpPr txBox="1"/>
          <p:nvPr/>
        </p:nvSpPr>
        <p:spPr>
          <a:xfrm>
            <a:off x="4846320" y="5367528"/>
            <a:ext cx="310896"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6" name="Text 23"/>
          <p:cNvSpPr txBox="1"/>
          <p:nvPr/>
        </p:nvSpPr>
        <p:spPr>
          <a:xfrm>
            <a:off x="5303520" y="5321808"/>
            <a:ext cx="5943600" cy="237744"/>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Shared authentication</a:t>
            </a:r>
            <a:endParaRPr lang="en-US" sz="1300" dirty="0"/>
          </a:p>
        </p:txBody>
      </p:sp>
      <p:sp>
        <p:nvSpPr>
          <p:cNvPr id="27" name="Text 24"/>
          <p:cNvSpPr txBox="1"/>
          <p:nvPr/>
        </p:nvSpPr>
        <p:spPr>
          <a:xfrm>
            <a:off x="5303520" y="5577840"/>
            <a:ext cx="5989320" cy="438912"/>
          </a:xfrm>
          <a:prstGeom prst="rect">
            <a:avLst/>
          </a:prstGeom>
          <a:noFill/>
          <a:ln/>
        </p:spPr>
        <p:txBody>
          <a:bodyPr wrap="square" lIns="0" tIns="0" rIns="0" bIns="0" rtlCol="0" anchor="t"/>
          <a:lstStyle/>
          <a:p>
            <a:pPr indent="0" marL="0">
              <a:lnSpc>
                <a:spcPts val="1400"/>
              </a:lnSpc>
              <a:buNone/>
            </a:pPr>
            <a:r>
              <a:rPr lang="en-US" sz="1100" dirty="0">
                <a:solidFill>
                  <a:srgbClr val="27383D"/>
                </a:solidFill>
                <a:latin typeface="Calibri" pitchFamily="34" charset="0"/>
                <a:ea typeface="Calibri" pitchFamily="34" charset="-122"/>
                <a:cs typeface="Calibri" pitchFamily="34" charset="-120"/>
              </a:rPr>
              <a:t>All three actors enter through the same OTP-based login, differing only in role after verification.</a:t>
            </a:r>
            <a:endParaRPr lang="en-US" sz="1100" dirty="0"/>
          </a:p>
        </p:txBody>
      </p:sp>
      <p:sp>
        <p:nvSpPr>
          <p:cNvPr id="28" name="Text 25"/>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13</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Activity Diagram — Laundry Lifecycle</a:t>
            </a:r>
            <a:endParaRPr lang="en-US" sz="3000" dirty="0"/>
          </a:p>
        </p:txBody>
      </p:sp>
      <p:pic>
        <p:nvPicPr>
          <p:cNvPr id="4" name="Image 0" descr="/home/claude/img/activity.png">    </p:cNvPr>
          <p:cNvPicPr>
            <a:picLocks noChangeAspect="1"/>
          </p:cNvPicPr>
          <p:nvPr/>
        </p:nvPicPr>
        <p:blipFill>
          <a:blip r:embed="rId1"/>
          <a:stretch>
            <a:fillRect/>
          </a:stretch>
        </p:blipFill>
        <p:spPr>
          <a:xfrm>
            <a:off x="1371600" y="1280160"/>
            <a:ext cx="1536192" cy="4846320"/>
          </a:xfrm>
          <a:prstGeom prst="rect">
            <a:avLst/>
          </a:prstGeom>
        </p:spPr>
      </p:pic>
      <p:sp>
        <p:nvSpPr>
          <p:cNvPr id="5" name="Text 2"/>
          <p:cNvSpPr txBox="1"/>
          <p:nvPr/>
        </p:nvSpPr>
        <p:spPr>
          <a:xfrm>
            <a:off x="640080" y="6199632"/>
            <a:ext cx="3017520" cy="219456"/>
          </a:xfrm>
          <a:prstGeom prst="rect">
            <a:avLst/>
          </a:prstGeom>
          <a:noFill/>
          <a:ln/>
        </p:spPr>
        <p:txBody>
          <a:bodyPr wrap="square" lIns="0" tIns="0" rIns="0" bIns="0" rtlCol="0" anchor="t"/>
          <a:lstStyle/>
          <a:p>
            <a:pPr algn="ctr" indent="0" marL="0">
              <a:buNone/>
            </a:pPr>
            <a:r>
              <a:rPr lang="en-US" sz="1000" i="1" dirty="0">
                <a:solidFill>
                  <a:srgbClr val="6E8288"/>
                </a:solidFill>
                <a:latin typeface="Calibri" pitchFamily="34" charset="0"/>
                <a:ea typeface="Calibri" pitchFamily="34" charset="-122"/>
                <a:cs typeface="Calibri" pitchFamily="34" charset="-120"/>
              </a:rPr>
              <a:t>Figure 13.1</a:t>
            </a:r>
            <a:endParaRPr lang="en-US" sz="1000" dirty="0"/>
          </a:p>
        </p:txBody>
      </p:sp>
      <p:sp>
        <p:nvSpPr>
          <p:cNvPr id="6" name="Shape 3"/>
          <p:cNvSpPr/>
          <p:nvPr/>
        </p:nvSpPr>
        <p:spPr>
          <a:xfrm>
            <a:off x="4114800" y="1417320"/>
            <a:ext cx="7434072" cy="4572000"/>
          </a:xfrm>
          <a:prstGeom prst="roundRect">
            <a:avLst>
              <a:gd name="adj" fmla="val 1600"/>
            </a:avLst>
          </a:prstGeom>
          <a:solidFill>
            <a:srgbClr val="F4F9F9"/>
          </a:solidFill>
          <a:ln w="9525">
            <a:solidFill>
              <a:srgbClr val="F4F9F9"/>
            </a:solidFill>
            <a:prstDash val="solid"/>
          </a:ln>
        </p:spPr>
      </p:sp>
      <p:sp>
        <p:nvSpPr>
          <p:cNvPr id="7" name="Text 4"/>
          <p:cNvSpPr txBox="1"/>
          <p:nvPr/>
        </p:nvSpPr>
        <p:spPr>
          <a:xfrm>
            <a:off x="4526280" y="1737360"/>
            <a:ext cx="6400800" cy="320040"/>
          </a:xfrm>
          <a:prstGeom prst="rect">
            <a:avLst/>
          </a:prstGeom>
          <a:noFill/>
          <a:ln/>
        </p:spPr>
        <p:txBody>
          <a:bodyPr wrap="square" lIns="0" tIns="0" rIns="0" bIns="0" rtlCol="0" anchor="t"/>
          <a:lstStyle/>
          <a:p>
            <a:pPr indent="0" marL="0">
              <a:buNone/>
            </a:pPr>
            <a:r>
              <a:rPr lang="en-US" sz="1800" b="1" dirty="0">
                <a:solidFill>
                  <a:srgbClr val="0B3B47"/>
                </a:solidFill>
                <a:latin typeface="Cambria" pitchFamily="34" charset="0"/>
                <a:ea typeface="Cambria" pitchFamily="34" charset="-122"/>
                <a:cs typeface="Cambria" pitchFamily="34" charset="-120"/>
              </a:rPr>
              <a:t>From login to verified collection</a:t>
            </a:r>
            <a:endParaRPr lang="en-US" sz="1800" dirty="0"/>
          </a:p>
        </p:txBody>
      </p:sp>
      <p:sp>
        <p:nvSpPr>
          <p:cNvPr id="8" name="Text 5"/>
          <p:cNvSpPr txBox="1"/>
          <p:nvPr/>
        </p:nvSpPr>
        <p:spPr>
          <a:xfrm>
            <a:off x="4526280" y="2194560"/>
            <a:ext cx="6583680" cy="548640"/>
          </a:xfrm>
          <a:prstGeom prst="rect">
            <a:avLst/>
          </a:prstGeom>
          <a:noFill/>
          <a:ln/>
        </p:spPr>
        <p:txBody>
          <a:bodyPr wrap="square" lIns="0" tIns="0" rIns="0" bIns="0" rtlCol="0" anchor="t"/>
          <a:lstStyle/>
          <a:p>
            <a:pPr indent="0" marL="0">
              <a:lnSpc>
                <a:spcPts val="1700"/>
              </a:lnSpc>
              <a:buNone/>
            </a:pPr>
            <a:r>
              <a:rPr lang="en-US" sz="1250" dirty="0">
                <a:solidFill>
                  <a:srgbClr val="27383D"/>
                </a:solidFill>
                <a:latin typeface="Calibri" pitchFamily="34" charset="0"/>
                <a:ea typeface="Calibri" pitchFamily="34" charset="-122"/>
                <a:cs typeface="Calibri" pitchFamily="34" charset="-120"/>
              </a:rPr>
              <a:t>The activity diagram models the complete lifecycle described in Section 6, showing where control passes between the student, the system and the laundry staff.</a:t>
            </a:r>
            <a:endParaRPr lang="en-US" sz="1250" dirty="0"/>
          </a:p>
        </p:txBody>
      </p:sp>
      <p:sp>
        <p:nvSpPr>
          <p:cNvPr id="9" name="Shape 6"/>
          <p:cNvSpPr/>
          <p:nvPr/>
        </p:nvSpPr>
        <p:spPr>
          <a:xfrm>
            <a:off x="4526280" y="2880360"/>
            <a:ext cx="6583680" cy="621792"/>
          </a:xfrm>
          <a:prstGeom prst="roundRect">
            <a:avLst>
              <a:gd name="adj" fmla="val 8824"/>
            </a:avLst>
          </a:prstGeom>
          <a:solidFill>
            <a:srgbClr val="FFFFFF"/>
          </a:solidFill>
          <a:ln w="6350">
            <a:solidFill>
              <a:srgbClr val="FFFFFF"/>
            </a:solidFill>
            <a:prstDash val="solid"/>
          </a:ln>
        </p:spPr>
      </p:sp>
      <p:sp>
        <p:nvSpPr>
          <p:cNvPr id="10" name="Text 7"/>
          <p:cNvSpPr txBox="1"/>
          <p:nvPr/>
        </p:nvSpPr>
        <p:spPr>
          <a:xfrm>
            <a:off x="4709160" y="2953512"/>
            <a:ext cx="1737360" cy="237744"/>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Student side</a:t>
            </a:r>
            <a:endParaRPr lang="en-US" sz="1200" dirty="0"/>
          </a:p>
        </p:txBody>
      </p:sp>
      <p:sp>
        <p:nvSpPr>
          <p:cNvPr id="11" name="Text 8"/>
          <p:cNvSpPr txBox="1"/>
          <p:nvPr/>
        </p:nvSpPr>
        <p:spPr>
          <a:xfrm>
            <a:off x="4709160" y="3191256"/>
            <a:ext cx="6263640" cy="274320"/>
          </a:xfrm>
          <a:prstGeom prst="rect">
            <a:avLst/>
          </a:prstGeom>
          <a:noFill/>
          <a:ln/>
        </p:spPr>
        <p:txBody>
          <a:bodyPr wrap="square" lIns="0" tIns="0" rIns="0" bIns="0" rtlCol="0" anchor="t"/>
          <a:lstStyle/>
          <a:p>
            <a:pPr indent="0" marL="0">
              <a:buNone/>
            </a:pPr>
            <a:r>
              <a:rPr lang="en-US" sz="1100" dirty="0">
                <a:solidFill>
                  <a:srgbClr val="27383D"/>
                </a:solidFill>
                <a:latin typeface="Calibri" pitchFamily="34" charset="0"/>
                <a:ea typeface="Calibri" pitchFamily="34" charset="-122"/>
                <a:cs typeface="Calibri" pitchFamily="34" charset="-120"/>
              </a:rPr>
              <a:t>Log in → submit request → receive notification → present QR at the counter.</a:t>
            </a:r>
            <a:endParaRPr lang="en-US" sz="1100" dirty="0"/>
          </a:p>
        </p:txBody>
      </p:sp>
      <p:sp>
        <p:nvSpPr>
          <p:cNvPr id="12" name="Shape 9"/>
          <p:cNvSpPr/>
          <p:nvPr/>
        </p:nvSpPr>
        <p:spPr>
          <a:xfrm>
            <a:off x="4526280" y="3630168"/>
            <a:ext cx="6583680" cy="621792"/>
          </a:xfrm>
          <a:prstGeom prst="roundRect">
            <a:avLst>
              <a:gd name="adj" fmla="val 8824"/>
            </a:avLst>
          </a:prstGeom>
          <a:solidFill>
            <a:srgbClr val="FFFFFF"/>
          </a:solidFill>
          <a:ln w="6350">
            <a:solidFill>
              <a:srgbClr val="FFFFFF"/>
            </a:solidFill>
            <a:prstDash val="solid"/>
          </a:ln>
        </p:spPr>
      </p:sp>
      <p:sp>
        <p:nvSpPr>
          <p:cNvPr id="13" name="Text 10"/>
          <p:cNvSpPr txBox="1"/>
          <p:nvPr/>
        </p:nvSpPr>
        <p:spPr>
          <a:xfrm>
            <a:off x="4709160" y="3703320"/>
            <a:ext cx="1737360" cy="237744"/>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Staff side</a:t>
            </a:r>
            <a:endParaRPr lang="en-US" sz="1200" dirty="0"/>
          </a:p>
        </p:txBody>
      </p:sp>
      <p:sp>
        <p:nvSpPr>
          <p:cNvPr id="14" name="Text 11"/>
          <p:cNvSpPr txBox="1"/>
          <p:nvPr/>
        </p:nvSpPr>
        <p:spPr>
          <a:xfrm>
            <a:off x="4709160" y="3941064"/>
            <a:ext cx="6263640" cy="274320"/>
          </a:xfrm>
          <a:prstGeom prst="rect">
            <a:avLst/>
          </a:prstGeom>
          <a:noFill/>
          <a:ln/>
        </p:spPr>
        <p:txBody>
          <a:bodyPr wrap="square" lIns="0" tIns="0" rIns="0" bIns="0" rtlCol="0" anchor="t"/>
          <a:lstStyle/>
          <a:p>
            <a:pPr indent="0" marL="0">
              <a:buNone/>
            </a:pPr>
            <a:r>
              <a:rPr lang="en-US" sz="1100" dirty="0">
                <a:solidFill>
                  <a:srgbClr val="27383D"/>
                </a:solidFill>
                <a:latin typeface="Calibri" pitchFamily="34" charset="0"/>
                <a:ea typeface="Calibri" pitchFamily="34" charset="-122"/>
                <a:cs typeface="Calibri" pitchFamily="34" charset="-120"/>
              </a:rPr>
              <a:t>Receive and verify → tag and batch → wash and iron → return → mark ready for pickup.</a:t>
            </a:r>
            <a:endParaRPr lang="en-US" sz="1100" dirty="0"/>
          </a:p>
        </p:txBody>
      </p:sp>
      <p:sp>
        <p:nvSpPr>
          <p:cNvPr id="15" name="Shape 12"/>
          <p:cNvSpPr/>
          <p:nvPr/>
        </p:nvSpPr>
        <p:spPr>
          <a:xfrm>
            <a:off x="4526280" y="4379976"/>
            <a:ext cx="6583680" cy="621792"/>
          </a:xfrm>
          <a:prstGeom prst="roundRect">
            <a:avLst>
              <a:gd name="adj" fmla="val 8824"/>
            </a:avLst>
          </a:prstGeom>
          <a:solidFill>
            <a:srgbClr val="FFFFFF"/>
          </a:solidFill>
          <a:ln w="6350">
            <a:solidFill>
              <a:srgbClr val="FFFFFF"/>
            </a:solidFill>
            <a:prstDash val="solid"/>
          </a:ln>
        </p:spPr>
      </p:sp>
      <p:sp>
        <p:nvSpPr>
          <p:cNvPr id="16" name="Text 13"/>
          <p:cNvSpPr txBox="1"/>
          <p:nvPr/>
        </p:nvSpPr>
        <p:spPr>
          <a:xfrm>
            <a:off x="4709160" y="4453128"/>
            <a:ext cx="1737360" cy="237744"/>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Decision point</a:t>
            </a:r>
            <a:endParaRPr lang="en-US" sz="1200" dirty="0"/>
          </a:p>
        </p:txBody>
      </p:sp>
      <p:sp>
        <p:nvSpPr>
          <p:cNvPr id="17" name="Text 14"/>
          <p:cNvSpPr txBox="1"/>
          <p:nvPr/>
        </p:nvSpPr>
        <p:spPr>
          <a:xfrm>
            <a:off x="4709160" y="4690872"/>
            <a:ext cx="6263640" cy="274320"/>
          </a:xfrm>
          <a:prstGeom prst="rect">
            <a:avLst/>
          </a:prstGeom>
          <a:noFill/>
          <a:ln/>
        </p:spPr>
        <p:txBody>
          <a:bodyPr wrap="square" lIns="0" tIns="0" rIns="0" bIns="0" rtlCol="0" anchor="t"/>
          <a:lstStyle/>
          <a:p>
            <a:pPr indent="0" marL="0">
              <a:buNone/>
            </a:pPr>
            <a:r>
              <a:rPr lang="en-US" sz="1100" dirty="0">
                <a:solidFill>
                  <a:srgbClr val="27383D"/>
                </a:solidFill>
                <a:latin typeface="Calibri" pitchFamily="34" charset="0"/>
                <a:ea typeface="Calibri" pitchFamily="34" charset="-122"/>
                <a:cs typeface="Calibri" pitchFamily="34" charset="-120"/>
              </a:rPr>
              <a:t>At collection the token is validated; an already-used token is rejected, not accepted again.</a:t>
            </a:r>
            <a:endParaRPr lang="en-US" sz="1100" dirty="0"/>
          </a:p>
        </p:txBody>
      </p:sp>
      <p:sp>
        <p:nvSpPr>
          <p:cNvPr id="18" name="Shape 15"/>
          <p:cNvSpPr/>
          <p:nvPr/>
        </p:nvSpPr>
        <p:spPr>
          <a:xfrm>
            <a:off x="4526280" y="5129784"/>
            <a:ext cx="6583680" cy="621792"/>
          </a:xfrm>
          <a:prstGeom prst="roundRect">
            <a:avLst>
              <a:gd name="adj" fmla="val 8824"/>
            </a:avLst>
          </a:prstGeom>
          <a:solidFill>
            <a:srgbClr val="FFFFFF"/>
          </a:solidFill>
          <a:ln w="6350">
            <a:solidFill>
              <a:srgbClr val="FFFFFF"/>
            </a:solidFill>
            <a:prstDash val="solid"/>
          </a:ln>
        </p:spPr>
      </p:sp>
      <p:sp>
        <p:nvSpPr>
          <p:cNvPr id="19" name="Text 16"/>
          <p:cNvSpPr txBox="1"/>
          <p:nvPr/>
        </p:nvSpPr>
        <p:spPr>
          <a:xfrm>
            <a:off x="4709160" y="5202936"/>
            <a:ext cx="1737360" cy="237744"/>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Exception path</a:t>
            </a:r>
            <a:endParaRPr lang="en-US" sz="1200" dirty="0"/>
          </a:p>
        </p:txBody>
      </p:sp>
      <p:sp>
        <p:nvSpPr>
          <p:cNvPr id="20" name="Text 17"/>
          <p:cNvSpPr txBox="1"/>
          <p:nvPr/>
        </p:nvSpPr>
        <p:spPr>
          <a:xfrm>
            <a:off x="4709160" y="5440680"/>
            <a:ext cx="6263640" cy="274320"/>
          </a:xfrm>
          <a:prstGeom prst="rect">
            <a:avLst/>
          </a:prstGeom>
          <a:noFill/>
          <a:ln/>
        </p:spPr>
        <p:txBody>
          <a:bodyPr wrap="square" lIns="0" tIns="0" rIns="0" bIns="0" rtlCol="0" anchor="t"/>
          <a:lstStyle/>
          <a:p>
            <a:pPr indent="0" marL="0">
              <a:buNone/>
            </a:pPr>
            <a:r>
              <a:rPr lang="en-US" sz="1100" dirty="0">
                <a:solidFill>
                  <a:srgbClr val="27383D"/>
                </a:solidFill>
                <a:latin typeface="Calibri" pitchFamily="34" charset="0"/>
                <a:ea typeface="Calibri" pitchFamily="34" charset="-122"/>
                <a:cs typeface="Calibri" pitchFamily="34" charset="-120"/>
              </a:rPr>
              <a:t>At any stage the student can branch off to raise a complaint linked to that specific request.</a:t>
            </a:r>
            <a:endParaRPr lang="en-US" sz="1100" dirty="0"/>
          </a:p>
        </p:txBody>
      </p:sp>
      <p:sp>
        <p:nvSpPr>
          <p:cNvPr id="21" name="Text 18"/>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14</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Class Diagram</a:t>
            </a:r>
            <a:endParaRPr lang="en-US" sz="3000" dirty="0"/>
          </a:p>
        </p:txBody>
      </p:sp>
      <p:pic>
        <p:nvPicPr>
          <p:cNvPr id="4" name="Image 0" descr="/home/claude/img/class.png">    </p:cNvPr>
          <p:cNvPicPr>
            <a:picLocks noChangeAspect="1"/>
          </p:cNvPicPr>
          <p:nvPr/>
        </p:nvPicPr>
        <p:blipFill>
          <a:blip r:embed="rId1"/>
          <a:stretch>
            <a:fillRect/>
          </a:stretch>
        </p:blipFill>
        <p:spPr>
          <a:xfrm>
            <a:off x="640080" y="1325880"/>
            <a:ext cx="7680960" cy="4617720"/>
          </a:xfrm>
          <a:prstGeom prst="rect">
            <a:avLst/>
          </a:prstGeom>
        </p:spPr>
      </p:pic>
      <p:sp>
        <p:nvSpPr>
          <p:cNvPr id="5" name="Text 2"/>
          <p:cNvSpPr txBox="1"/>
          <p:nvPr/>
        </p:nvSpPr>
        <p:spPr>
          <a:xfrm>
            <a:off x="640080" y="6035040"/>
            <a:ext cx="7680960" cy="219456"/>
          </a:xfrm>
          <a:prstGeom prst="rect">
            <a:avLst/>
          </a:prstGeom>
          <a:noFill/>
          <a:ln/>
        </p:spPr>
        <p:txBody>
          <a:bodyPr wrap="square" lIns="0" tIns="0" rIns="0" bIns="0" rtlCol="0" anchor="t"/>
          <a:lstStyle/>
          <a:p>
            <a:pPr algn="ctr" indent="0" marL="0">
              <a:buNone/>
            </a:pPr>
            <a:r>
              <a:rPr lang="en-US" sz="1000" i="1" dirty="0">
                <a:solidFill>
                  <a:srgbClr val="6E8288"/>
                </a:solidFill>
                <a:latin typeface="Calibri" pitchFamily="34" charset="0"/>
                <a:ea typeface="Calibri" pitchFamily="34" charset="-122"/>
                <a:cs typeface="Calibri" pitchFamily="34" charset="-120"/>
              </a:rPr>
              <a:t>Figure 14.1 — Class Diagram</a:t>
            </a:r>
            <a:endParaRPr lang="en-US" sz="1000" dirty="0"/>
          </a:p>
        </p:txBody>
      </p:sp>
      <p:sp>
        <p:nvSpPr>
          <p:cNvPr id="6" name="Shape 3"/>
          <p:cNvSpPr/>
          <p:nvPr/>
        </p:nvSpPr>
        <p:spPr>
          <a:xfrm>
            <a:off x="8595360" y="1371600"/>
            <a:ext cx="2953512" cy="4572000"/>
          </a:xfrm>
          <a:prstGeom prst="roundRect">
            <a:avLst>
              <a:gd name="adj" fmla="val 2477"/>
            </a:avLst>
          </a:prstGeom>
          <a:solidFill>
            <a:srgbClr val="E9F3F4"/>
          </a:solidFill>
          <a:ln w="9525">
            <a:solidFill>
              <a:srgbClr val="E9F3F4"/>
            </a:solidFill>
            <a:prstDash val="solid"/>
          </a:ln>
        </p:spPr>
      </p:sp>
      <p:sp>
        <p:nvSpPr>
          <p:cNvPr id="7" name="Text 4"/>
          <p:cNvSpPr txBox="1"/>
          <p:nvPr/>
        </p:nvSpPr>
        <p:spPr>
          <a:xfrm>
            <a:off x="8869680" y="1645920"/>
            <a:ext cx="2468880" cy="292608"/>
          </a:xfrm>
          <a:prstGeom prst="rect">
            <a:avLst/>
          </a:prstGeom>
          <a:noFill/>
          <a:ln/>
        </p:spPr>
        <p:txBody>
          <a:bodyPr wrap="square" lIns="0" tIns="0" rIns="0" bIns="0" rtlCol="0" anchor="t"/>
          <a:lstStyle/>
          <a:p>
            <a:pPr indent="0" marL="0">
              <a:buNone/>
            </a:pPr>
            <a:r>
              <a:rPr lang="en-US" sz="1600" b="1" dirty="0">
                <a:solidFill>
                  <a:srgbClr val="0B3B47"/>
                </a:solidFill>
                <a:latin typeface="Cambria" pitchFamily="34" charset="0"/>
                <a:ea typeface="Cambria" pitchFamily="34" charset="-122"/>
                <a:cs typeface="Cambria" pitchFamily="34" charset="-120"/>
              </a:rPr>
              <a:t>Model highlights</a:t>
            </a:r>
            <a:endParaRPr lang="en-US" sz="1600" dirty="0"/>
          </a:p>
        </p:txBody>
      </p:sp>
      <p:sp>
        <p:nvSpPr>
          <p:cNvPr id="8" name="Text 5"/>
          <p:cNvSpPr txBox="1"/>
          <p:nvPr/>
        </p:nvSpPr>
        <p:spPr>
          <a:xfrm>
            <a:off x="8869680" y="2103120"/>
            <a:ext cx="2468880" cy="237744"/>
          </a:xfrm>
          <a:prstGeom prst="rect">
            <a:avLst/>
          </a:prstGeom>
          <a:noFill/>
          <a:ln/>
        </p:spPr>
        <p:txBody>
          <a:bodyPr wrap="square" lIns="0" tIns="0" rIns="0" bIns="0" rtlCol="0" anchor="t"/>
          <a:lstStyle/>
          <a:p>
            <a:pPr indent="0" marL="0">
              <a:buNone/>
            </a:pPr>
            <a:r>
              <a:rPr lang="en-US" sz="1250" b="1" dirty="0">
                <a:solidFill>
                  <a:srgbClr val="028090"/>
                </a:solidFill>
                <a:latin typeface="Calibri" pitchFamily="34" charset="0"/>
                <a:ea typeface="Calibri" pitchFamily="34" charset="-122"/>
                <a:cs typeface="Calibri" pitchFamily="34" charset="-120"/>
              </a:rPr>
              <a:t>One User, three roles</a:t>
            </a:r>
            <a:endParaRPr lang="en-US" sz="1250" dirty="0"/>
          </a:p>
        </p:txBody>
      </p:sp>
      <p:sp>
        <p:nvSpPr>
          <p:cNvPr id="9" name="Text 6"/>
          <p:cNvSpPr txBox="1"/>
          <p:nvPr/>
        </p:nvSpPr>
        <p:spPr>
          <a:xfrm>
            <a:off x="8869680" y="2359152"/>
            <a:ext cx="2468880" cy="658368"/>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User specializes into Student, Staff and Administrator — a shared authentication record.</a:t>
            </a:r>
            <a:endParaRPr lang="en-US" sz="1050" dirty="0"/>
          </a:p>
        </p:txBody>
      </p:sp>
      <p:sp>
        <p:nvSpPr>
          <p:cNvPr id="10" name="Text 7"/>
          <p:cNvSpPr txBox="1"/>
          <p:nvPr/>
        </p:nvSpPr>
        <p:spPr>
          <a:xfrm>
            <a:off x="8869680" y="3063240"/>
            <a:ext cx="2468880" cy="237744"/>
          </a:xfrm>
          <a:prstGeom prst="rect">
            <a:avLst/>
          </a:prstGeom>
          <a:noFill/>
          <a:ln/>
        </p:spPr>
        <p:txBody>
          <a:bodyPr wrap="square" lIns="0" tIns="0" rIns="0" bIns="0" rtlCol="0" anchor="t"/>
          <a:lstStyle/>
          <a:p>
            <a:pPr indent="0" marL="0">
              <a:buNone/>
            </a:pPr>
            <a:r>
              <a:rPr lang="en-US" sz="1250" b="1" dirty="0">
                <a:solidFill>
                  <a:srgbClr val="028090"/>
                </a:solidFill>
                <a:latin typeface="Calibri" pitchFamily="34" charset="0"/>
                <a:ea typeface="Calibri" pitchFamily="34" charset="-122"/>
                <a:cs typeface="Calibri" pitchFamily="34" charset="-120"/>
              </a:rPr>
              <a:t>Request as the hub</a:t>
            </a:r>
            <a:endParaRPr lang="en-US" sz="1250" dirty="0"/>
          </a:p>
        </p:txBody>
      </p:sp>
      <p:sp>
        <p:nvSpPr>
          <p:cNvPr id="11" name="Text 8"/>
          <p:cNvSpPr txBox="1"/>
          <p:nvPr/>
        </p:nvSpPr>
        <p:spPr>
          <a:xfrm>
            <a:off x="8869680" y="3319272"/>
            <a:ext cx="2468880" cy="658368"/>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LaundryRequest connects items, status history, pickup token and complaints.</a:t>
            </a:r>
            <a:endParaRPr lang="en-US" sz="1050" dirty="0"/>
          </a:p>
        </p:txBody>
      </p:sp>
      <p:sp>
        <p:nvSpPr>
          <p:cNvPr id="12" name="Text 9"/>
          <p:cNvSpPr txBox="1"/>
          <p:nvPr/>
        </p:nvSpPr>
        <p:spPr>
          <a:xfrm>
            <a:off x="8869680" y="4023360"/>
            <a:ext cx="2468880" cy="237744"/>
          </a:xfrm>
          <a:prstGeom prst="rect">
            <a:avLst/>
          </a:prstGeom>
          <a:noFill/>
          <a:ln/>
        </p:spPr>
        <p:txBody>
          <a:bodyPr wrap="square" lIns="0" tIns="0" rIns="0" bIns="0" rtlCol="0" anchor="t"/>
          <a:lstStyle/>
          <a:p>
            <a:pPr indent="0" marL="0">
              <a:buNone/>
            </a:pPr>
            <a:r>
              <a:rPr lang="en-US" sz="1250" b="1" dirty="0">
                <a:solidFill>
                  <a:srgbClr val="028090"/>
                </a:solidFill>
                <a:latin typeface="Calibri" pitchFamily="34" charset="0"/>
                <a:ea typeface="Calibri" pitchFamily="34" charset="-122"/>
                <a:cs typeface="Calibri" pitchFamily="34" charset="-120"/>
              </a:rPr>
              <a:t>Append-only history</a:t>
            </a:r>
            <a:endParaRPr lang="en-US" sz="1250" dirty="0"/>
          </a:p>
        </p:txBody>
      </p:sp>
      <p:sp>
        <p:nvSpPr>
          <p:cNvPr id="13" name="Text 10"/>
          <p:cNvSpPr txBox="1"/>
          <p:nvPr/>
        </p:nvSpPr>
        <p:spPr>
          <a:xfrm>
            <a:off x="8869680" y="4279392"/>
            <a:ext cx="2468880" cy="658368"/>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LaundryStatusHistory logs every transition instead of overwriting status.</a:t>
            </a:r>
            <a:endParaRPr lang="en-US" sz="1050" dirty="0"/>
          </a:p>
        </p:txBody>
      </p:sp>
      <p:sp>
        <p:nvSpPr>
          <p:cNvPr id="14" name="Text 11"/>
          <p:cNvSpPr txBox="1"/>
          <p:nvPr/>
        </p:nvSpPr>
        <p:spPr>
          <a:xfrm>
            <a:off x="8869680" y="4983480"/>
            <a:ext cx="2468880" cy="237744"/>
          </a:xfrm>
          <a:prstGeom prst="rect">
            <a:avLst/>
          </a:prstGeom>
          <a:noFill/>
          <a:ln/>
        </p:spPr>
        <p:txBody>
          <a:bodyPr wrap="square" lIns="0" tIns="0" rIns="0" bIns="0" rtlCol="0" anchor="t"/>
          <a:lstStyle/>
          <a:p>
            <a:pPr indent="0" marL="0">
              <a:buNone/>
            </a:pPr>
            <a:r>
              <a:rPr lang="en-US" sz="1250" b="1" dirty="0">
                <a:solidFill>
                  <a:srgbClr val="028090"/>
                </a:solidFill>
                <a:latin typeface="Calibri" pitchFamily="34" charset="0"/>
                <a:ea typeface="Calibri" pitchFamily="34" charset="-122"/>
                <a:cs typeface="Calibri" pitchFamily="34" charset="-120"/>
              </a:rPr>
              <a:t>Single-use token</a:t>
            </a:r>
            <a:endParaRPr lang="en-US" sz="1250" dirty="0"/>
          </a:p>
        </p:txBody>
      </p:sp>
      <p:sp>
        <p:nvSpPr>
          <p:cNvPr id="15" name="Text 12"/>
          <p:cNvSpPr txBox="1"/>
          <p:nvPr/>
        </p:nvSpPr>
        <p:spPr>
          <a:xfrm>
            <a:off x="8869680" y="5239512"/>
            <a:ext cx="2468880" cy="658368"/>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PickupToken carries an isUsed flag, making reuse detectable at the data layer.</a:t>
            </a:r>
            <a:endParaRPr lang="en-US" sz="1050" dirty="0"/>
          </a:p>
        </p:txBody>
      </p:sp>
      <p:sp>
        <p:nvSpPr>
          <p:cNvPr id="16" name="Text 13"/>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15</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Data Flow Diagrams</a:t>
            </a:r>
            <a:endParaRPr lang="en-US" sz="3000" dirty="0"/>
          </a:p>
        </p:txBody>
      </p:sp>
      <p:sp>
        <p:nvSpPr>
          <p:cNvPr id="4" name="Text 2"/>
          <p:cNvSpPr txBox="1"/>
          <p:nvPr/>
        </p:nvSpPr>
        <p:spPr>
          <a:xfrm>
            <a:off x="640080" y="1325880"/>
            <a:ext cx="5486400" cy="237744"/>
          </a:xfrm>
          <a:prstGeom prst="rect">
            <a:avLst/>
          </a:prstGeom>
          <a:noFill/>
          <a:ln/>
        </p:spPr>
        <p:txBody>
          <a:bodyPr wrap="square" lIns="0" tIns="0" rIns="0" bIns="0" rtlCol="0" anchor="t"/>
          <a:lstStyle/>
          <a:p>
            <a:pPr indent="0" marL="0">
              <a:buNone/>
            </a:pPr>
            <a:r>
              <a:rPr lang="en-US" sz="1100" b="1" spc="150" kern="0" dirty="0">
                <a:solidFill>
                  <a:srgbClr val="028090"/>
                </a:solidFill>
                <a:latin typeface="Calibri" pitchFamily="34" charset="0"/>
                <a:ea typeface="Calibri" pitchFamily="34" charset="-122"/>
                <a:cs typeface="Calibri" pitchFamily="34" charset="-120"/>
              </a:rPr>
              <a:t>LEVEL 0  —  CONTEXT DIAGRAM</a:t>
            </a:r>
            <a:endParaRPr lang="en-US" sz="1100" dirty="0"/>
          </a:p>
        </p:txBody>
      </p:sp>
      <p:sp>
        <p:nvSpPr>
          <p:cNvPr id="5" name="Text 3"/>
          <p:cNvSpPr txBox="1"/>
          <p:nvPr/>
        </p:nvSpPr>
        <p:spPr>
          <a:xfrm>
            <a:off x="640080" y="1572768"/>
            <a:ext cx="10881360" cy="237744"/>
          </a:xfrm>
          <a:prstGeom prst="rect">
            <a:avLst/>
          </a:prstGeom>
          <a:noFill/>
          <a:ln/>
        </p:spPr>
        <p:txBody>
          <a:bodyPr wrap="square" lIns="0" tIns="0" rIns="0" bIns="0" rtlCol="0" anchor="t"/>
          <a:lstStyle/>
          <a:p>
            <a:pPr indent="0" marL="0">
              <a:buNone/>
            </a:pPr>
            <a:r>
              <a:rPr lang="en-US" sz="1200" dirty="0">
                <a:solidFill>
                  <a:srgbClr val="6E8288"/>
                </a:solidFill>
                <a:latin typeface="Calibri" pitchFamily="34" charset="0"/>
                <a:ea typeface="Calibri" pitchFamily="34" charset="-122"/>
                <a:cs typeface="Calibri" pitchFamily="34" charset="-120"/>
              </a:rPr>
              <a:t>The system as a single process, exchanging data with its three external actors.</a:t>
            </a:r>
            <a:endParaRPr lang="en-US" sz="1200" dirty="0"/>
          </a:p>
        </p:txBody>
      </p:sp>
      <p:pic>
        <p:nvPicPr>
          <p:cNvPr id="6" name="Image 0" descr="/home/claude/img/dfd0.png">    </p:cNvPr>
          <p:cNvPicPr>
            <a:picLocks noChangeAspect="1"/>
          </p:cNvPicPr>
          <p:nvPr/>
        </p:nvPicPr>
        <p:blipFill>
          <a:blip r:embed="rId1"/>
          <a:stretch>
            <a:fillRect/>
          </a:stretch>
        </p:blipFill>
        <p:spPr>
          <a:xfrm>
            <a:off x="3291840" y="1874520"/>
            <a:ext cx="5669280" cy="1709928"/>
          </a:xfrm>
          <a:prstGeom prst="rect">
            <a:avLst/>
          </a:prstGeom>
        </p:spPr>
      </p:pic>
      <p:sp>
        <p:nvSpPr>
          <p:cNvPr id="7" name="Text 4"/>
          <p:cNvSpPr txBox="1"/>
          <p:nvPr/>
        </p:nvSpPr>
        <p:spPr>
          <a:xfrm>
            <a:off x="640080" y="3703320"/>
            <a:ext cx="5486400" cy="237744"/>
          </a:xfrm>
          <a:prstGeom prst="rect">
            <a:avLst/>
          </a:prstGeom>
          <a:noFill/>
          <a:ln/>
        </p:spPr>
        <p:txBody>
          <a:bodyPr wrap="square" lIns="0" tIns="0" rIns="0" bIns="0" rtlCol="0" anchor="t"/>
          <a:lstStyle/>
          <a:p>
            <a:pPr indent="0" marL="0">
              <a:buNone/>
            </a:pPr>
            <a:r>
              <a:rPr lang="en-US" sz="1100" b="1" spc="150" kern="0" dirty="0">
                <a:solidFill>
                  <a:srgbClr val="028090"/>
                </a:solidFill>
                <a:latin typeface="Calibri" pitchFamily="34" charset="0"/>
                <a:ea typeface="Calibri" pitchFamily="34" charset="-122"/>
                <a:cs typeface="Calibri" pitchFamily="34" charset="-120"/>
              </a:rPr>
              <a:t>LEVEL 1  —  PROCESS DECOMPOSITION</a:t>
            </a:r>
            <a:endParaRPr lang="en-US" sz="1100" dirty="0"/>
          </a:p>
        </p:txBody>
      </p:sp>
      <p:sp>
        <p:nvSpPr>
          <p:cNvPr id="8" name="Text 5"/>
          <p:cNvSpPr txBox="1"/>
          <p:nvPr/>
        </p:nvSpPr>
        <p:spPr>
          <a:xfrm>
            <a:off x="640080" y="3950208"/>
            <a:ext cx="10881360" cy="237744"/>
          </a:xfrm>
          <a:prstGeom prst="rect">
            <a:avLst/>
          </a:prstGeom>
          <a:noFill/>
          <a:ln/>
        </p:spPr>
        <p:txBody>
          <a:bodyPr wrap="square" lIns="0" tIns="0" rIns="0" bIns="0" rtlCol="0" anchor="t"/>
          <a:lstStyle/>
          <a:p>
            <a:pPr indent="0" marL="0">
              <a:buNone/>
            </a:pPr>
            <a:r>
              <a:rPr lang="en-US" sz="1200" dirty="0">
                <a:solidFill>
                  <a:srgbClr val="6E8288"/>
                </a:solidFill>
                <a:latin typeface="Calibri" pitchFamily="34" charset="0"/>
                <a:ea typeface="Calibri" pitchFamily="34" charset="-122"/>
                <a:cs typeface="Calibri" pitchFamily="34" charset="-120"/>
              </a:rPr>
              <a:t>Authentication, request management, processing and tracking, pickup verification and complaint management, with the data stores each reads and writes.</a:t>
            </a:r>
            <a:endParaRPr lang="en-US" sz="1200" dirty="0"/>
          </a:p>
        </p:txBody>
      </p:sp>
      <p:pic>
        <p:nvPicPr>
          <p:cNvPr id="9" name="Image 1" descr="/home/claude/img/dfd1.png">    </p:cNvPr>
          <p:cNvPicPr>
            <a:picLocks noChangeAspect="1"/>
          </p:cNvPicPr>
          <p:nvPr/>
        </p:nvPicPr>
        <p:blipFill>
          <a:blip r:embed="rId2"/>
          <a:stretch>
            <a:fillRect/>
          </a:stretch>
        </p:blipFill>
        <p:spPr>
          <a:xfrm>
            <a:off x="640080" y="4279392"/>
            <a:ext cx="10908792" cy="1709928"/>
          </a:xfrm>
          <a:prstGeom prst="rect">
            <a:avLst/>
          </a:prstGeom>
        </p:spPr>
      </p:pic>
      <p:sp>
        <p:nvSpPr>
          <p:cNvPr id="10" name="Text 6"/>
          <p:cNvSpPr txBox="1"/>
          <p:nvPr/>
        </p:nvSpPr>
        <p:spPr>
          <a:xfrm>
            <a:off x="640080" y="6053328"/>
            <a:ext cx="10881360" cy="219456"/>
          </a:xfrm>
          <a:prstGeom prst="rect">
            <a:avLst/>
          </a:prstGeom>
          <a:noFill/>
          <a:ln/>
        </p:spPr>
        <p:txBody>
          <a:bodyPr wrap="square" lIns="0" tIns="0" rIns="0" bIns="0" rtlCol="0" anchor="t"/>
          <a:lstStyle/>
          <a:p>
            <a:pPr algn="ctr" indent="0" marL="0">
              <a:buNone/>
            </a:pPr>
            <a:r>
              <a:rPr lang="en-US" sz="1000" i="1" dirty="0">
                <a:solidFill>
                  <a:srgbClr val="6E8288"/>
                </a:solidFill>
                <a:latin typeface="Calibri" pitchFamily="34" charset="0"/>
                <a:ea typeface="Calibri" pitchFamily="34" charset="-122"/>
                <a:cs typeface="Calibri" pitchFamily="34" charset="-120"/>
              </a:rPr>
              <a:t>Figures 15.1 and 15.2 — DFD Levels 0 and 1</a:t>
            </a:r>
            <a:endParaRPr lang="en-US" sz="1000" dirty="0"/>
          </a:p>
        </p:txBody>
      </p:sp>
      <p:sp>
        <p:nvSpPr>
          <p:cNvPr id="11" name="Text 7"/>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16</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Sequence Diagram — OTP Authentication</a:t>
            </a:r>
            <a:endParaRPr lang="en-US" sz="3000" dirty="0"/>
          </a:p>
        </p:txBody>
      </p:sp>
      <p:pic>
        <p:nvPicPr>
          <p:cNvPr id="4" name="Image 0" descr="/home/claude/img/sequence.png">    </p:cNvPr>
          <p:cNvPicPr>
            <a:picLocks noChangeAspect="1"/>
          </p:cNvPicPr>
          <p:nvPr/>
        </p:nvPicPr>
        <p:blipFill>
          <a:blip r:embed="rId1"/>
          <a:stretch>
            <a:fillRect/>
          </a:stretch>
        </p:blipFill>
        <p:spPr>
          <a:xfrm>
            <a:off x="960120" y="1325880"/>
            <a:ext cx="3017520" cy="4800600"/>
          </a:xfrm>
          <a:prstGeom prst="rect">
            <a:avLst/>
          </a:prstGeom>
        </p:spPr>
      </p:pic>
      <p:sp>
        <p:nvSpPr>
          <p:cNvPr id="5" name="Text 2"/>
          <p:cNvSpPr txBox="1"/>
          <p:nvPr/>
        </p:nvSpPr>
        <p:spPr>
          <a:xfrm>
            <a:off x="640080" y="6199632"/>
            <a:ext cx="3657600" cy="219456"/>
          </a:xfrm>
          <a:prstGeom prst="rect">
            <a:avLst/>
          </a:prstGeom>
          <a:noFill/>
          <a:ln/>
        </p:spPr>
        <p:txBody>
          <a:bodyPr wrap="square" lIns="0" tIns="0" rIns="0" bIns="0" rtlCol="0" anchor="t"/>
          <a:lstStyle/>
          <a:p>
            <a:pPr algn="ctr" indent="0" marL="0">
              <a:buNone/>
            </a:pPr>
            <a:r>
              <a:rPr lang="en-US" sz="1000" i="1" dirty="0">
                <a:solidFill>
                  <a:srgbClr val="6E8288"/>
                </a:solidFill>
                <a:latin typeface="Calibri" pitchFamily="34" charset="0"/>
                <a:ea typeface="Calibri" pitchFamily="34" charset="-122"/>
                <a:cs typeface="Calibri" pitchFamily="34" charset="-120"/>
              </a:rPr>
              <a:t>Figure 16.1</a:t>
            </a:r>
            <a:endParaRPr lang="en-US" sz="1000" dirty="0"/>
          </a:p>
        </p:txBody>
      </p:sp>
      <p:sp>
        <p:nvSpPr>
          <p:cNvPr id="6" name="Shape 3"/>
          <p:cNvSpPr/>
          <p:nvPr/>
        </p:nvSpPr>
        <p:spPr>
          <a:xfrm>
            <a:off x="4709160" y="1463040"/>
            <a:ext cx="6839712" cy="4526280"/>
          </a:xfrm>
          <a:prstGeom prst="roundRect">
            <a:avLst>
              <a:gd name="adj" fmla="val 1616"/>
            </a:avLst>
          </a:prstGeom>
          <a:solidFill>
            <a:srgbClr val="F4F9F9"/>
          </a:solidFill>
          <a:ln w="9525">
            <a:solidFill>
              <a:srgbClr val="F4F9F9"/>
            </a:solidFill>
            <a:prstDash val="solid"/>
          </a:ln>
        </p:spPr>
      </p:sp>
      <p:sp>
        <p:nvSpPr>
          <p:cNvPr id="7" name="Text 4"/>
          <p:cNvSpPr txBox="1"/>
          <p:nvPr/>
        </p:nvSpPr>
        <p:spPr>
          <a:xfrm>
            <a:off x="5074920" y="1783080"/>
            <a:ext cx="6035040" cy="320040"/>
          </a:xfrm>
          <a:prstGeom prst="rect">
            <a:avLst/>
          </a:prstGeom>
          <a:noFill/>
          <a:ln/>
        </p:spPr>
        <p:txBody>
          <a:bodyPr wrap="square" lIns="0" tIns="0" rIns="0" bIns="0" rtlCol="0" anchor="t"/>
          <a:lstStyle/>
          <a:p>
            <a:pPr indent="0" marL="0">
              <a:buNone/>
            </a:pPr>
            <a:r>
              <a:rPr lang="en-US" sz="1800" b="1" dirty="0">
                <a:solidFill>
                  <a:srgbClr val="0B3B47"/>
                </a:solidFill>
                <a:latin typeface="Cambria" pitchFamily="34" charset="0"/>
                <a:ea typeface="Cambria" pitchFamily="34" charset="-122"/>
                <a:cs typeface="Cambria" pitchFamily="34" charset="-120"/>
              </a:rPr>
              <a:t>The one flow that is fully implemented</a:t>
            </a:r>
            <a:endParaRPr lang="en-US" sz="1800" dirty="0"/>
          </a:p>
        </p:txBody>
      </p:sp>
      <p:sp>
        <p:nvSpPr>
          <p:cNvPr id="8" name="Text 5"/>
          <p:cNvSpPr txBox="1"/>
          <p:nvPr/>
        </p:nvSpPr>
        <p:spPr>
          <a:xfrm>
            <a:off x="5074920" y="2240280"/>
            <a:ext cx="6126480" cy="548640"/>
          </a:xfrm>
          <a:prstGeom prst="rect">
            <a:avLst/>
          </a:prstGeom>
          <a:noFill/>
          <a:ln/>
        </p:spPr>
        <p:txBody>
          <a:bodyPr wrap="square" lIns="0" tIns="0" rIns="0" bIns="0" rtlCol="0" anchor="t"/>
          <a:lstStyle/>
          <a:p>
            <a:pPr indent="0" marL="0">
              <a:lnSpc>
                <a:spcPts val="1700"/>
              </a:lnSpc>
              <a:buNone/>
            </a:pPr>
            <a:r>
              <a:rPr lang="en-US" sz="1250" dirty="0">
                <a:solidFill>
                  <a:srgbClr val="27383D"/>
                </a:solidFill>
                <a:latin typeface="Calibri" pitchFamily="34" charset="0"/>
                <a:ea typeface="Calibri" pitchFamily="34" charset="-122"/>
                <a:cs typeface="Calibri" pitchFamily="34" charset="-120"/>
              </a:rPr>
              <a:t>This diagram traces the interaction between the mobile app, the Express backend and Supabase Authentication for both send-OTP and verify-OTP.</a:t>
            </a:r>
            <a:endParaRPr lang="en-US" sz="1250" dirty="0"/>
          </a:p>
        </p:txBody>
      </p:sp>
      <p:sp>
        <p:nvSpPr>
          <p:cNvPr id="9" name="Shape 6"/>
          <p:cNvSpPr/>
          <p:nvPr/>
        </p:nvSpPr>
        <p:spPr>
          <a:xfrm>
            <a:off x="5074920" y="2926080"/>
            <a:ext cx="329184" cy="329184"/>
          </a:xfrm>
          <a:prstGeom prst="ellipse">
            <a:avLst/>
          </a:prstGeom>
          <a:solidFill>
            <a:srgbClr val="028090"/>
          </a:solidFill>
          <a:ln w="6350">
            <a:solidFill>
              <a:srgbClr val="028090"/>
            </a:solidFill>
            <a:prstDash val="solid"/>
          </a:ln>
        </p:spPr>
      </p:sp>
      <p:sp>
        <p:nvSpPr>
          <p:cNvPr id="10" name="Text 7"/>
          <p:cNvSpPr txBox="1"/>
          <p:nvPr/>
        </p:nvSpPr>
        <p:spPr>
          <a:xfrm>
            <a:off x="5074920" y="2944368"/>
            <a:ext cx="329184"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txBox="1"/>
          <p:nvPr/>
        </p:nvSpPr>
        <p:spPr>
          <a:xfrm>
            <a:off x="5577840" y="2971800"/>
            <a:ext cx="5577840" cy="256032"/>
          </a:xfrm>
          <a:prstGeom prst="rect">
            <a:avLst/>
          </a:prstGeom>
          <a:noFill/>
          <a:ln/>
        </p:spPr>
        <p:txBody>
          <a:bodyPr wrap="square" lIns="0" tIns="0" rIns="0" bIns="0" rtlCol="0" anchor="t"/>
          <a:lstStyle/>
          <a:p>
            <a:pPr indent="0" marL="0">
              <a:buNone/>
            </a:pPr>
            <a:r>
              <a:rPr lang="en-US" sz="1200" dirty="0">
                <a:solidFill>
                  <a:srgbClr val="27383D"/>
                </a:solidFill>
                <a:latin typeface="Calibri" pitchFamily="34" charset="0"/>
                <a:ea typeface="Calibri" pitchFamily="34" charset="-122"/>
                <a:cs typeface="Calibri" pitchFamily="34" charset="-120"/>
              </a:rPr>
              <a:t>App sends the email address to the backend</a:t>
            </a:r>
            <a:endParaRPr lang="en-US" sz="1200" dirty="0"/>
          </a:p>
        </p:txBody>
      </p:sp>
      <p:sp>
        <p:nvSpPr>
          <p:cNvPr id="12" name="Shape 9"/>
          <p:cNvSpPr/>
          <p:nvPr/>
        </p:nvSpPr>
        <p:spPr>
          <a:xfrm>
            <a:off x="5074920" y="3429000"/>
            <a:ext cx="329184" cy="329184"/>
          </a:xfrm>
          <a:prstGeom prst="ellipse">
            <a:avLst/>
          </a:prstGeom>
          <a:solidFill>
            <a:srgbClr val="028090"/>
          </a:solidFill>
          <a:ln w="6350">
            <a:solidFill>
              <a:srgbClr val="028090"/>
            </a:solidFill>
            <a:prstDash val="solid"/>
          </a:ln>
        </p:spPr>
      </p:sp>
      <p:sp>
        <p:nvSpPr>
          <p:cNvPr id="13" name="Text 10"/>
          <p:cNvSpPr txBox="1"/>
          <p:nvPr/>
        </p:nvSpPr>
        <p:spPr>
          <a:xfrm>
            <a:off x="5074920" y="3447288"/>
            <a:ext cx="329184"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1"/>
          <p:cNvSpPr txBox="1"/>
          <p:nvPr/>
        </p:nvSpPr>
        <p:spPr>
          <a:xfrm>
            <a:off x="5577840" y="3474720"/>
            <a:ext cx="5577840" cy="256032"/>
          </a:xfrm>
          <a:prstGeom prst="rect">
            <a:avLst/>
          </a:prstGeom>
          <a:noFill/>
          <a:ln/>
        </p:spPr>
        <p:txBody>
          <a:bodyPr wrap="square" lIns="0" tIns="0" rIns="0" bIns="0" rtlCol="0" anchor="t"/>
          <a:lstStyle/>
          <a:p>
            <a:pPr indent="0" marL="0">
              <a:buNone/>
            </a:pPr>
            <a:r>
              <a:rPr lang="en-US" sz="1200" dirty="0">
                <a:solidFill>
                  <a:srgbClr val="27383D"/>
                </a:solidFill>
                <a:latin typeface="Calibri" pitchFamily="34" charset="0"/>
                <a:ea typeface="Calibri" pitchFamily="34" charset="-122"/>
                <a:cs typeface="Calibri" pitchFamily="34" charset="-120"/>
              </a:rPr>
              <a:t>Backend validates the institutional domain (@thapar.edu)</a:t>
            </a:r>
            <a:endParaRPr lang="en-US" sz="1200" dirty="0"/>
          </a:p>
        </p:txBody>
      </p:sp>
      <p:sp>
        <p:nvSpPr>
          <p:cNvPr id="15" name="Shape 12"/>
          <p:cNvSpPr/>
          <p:nvPr/>
        </p:nvSpPr>
        <p:spPr>
          <a:xfrm>
            <a:off x="5074920" y="3931920"/>
            <a:ext cx="329184" cy="329184"/>
          </a:xfrm>
          <a:prstGeom prst="ellipse">
            <a:avLst/>
          </a:prstGeom>
          <a:solidFill>
            <a:srgbClr val="028090"/>
          </a:solidFill>
          <a:ln w="6350">
            <a:solidFill>
              <a:srgbClr val="028090"/>
            </a:solidFill>
            <a:prstDash val="solid"/>
          </a:ln>
        </p:spPr>
      </p:sp>
      <p:sp>
        <p:nvSpPr>
          <p:cNvPr id="16" name="Text 13"/>
          <p:cNvSpPr txBox="1"/>
          <p:nvPr/>
        </p:nvSpPr>
        <p:spPr>
          <a:xfrm>
            <a:off x="5074920" y="3950208"/>
            <a:ext cx="329184"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4"/>
          <p:cNvSpPr txBox="1"/>
          <p:nvPr/>
        </p:nvSpPr>
        <p:spPr>
          <a:xfrm>
            <a:off x="5577840" y="3977640"/>
            <a:ext cx="5577840" cy="256032"/>
          </a:xfrm>
          <a:prstGeom prst="rect">
            <a:avLst/>
          </a:prstGeom>
          <a:noFill/>
          <a:ln/>
        </p:spPr>
        <p:txBody>
          <a:bodyPr wrap="square" lIns="0" tIns="0" rIns="0" bIns="0" rtlCol="0" anchor="t"/>
          <a:lstStyle/>
          <a:p>
            <a:pPr indent="0" marL="0">
              <a:buNone/>
            </a:pPr>
            <a:r>
              <a:rPr lang="en-US" sz="1200" dirty="0">
                <a:solidFill>
                  <a:srgbClr val="27383D"/>
                </a:solidFill>
                <a:latin typeface="Calibri" pitchFamily="34" charset="0"/>
                <a:ea typeface="Calibri" pitchFamily="34" charset="-122"/>
                <a:cs typeface="Calibri" pitchFamily="34" charset="-120"/>
              </a:rPr>
              <a:t>Backend asks Supabase to issue an OTP; the user receives it by email</a:t>
            </a:r>
            <a:endParaRPr lang="en-US" sz="1200" dirty="0"/>
          </a:p>
        </p:txBody>
      </p:sp>
      <p:sp>
        <p:nvSpPr>
          <p:cNvPr id="18" name="Shape 15"/>
          <p:cNvSpPr/>
          <p:nvPr/>
        </p:nvSpPr>
        <p:spPr>
          <a:xfrm>
            <a:off x="5074920" y="4434840"/>
            <a:ext cx="329184" cy="329184"/>
          </a:xfrm>
          <a:prstGeom prst="ellipse">
            <a:avLst/>
          </a:prstGeom>
          <a:solidFill>
            <a:srgbClr val="00A896"/>
          </a:solidFill>
          <a:ln w="6350">
            <a:solidFill>
              <a:srgbClr val="00A896"/>
            </a:solidFill>
            <a:prstDash val="solid"/>
          </a:ln>
        </p:spPr>
      </p:sp>
      <p:sp>
        <p:nvSpPr>
          <p:cNvPr id="19" name="Text 16"/>
          <p:cNvSpPr txBox="1"/>
          <p:nvPr/>
        </p:nvSpPr>
        <p:spPr>
          <a:xfrm>
            <a:off x="5074920" y="4453128"/>
            <a:ext cx="329184"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0" name="Text 17"/>
          <p:cNvSpPr txBox="1"/>
          <p:nvPr/>
        </p:nvSpPr>
        <p:spPr>
          <a:xfrm>
            <a:off x="5577840" y="4480560"/>
            <a:ext cx="5577840" cy="256032"/>
          </a:xfrm>
          <a:prstGeom prst="rect">
            <a:avLst/>
          </a:prstGeom>
          <a:noFill/>
          <a:ln/>
        </p:spPr>
        <p:txBody>
          <a:bodyPr wrap="square" lIns="0" tIns="0" rIns="0" bIns="0" rtlCol="0" anchor="t"/>
          <a:lstStyle/>
          <a:p>
            <a:pPr indent="0" marL="0">
              <a:buNone/>
            </a:pPr>
            <a:r>
              <a:rPr lang="en-US" sz="1200" dirty="0">
                <a:solidFill>
                  <a:srgbClr val="27383D"/>
                </a:solidFill>
                <a:latin typeface="Calibri" pitchFamily="34" charset="0"/>
                <a:ea typeface="Calibri" pitchFamily="34" charset="-122"/>
                <a:cs typeface="Calibri" pitchFamily="34" charset="-120"/>
              </a:rPr>
              <a:t>App sends email and OTP back to the backend</a:t>
            </a:r>
            <a:endParaRPr lang="en-US" sz="1200" dirty="0"/>
          </a:p>
        </p:txBody>
      </p:sp>
      <p:sp>
        <p:nvSpPr>
          <p:cNvPr id="21" name="Shape 18"/>
          <p:cNvSpPr/>
          <p:nvPr/>
        </p:nvSpPr>
        <p:spPr>
          <a:xfrm>
            <a:off x="5074920" y="4937760"/>
            <a:ext cx="329184" cy="329184"/>
          </a:xfrm>
          <a:prstGeom prst="ellipse">
            <a:avLst/>
          </a:prstGeom>
          <a:solidFill>
            <a:srgbClr val="00A896"/>
          </a:solidFill>
          <a:ln w="6350">
            <a:solidFill>
              <a:srgbClr val="00A896"/>
            </a:solidFill>
            <a:prstDash val="solid"/>
          </a:ln>
        </p:spPr>
      </p:sp>
      <p:sp>
        <p:nvSpPr>
          <p:cNvPr id="22" name="Text 19"/>
          <p:cNvSpPr txBox="1"/>
          <p:nvPr/>
        </p:nvSpPr>
        <p:spPr>
          <a:xfrm>
            <a:off x="5074920" y="4956048"/>
            <a:ext cx="329184"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3" name="Text 20"/>
          <p:cNvSpPr txBox="1"/>
          <p:nvPr/>
        </p:nvSpPr>
        <p:spPr>
          <a:xfrm>
            <a:off x="5577840" y="4983480"/>
            <a:ext cx="5577840" cy="256032"/>
          </a:xfrm>
          <a:prstGeom prst="rect">
            <a:avLst/>
          </a:prstGeom>
          <a:noFill/>
          <a:ln/>
        </p:spPr>
        <p:txBody>
          <a:bodyPr wrap="square" lIns="0" tIns="0" rIns="0" bIns="0" rtlCol="0" anchor="t"/>
          <a:lstStyle/>
          <a:p>
            <a:pPr indent="0" marL="0">
              <a:buNone/>
            </a:pPr>
            <a:r>
              <a:rPr lang="en-US" sz="1200" dirty="0">
                <a:solidFill>
                  <a:srgbClr val="27383D"/>
                </a:solidFill>
                <a:latin typeface="Calibri" pitchFamily="34" charset="0"/>
                <a:ea typeface="Calibri" pitchFamily="34" charset="-122"/>
                <a:cs typeface="Calibri" pitchFamily="34" charset="-120"/>
              </a:rPr>
              <a:t>Backend forwards the verification request to Supabase Auth</a:t>
            </a:r>
            <a:endParaRPr lang="en-US" sz="1200" dirty="0"/>
          </a:p>
        </p:txBody>
      </p:sp>
      <p:sp>
        <p:nvSpPr>
          <p:cNvPr id="24" name="Shape 21"/>
          <p:cNvSpPr/>
          <p:nvPr/>
        </p:nvSpPr>
        <p:spPr>
          <a:xfrm>
            <a:off x="5074920" y="5440680"/>
            <a:ext cx="329184" cy="329184"/>
          </a:xfrm>
          <a:prstGeom prst="ellipse">
            <a:avLst/>
          </a:prstGeom>
          <a:solidFill>
            <a:srgbClr val="00A896"/>
          </a:solidFill>
          <a:ln w="6350">
            <a:solidFill>
              <a:srgbClr val="00A896"/>
            </a:solidFill>
            <a:prstDash val="solid"/>
          </a:ln>
        </p:spPr>
      </p:sp>
      <p:sp>
        <p:nvSpPr>
          <p:cNvPr id="25" name="Text 22"/>
          <p:cNvSpPr txBox="1"/>
          <p:nvPr/>
        </p:nvSpPr>
        <p:spPr>
          <a:xfrm>
            <a:off x="5074920" y="5458968"/>
            <a:ext cx="329184"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26" name="Text 23"/>
          <p:cNvSpPr txBox="1"/>
          <p:nvPr/>
        </p:nvSpPr>
        <p:spPr>
          <a:xfrm>
            <a:off x="5577840" y="5486400"/>
            <a:ext cx="5577840" cy="256032"/>
          </a:xfrm>
          <a:prstGeom prst="rect">
            <a:avLst/>
          </a:prstGeom>
          <a:noFill/>
          <a:ln/>
        </p:spPr>
        <p:txBody>
          <a:bodyPr wrap="square" lIns="0" tIns="0" rIns="0" bIns="0" rtlCol="0" anchor="t"/>
          <a:lstStyle/>
          <a:p>
            <a:pPr indent="0" marL="0">
              <a:buNone/>
            </a:pPr>
            <a:r>
              <a:rPr lang="en-US" sz="1200" dirty="0">
                <a:solidFill>
                  <a:srgbClr val="27383D"/>
                </a:solidFill>
                <a:latin typeface="Calibri" pitchFamily="34" charset="0"/>
                <a:ea typeface="Calibri" pitchFamily="34" charset="-122"/>
                <a:cs typeface="Calibri" pitchFamily="34" charset="-120"/>
              </a:rPr>
              <a:t>Supabase validates and returns an authenticated session to the client</a:t>
            </a:r>
            <a:endParaRPr lang="en-US" sz="1200" dirty="0"/>
          </a:p>
        </p:txBody>
      </p:sp>
      <p:sp>
        <p:nvSpPr>
          <p:cNvPr id="27" name="Text 24"/>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B47"/>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C39A"/>
                </a:solidFill>
                <a:latin typeface="Calibri" pitchFamily="34" charset="0"/>
                <a:ea typeface="Calibri" pitchFamily="34" charset="-122"/>
                <a:cs typeface="Calibri" pitchFamily="34" charset="-120"/>
              </a:rPr>
              <a:t>SECTION 17</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Database Design</a:t>
            </a:r>
            <a:endParaRPr lang="en-US" sz="3000" dirty="0"/>
          </a:p>
        </p:txBody>
      </p:sp>
      <p:sp>
        <p:nvSpPr>
          <p:cNvPr id="4" name="Text 2"/>
          <p:cNvSpPr txBox="1"/>
          <p:nvPr/>
        </p:nvSpPr>
        <p:spPr>
          <a:xfrm>
            <a:off x="640080" y="1371600"/>
            <a:ext cx="10881360" cy="320040"/>
          </a:xfrm>
          <a:prstGeom prst="rect">
            <a:avLst/>
          </a:prstGeom>
          <a:noFill/>
          <a:ln/>
        </p:spPr>
        <p:txBody>
          <a:bodyPr wrap="square" lIns="0" tIns="0" rIns="0" bIns="0" rtlCol="0" anchor="t"/>
          <a:lstStyle/>
          <a:p>
            <a:pPr indent="0" marL="0">
              <a:buNone/>
            </a:pPr>
            <a:r>
              <a:rPr lang="en-US" sz="1350" dirty="0">
                <a:solidFill>
                  <a:srgbClr val="C9E4E8"/>
                </a:solidFill>
                <a:latin typeface="Calibri" pitchFamily="34" charset="0"/>
                <a:ea typeface="Calibri" pitchFamily="34" charset="-122"/>
                <a:cs typeface="Calibri" pitchFamily="34" charset="-120"/>
              </a:rPr>
              <a:t>A relational schema on PostgreSQL via Supabase, designed for the complete intended system so later modules need no fundamental redesign.</a:t>
            </a:r>
            <a:endParaRPr lang="en-US" sz="1350" dirty="0"/>
          </a:p>
        </p:txBody>
      </p:sp>
      <p:sp>
        <p:nvSpPr>
          <p:cNvPr id="5" name="Shape 3"/>
          <p:cNvSpPr/>
          <p:nvPr/>
        </p:nvSpPr>
        <p:spPr>
          <a:xfrm>
            <a:off x="640080" y="1874520"/>
            <a:ext cx="2587752" cy="1078992"/>
          </a:xfrm>
          <a:prstGeom prst="roundRect">
            <a:avLst>
              <a:gd name="adj" fmla="val 6780"/>
            </a:avLst>
          </a:prstGeom>
          <a:solidFill>
            <a:srgbClr val="12505F"/>
          </a:solidFill>
          <a:ln w="9525">
            <a:solidFill>
              <a:srgbClr val="12505F"/>
            </a:solidFill>
            <a:prstDash val="solid"/>
          </a:ln>
        </p:spPr>
      </p:sp>
      <p:sp>
        <p:nvSpPr>
          <p:cNvPr id="6" name="Text 4"/>
          <p:cNvSpPr txBox="1"/>
          <p:nvPr/>
        </p:nvSpPr>
        <p:spPr>
          <a:xfrm>
            <a:off x="868680" y="203911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Users</a:t>
            </a:r>
            <a:endParaRPr lang="en-US" sz="1300" dirty="0"/>
          </a:p>
        </p:txBody>
      </p:sp>
      <p:sp>
        <p:nvSpPr>
          <p:cNvPr id="7" name="Text 5"/>
          <p:cNvSpPr txBox="1"/>
          <p:nvPr/>
        </p:nvSpPr>
        <p:spPr>
          <a:xfrm>
            <a:off x="868680" y="233172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Base authentication and profile record shared by all roles</a:t>
            </a:r>
            <a:endParaRPr lang="en-US" sz="1050" dirty="0"/>
          </a:p>
        </p:txBody>
      </p:sp>
      <p:sp>
        <p:nvSpPr>
          <p:cNvPr id="8" name="Shape 6"/>
          <p:cNvSpPr/>
          <p:nvPr/>
        </p:nvSpPr>
        <p:spPr>
          <a:xfrm>
            <a:off x="3456432" y="1874520"/>
            <a:ext cx="2587752" cy="1078992"/>
          </a:xfrm>
          <a:prstGeom prst="roundRect">
            <a:avLst>
              <a:gd name="adj" fmla="val 6780"/>
            </a:avLst>
          </a:prstGeom>
          <a:solidFill>
            <a:srgbClr val="12505F"/>
          </a:solidFill>
          <a:ln w="9525">
            <a:solidFill>
              <a:srgbClr val="12505F"/>
            </a:solidFill>
            <a:prstDash val="solid"/>
          </a:ln>
        </p:spPr>
      </p:sp>
      <p:sp>
        <p:nvSpPr>
          <p:cNvPr id="9" name="Text 7"/>
          <p:cNvSpPr txBox="1"/>
          <p:nvPr/>
        </p:nvSpPr>
        <p:spPr>
          <a:xfrm>
            <a:off x="3685032" y="203911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Students</a:t>
            </a:r>
            <a:endParaRPr lang="en-US" sz="1300" dirty="0"/>
          </a:p>
        </p:txBody>
      </p:sp>
      <p:sp>
        <p:nvSpPr>
          <p:cNvPr id="10" name="Text 8"/>
          <p:cNvSpPr txBox="1"/>
          <p:nvPr/>
        </p:nvSpPr>
        <p:spPr>
          <a:xfrm>
            <a:off x="3685032" y="233172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Roll number and associated hostel</a:t>
            </a:r>
            <a:endParaRPr lang="en-US" sz="1050" dirty="0"/>
          </a:p>
        </p:txBody>
      </p:sp>
      <p:sp>
        <p:nvSpPr>
          <p:cNvPr id="11" name="Shape 9"/>
          <p:cNvSpPr/>
          <p:nvPr/>
        </p:nvSpPr>
        <p:spPr>
          <a:xfrm>
            <a:off x="6272784" y="1874520"/>
            <a:ext cx="2587752" cy="1078992"/>
          </a:xfrm>
          <a:prstGeom prst="roundRect">
            <a:avLst>
              <a:gd name="adj" fmla="val 6780"/>
            </a:avLst>
          </a:prstGeom>
          <a:solidFill>
            <a:srgbClr val="12505F"/>
          </a:solidFill>
          <a:ln w="9525">
            <a:solidFill>
              <a:srgbClr val="12505F"/>
            </a:solidFill>
            <a:prstDash val="solid"/>
          </a:ln>
        </p:spPr>
      </p:sp>
      <p:sp>
        <p:nvSpPr>
          <p:cNvPr id="12" name="Text 10"/>
          <p:cNvSpPr txBox="1"/>
          <p:nvPr/>
        </p:nvSpPr>
        <p:spPr>
          <a:xfrm>
            <a:off x="6501384" y="203911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Staff</a:t>
            </a:r>
            <a:endParaRPr lang="en-US" sz="1300" dirty="0"/>
          </a:p>
        </p:txBody>
      </p:sp>
      <p:sp>
        <p:nvSpPr>
          <p:cNvPr id="13" name="Text 11"/>
          <p:cNvSpPr txBox="1"/>
          <p:nvPr/>
        </p:nvSpPr>
        <p:spPr>
          <a:xfrm>
            <a:off x="6501384" y="233172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Laundry-staff designation records</a:t>
            </a:r>
            <a:endParaRPr lang="en-US" sz="1050" dirty="0"/>
          </a:p>
        </p:txBody>
      </p:sp>
      <p:sp>
        <p:nvSpPr>
          <p:cNvPr id="14" name="Shape 12"/>
          <p:cNvSpPr/>
          <p:nvPr/>
        </p:nvSpPr>
        <p:spPr>
          <a:xfrm>
            <a:off x="9089136" y="1874520"/>
            <a:ext cx="2587752" cy="1078992"/>
          </a:xfrm>
          <a:prstGeom prst="roundRect">
            <a:avLst>
              <a:gd name="adj" fmla="val 6780"/>
            </a:avLst>
          </a:prstGeom>
          <a:solidFill>
            <a:srgbClr val="12505F"/>
          </a:solidFill>
          <a:ln w="9525">
            <a:solidFill>
              <a:srgbClr val="12505F"/>
            </a:solidFill>
            <a:prstDash val="solid"/>
          </a:ln>
        </p:spPr>
      </p:sp>
      <p:sp>
        <p:nvSpPr>
          <p:cNvPr id="15" name="Text 13"/>
          <p:cNvSpPr txBox="1"/>
          <p:nvPr/>
        </p:nvSpPr>
        <p:spPr>
          <a:xfrm>
            <a:off x="9317736" y="203911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Administrators</a:t>
            </a:r>
            <a:endParaRPr lang="en-US" sz="1300" dirty="0"/>
          </a:p>
        </p:txBody>
      </p:sp>
      <p:sp>
        <p:nvSpPr>
          <p:cNvPr id="16" name="Text 14"/>
          <p:cNvSpPr txBox="1"/>
          <p:nvPr/>
        </p:nvSpPr>
        <p:spPr>
          <a:xfrm>
            <a:off x="9317736" y="233172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Administrator account records</a:t>
            </a:r>
            <a:endParaRPr lang="en-US" sz="1050" dirty="0"/>
          </a:p>
        </p:txBody>
      </p:sp>
      <p:sp>
        <p:nvSpPr>
          <p:cNvPr id="17" name="Shape 15"/>
          <p:cNvSpPr/>
          <p:nvPr/>
        </p:nvSpPr>
        <p:spPr>
          <a:xfrm>
            <a:off x="640080" y="3108960"/>
            <a:ext cx="2587752" cy="1078992"/>
          </a:xfrm>
          <a:prstGeom prst="roundRect">
            <a:avLst>
              <a:gd name="adj" fmla="val 6780"/>
            </a:avLst>
          </a:prstGeom>
          <a:solidFill>
            <a:srgbClr val="12505F"/>
          </a:solidFill>
          <a:ln w="9525">
            <a:solidFill>
              <a:srgbClr val="12505F"/>
            </a:solidFill>
            <a:prstDash val="solid"/>
          </a:ln>
        </p:spPr>
      </p:sp>
      <p:sp>
        <p:nvSpPr>
          <p:cNvPr id="18" name="Text 16"/>
          <p:cNvSpPr txBox="1"/>
          <p:nvPr/>
        </p:nvSpPr>
        <p:spPr>
          <a:xfrm>
            <a:off x="868680" y="327355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Hostels</a:t>
            </a:r>
            <a:endParaRPr lang="en-US" sz="1300" dirty="0"/>
          </a:p>
        </p:txBody>
      </p:sp>
      <p:sp>
        <p:nvSpPr>
          <p:cNvPr id="19" name="Text 17"/>
          <p:cNvSpPr txBox="1"/>
          <p:nvPr/>
        </p:nvSpPr>
        <p:spPr>
          <a:xfrm>
            <a:off x="868680" y="356616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Hostel records students are associated with</a:t>
            </a:r>
            <a:endParaRPr lang="en-US" sz="1050" dirty="0"/>
          </a:p>
        </p:txBody>
      </p:sp>
      <p:sp>
        <p:nvSpPr>
          <p:cNvPr id="20" name="Shape 18"/>
          <p:cNvSpPr/>
          <p:nvPr/>
        </p:nvSpPr>
        <p:spPr>
          <a:xfrm>
            <a:off x="3456432" y="3108960"/>
            <a:ext cx="2587752" cy="1078992"/>
          </a:xfrm>
          <a:prstGeom prst="roundRect">
            <a:avLst>
              <a:gd name="adj" fmla="val 6780"/>
            </a:avLst>
          </a:prstGeom>
          <a:solidFill>
            <a:srgbClr val="12505F"/>
          </a:solidFill>
          <a:ln w="9525">
            <a:solidFill>
              <a:srgbClr val="12505F"/>
            </a:solidFill>
            <a:prstDash val="solid"/>
          </a:ln>
        </p:spPr>
      </p:sp>
      <p:sp>
        <p:nvSpPr>
          <p:cNvPr id="21" name="Text 19"/>
          <p:cNvSpPr txBox="1"/>
          <p:nvPr/>
        </p:nvSpPr>
        <p:spPr>
          <a:xfrm>
            <a:off x="3685032" y="327355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Laundry Requests</a:t>
            </a:r>
            <a:endParaRPr lang="en-US" sz="1300" dirty="0"/>
          </a:p>
        </p:txBody>
      </p:sp>
      <p:sp>
        <p:nvSpPr>
          <p:cNvPr id="22" name="Text 20"/>
          <p:cNvSpPr txBox="1"/>
          <p:nvPr/>
        </p:nvSpPr>
        <p:spPr>
          <a:xfrm>
            <a:off x="3685032" y="356616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Core record of a submission and its current status</a:t>
            </a:r>
            <a:endParaRPr lang="en-US" sz="1050" dirty="0"/>
          </a:p>
        </p:txBody>
      </p:sp>
      <p:sp>
        <p:nvSpPr>
          <p:cNvPr id="23" name="Shape 21"/>
          <p:cNvSpPr/>
          <p:nvPr/>
        </p:nvSpPr>
        <p:spPr>
          <a:xfrm>
            <a:off x="6272784" y="3108960"/>
            <a:ext cx="2587752" cy="1078992"/>
          </a:xfrm>
          <a:prstGeom prst="roundRect">
            <a:avLst>
              <a:gd name="adj" fmla="val 6780"/>
            </a:avLst>
          </a:prstGeom>
          <a:solidFill>
            <a:srgbClr val="12505F"/>
          </a:solidFill>
          <a:ln w="9525">
            <a:solidFill>
              <a:srgbClr val="12505F"/>
            </a:solidFill>
            <a:prstDash val="solid"/>
          </a:ln>
        </p:spPr>
      </p:sp>
      <p:sp>
        <p:nvSpPr>
          <p:cNvPr id="24" name="Text 22"/>
          <p:cNvSpPr txBox="1"/>
          <p:nvPr/>
        </p:nvSpPr>
        <p:spPr>
          <a:xfrm>
            <a:off x="6501384" y="327355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Laundry Items</a:t>
            </a:r>
            <a:endParaRPr lang="en-US" sz="1300" dirty="0"/>
          </a:p>
        </p:txBody>
      </p:sp>
      <p:sp>
        <p:nvSpPr>
          <p:cNvPr id="25" name="Text 23"/>
          <p:cNvSpPr txBox="1"/>
          <p:nvPr/>
        </p:nvSpPr>
        <p:spPr>
          <a:xfrm>
            <a:off x="6501384" y="356616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Individual items and quantities within a request</a:t>
            </a:r>
            <a:endParaRPr lang="en-US" sz="1050" dirty="0"/>
          </a:p>
        </p:txBody>
      </p:sp>
      <p:sp>
        <p:nvSpPr>
          <p:cNvPr id="26" name="Shape 24"/>
          <p:cNvSpPr/>
          <p:nvPr/>
        </p:nvSpPr>
        <p:spPr>
          <a:xfrm>
            <a:off x="9089136" y="3108960"/>
            <a:ext cx="2587752" cy="1078992"/>
          </a:xfrm>
          <a:prstGeom prst="roundRect">
            <a:avLst>
              <a:gd name="adj" fmla="val 6780"/>
            </a:avLst>
          </a:prstGeom>
          <a:solidFill>
            <a:srgbClr val="12505F"/>
          </a:solidFill>
          <a:ln w="9525">
            <a:solidFill>
              <a:srgbClr val="12505F"/>
            </a:solidFill>
            <a:prstDash val="solid"/>
          </a:ln>
        </p:spPr>
      </p:sp>
      <p:sp>
        <p:nvSpPr>
          <p:cNvPr id="27" name="Text 25"/>
          <p:cNvSpPr txBox="1"/>
          <p:nvPr/>
        </p:nvSpPr>
        <p:spPr>
          <a:xfrm>
            <a:off x="9317736" y="327355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Status History</a:t>
            </a:r>
            <a:endParaRPr lang="en-US" sz="1300" dirty="0"/>
          </a:p>
        </p:txBody>
      </p:sp>
      <p:sp>
        <p:nvSpPr>
          <p:cNvPr id="28" name="Text 26"/>
          <p:cNvSpPr txBox="1"/>
          <p:nvPr/>
        </p:nvSpPr>
        <p:spPr>
          <a:xfrm>
            <a:off x="9317736" y="356616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Append-only log of status transitions</a:t>
            </a:r>
            <a:endParaRPr lang="en-US" sz="1050" dirty="0"/>
          </a:p>
        </p:txBody>
      </p:sp>
      <p:sp>
        <p:nvSpPr>
          <p:cNvPr id="29" name="Shape 27"/>
          <p:cNvSpPr/>
          <p:nvPr/>
        </p:nvSpPr>
        <p:spPr>
          <a:xfrm>
            <a:off x="640080" y="4343400"/>
            <a:ext cx="2587752" cy="1078992"/>
          </a:xfrm>
          <a:prstGeom prst="roundRect">
            <a:avLst>
              <a:gd name="adj" fmla="val 6780"/>
            </a:avLst>
          </a:prstGeom>
          <a:solidFill>
            <a:srgbClr val="12505F"/>
          </a:solidFill>
          <a:ln w="9525">
            <a:solidFill>
              <a:srgbClr val="12505F"/>
            </a:solidFill>
            <a:prstDash val="solid"/>
          </a:ln>
        </p:spPr>
      </p:sp>
      <p:sp>
        <p:nvSpPr>
          <p:cNvPr id="30" name="Text 28"/>
          <p:cNvSpPr txBox="1"/>
          <p:nvPr/>
        </p:nvSpPr>
        <p:spPr>
          <a:xfrm>
            <a:off x="868680" y="450799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Laundry Batches</a:t>
            </a:r>
            <a:endParaRPr lang="en-US" sz="1300" dirty="0"/>
          </a:p>
        </p:txBody>
      </p:sp>
      <p:sp>
        <p:nvSpPr>
          <p:cNvPr id="31" name="Text 29"/>
          <p:cNvSpPr txBox="1"/>
          <p:nvPr/>
        </p:nvSpPr>
        <p:spPr>
          <a:xfrm>
            <a:off x="868680" y="480060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Grouping of requests processed together</a:t>
            </a:r>
            <a:endParaRPr lang="en-US" sz="1050" dirty="0"/>
          </a:p>
        </p:txBody>
      </p:sp>
      <p:sp>
        <p:nvSpPr>
          <p:cNvPr id="32" name="Shape 30"/>
          <p:cNvSpPr/>
          <p:nvPr/>
        </p:nvSpPr>
        <p:spPr>
          <a:xfrm>
            <a:off x="3456432" y="4343400"/>
            <a:ext cx="2587752" cy="1078992"/>
          </a:xfrm>
          <a:prstGeom prst="roundRect">
            <a:avLst>
              <a:gd name="adj" fmla="val 6780"/>
            </a:avLst>
          </a:prstGeom>
          <a:solidFill>
            <a:srgbClr val="12505F"/>
          </a:solidFill>
          <a:ln w="9525">
            <a:solidFill>
              <a:srgbClr val="12505F"/>
            </a:solidFill>
            <a:prstDash val="solid"/>
          </a:ln>
        </p:spPr>
      </p:sp>
      <p:sp>
        <p:nvSpPr>
          <p:cNvPr id="33" name="Text 31"/>
          <p:cNvSpPr txBox="1"/>
          <p:nvPr/>
        </p:nvSpPr>
        <p:spPr>
          <a:xfrm>
            <a:off x="3685032" y="450799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Pickup Tokens</a:t>
            </a:r>
            <a:endParaRPr lang="en-US" sz="1300" dirty="0"/>
          </a:p>
        </p:txBody>
      </p:sp>
      <p:sp>
        <p:nvSpPr>
          <p:cNvPr id="34" name="Text 32"/>
          <p:cNvSpPr txBox="1"/>
          <p:nvPr/>
        </p:nvSpPr>
        <p:spPr>
          <a:xfrm>
            <a:off x="3685032" y="480060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Single-use QR tokens issued per request</a:t>
            </a:r>
            <a:endParaRPr lang="en-US" sz="1050" dirty="0"/>
          </a:p>
        </p:txBody>
      </p:sp>
      <p:sp>
        <p:nvSpPr>
          <p:cNvPr id="35" name="Shape 33"/>
          <p:cNvSpPr/>
          <p:nvPr/>
        </p:nvSpPr>
        <p:spPr>
          <a:xfrm>
            <a:off x="6272784" y="4343400"/>
            <a:ext cx="2587752" cy="1078992"/>
          </a:xfrm>
          <a:prstGeom prst="roundRect">
            <a:avLst>
              <a:gd name="adj" fmla="val 6780"/>
            </a:avLst>
          </a:prstGeom>
          <a:solidFill>
            <a:srgbClr val="12505F"/>
          </a:solidFill>
          <a:ln w="9525">
            <a:solidFill>
              <a:srgbClr val="12505F"/>
            </a:solidFill>
            <a:prstDash val="solid"/>
          </a:ln>
        </p:spPr>
      </p:sp>
      <p:sp>
        <p:nvSpPr>
          <p:cNvPr id="36" name="Text 34"/>
          <p:cNvSpPr txBox="1"/>
          <p:nvPr/>
        </p:nvSpPr>
        <p:spPr>
          <a:xfrm>
            <a:off x="6501384" y="450799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Complaints</a:t>
            </a:r>
            <a:endParaRPr lang="en-US" sz="1300" dirty="0"/>
          </a:p>
        </p:txBody>
      </p:sp>
      <p:sp>
        <p:nvSpPr>
          <p:cNvPr id="37" name="Text 35"/>
          <p:cNvSpPr txBox="1"/>
          <p:nvPr/>
        </p:nvSpPr>
        <p:spPr>
          <a:xfrm>
            <a:off x="6501384" y="480060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Student issues linked to a request, with resolution</a:t>
            </a:r>
            <a:endParaRPr lang="en-US" sz="1050" dirty="0"/>
          </a:p>
        </p:txBody>
      </p:sp>
      <p:sp>
        <p:nvSpPr>
          <p:cNvPr id="38" name="Shape 36"/>
          <p:cNvSpPr/>
          <p:nvPr/>
        </p:nvSpPr>
        <p:spPr>
          <a:xfrm>
            <a:off x="9089136" y="4343400"/>
            <a:ext cx="2587752" cy="1078992"/>
          </a:xfrm>
          <a:prstGeom prst="roundRect">
            <a:avLst>
              <a:gd name="adj" fmla="val 6780"/>
            </a:avLst>
          </a:prstGeom>
          <a:solidFill>
            <a:srgbClr val="12505F"/>
          </a:solidFill>
          <a:ln w="9525">
            <a:solidFill>
              <a:srgbClr val="12505F"/>
            </a:solidFill>
            <a:prstDash val="solid"/>
          </a:ln>
        </p:spPr>
      </p:sp>
      <p:sp>
        <p:nvSpPr>
          <p:cNvPr id="39" name="Text 37"/>
          <p:cNvSpPr txBox="1"/>
          <p:nvPr/>
        </p:nvSpPr>
        <p:spPr>
          <a:xfrm>
            <a:off x="9317736" y="4507992"/>
            <a:ext cx="2194560" cy="256032"/>
          </a:xfrm>
          <a:prstGeom prst="rect">
            <a:avLst/>
          </a:prstGeom>
          <a:noFill/>
          <a:ln/>
        </p:spPr>
        <p:txBody>
          <a:bodyPr wrap="square" lIns="0" tIns="0" rIns="0" bIns="0" rtlCol="0" anchor="t"/>
          <a:lstStyle/>
          <a:p>
            <a:pPr indent="0" marL="0">
              <a:buNone/>
            </a:pPr>
            <a:r>
              <a:rPr lang="en-US" sz="1300" b="1" dirty="0">
                <a:solidFill>
                  <a:srgbClr val="02C39A"/>
                </a:solidFill>
                <a:latin typeface="Calibri" pitchFamily="34" charset="0"/>
                <a:ea typeface="Calibri" pitchFamily="34" charset="-122"/>
                <a:cs typeface="Calibri" pitchFamily="34" charset="-120"/>
              </a:rPr>
              <a:t>Notifications</a:t>
            </a:r>
            <a:endParaRPr lang="en-US" sz="1300" dirty="0"/>
          </a:p>
        </p:txBody>
      </p:sp>
      <p:sp>
        <p:nvSpPr>
          <p:cNvPr id="40" name="Text 38"/>
          <p:cNvSpPr txBox="1"/>
          <p:nvPr/>
        </p:nvSpPr>
        <p:spPr>
          <a:xfrm>
            <a:off x="9317736" y="4800600"/>
            <a:ext cx="2194560" cy="5486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In-app messages on status or complaint changes</a:t>
            </a:r>
            <a:endParaRPr lang="en-US" sz="1050" dirty="0"/>
          </a:p>
        </p:txBody>
      </p:sp>
      <p:sp>
        <p:nvSpPr>
          <p:cNvPr id="41" name="Text 39"/>
          <p:cNvSpPr txBox="1"/>
          <p:nvPr/>
        </p:nvSpPr>
        <p:spPr>
          <a:xfrm>
            <a:off x="640080" y="5806440"/>
            <a:ext cx="10881360" cy="274320"/>
          </a:xfrm>
          <a:prstGeom prst="rect">
            <a:avLst/>
          </a:prstGeom>
          <a:noFill/>
          <a:ln/>
        </p:spPr>
        <p:txBody>
          <a:bodyPr wrap="square" lIns="0" tIns="0" rIns="0" bIns="0" rtlCol="0" anchor="t"/>
          <a:lstStyle/>
          <a:p>
            <a:pPr indent="0" marL="0">
              <a:buNone/>
            </a:pPr>
            <a:r>
              <a:rPr lang="en-US" sz="1200" i="1" dirty="0">
                <a:solidFill>
                  <a:srgbClr val="9FC7CE"/>
                </a:solidFill>
                <a:latin typeface="Calibri" pitchFamily="34" charset="0"/>
                <a:ea typeface="Calibri" pitchFamily="34" charset="-122"/>
                <a:cs typeface="Calibri" pitchFamily="34" charset="-120"/>
              </a:rPr>
              <a:t>Plus an Audit Logs table for traceability of significant actions.  Currently configured and tested: Users and Hostels, with verified Supabase connectivity.</a:t>
            </a:r>
            <a:endParaRPr lang="en-US" sz="1200" dirty="0"/>
          </a:p>
        </p:txBody>
      </p:sp>
      <p:sp>
        <p:nvSpPr>
          <p:cNvPr id="42" name="Text 40"/>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18</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640080" y="1463040"/>
            <a:ext cx="3465576" cy="2148840"/>
          </a:xfrm>
          <a:prstGeom prst="roundRect">
            <a:avLst>
              <a:gd name="adj" fmla="val 3404"/>
            </a:avLst>
          </a:prstGeom>
          <a:solidFill>
            <a:srgbClr val="E9F3F4"/>
          </a:solidFill>
          <a:ln w="9525">
            <a:solidFill>
              <a:srgbClr val="E9F3F4"/>
            </a:solidFill>
            <a:prstDash val="solid"/>
          </a:ln>
        </p:spPr>
      </p:sp>
      <p:sp>
        <p:nvSpPr>
          <p:cNvPr id="5" name="Text 3"/>
          <p:cNvSpPr txBox="1"/>
          <p:nvPr/>
        </p:nvSpPr>
        <p:spPr>
          <a:xfrm>
            <a:off x="932688" y="1719072"/>
            <a:ext cx="2926080" cy="237744"/>
          </a:xfrm>
          <a:prstGeom prst="rect">
            <a:avLst/>
          </a:prstGeom>
          <a:noFill/>
          <a:ln/>
        </p:spPr>
        <p:txBody>
          <a:bodyPr wrap="square" lIns="0" tIns="0" rIns="0" bIns="0" rtlCol="0" anchor="t"/>
          <a:lstStyle/>
          <a:p>
            <a:pPr indent="0" marL="0">
              <a:buNone/>
            </a:pPr>
            <a:r>
              <a:rPr lang="en-US" sz="1050" b="1" spc="150" kern="0" dirty="0">
                <a:solidFill>
                  <a:srgbClr val="6E8288"/>
                </a:solidFill>
                <a:latin typeface="Calibri" pitchFamily="34" charset="0"/>
                <a:ea typeface="Calibri" pitchFamily="34" charset="-122"/>
                <a:cs typeface="Calibri" pitchFamily="34" charset="-120"/>
              </a:rPr>
              <a:t>MOBILE FRONTEND</a:t>
            </a:r>
            <a:endParaRPr lang="en-US" sz="1050" dirty="0"/>
          </a:p>
        </p:txBody>
      </p:sp>
      <p:sp>
        <p:nvSpPr>
          <p:cNvPr id="6" name="Text 4"/>
          <p:cNvSpPr txBox="1"/>
          <p:nvPr/>
        </p:nvSpPr>
        <p:spPr>
          <a:xfrm>
            <a:off x="932688" y="2029968"/>
            <a:ext cx="2926080" cy="621792"/>
          </a:xfrm>
          <a:prstGeom prst="rect">
            <a:avLst/>
          </a:prstGeom>
          <a:noFill/>
          <a:ln/>
        </p:spPr>
        <p:txBody>
          <a:bodyPr wrap="square" lIns="0" tIns="0" rIns="0" bIns="0" rtlCol="0" anchor="t"/>
          <a:lstStyle/>
          <a:p>
            <a:pPr indent="0" marL="0">
              <a:lnSpc>
                <a:spcPts val="2000"/>
              </a:lnSpc>
              <a:buNone/>
            </a:pPr>
            <a:r>
              <a:rPr lang="en-US" sz="1500" b="1" dirty="0">
                <a:solidFill>
                  <a:srgbClr val="028090"/>
                </a:solidFill>
                <a:latin typeface="Cambria" pitchFamily="34" charset="0"/>
                <a:ea typeface="Cambria" pitchFamily="34" charset="-122"/>
                <a:cs typeface="Cambria" pitchFamily="34" charset="-120"/>
              </a:rPr>
              <a:t>React Native · Expo</a:t>
            </a:r>
            <a:endParaRPr lang="en-US" sz="1500" dirty="0"/>
          </a:p>
          <a:p>
            <a:pPr indent="0" marL="0">
              <a:lnSpc>
                <a:spcPts val="2000"/>
              </a:lnSpc>
              <a:buNone/>
            </a:pPr>
            <a:r>
              <a:rPr lang="en-US" sz="1500" b="1" dirty="0">
                <a:solidFill>
                  <a:srgbClr val="028090"/>
                </a:solidFill>
                <a:latin typeface="Cambria" pitchFamily="34" charset="0"/>
                <a:ea typeface="Cambria" pitchFamily="34" charset="-122"/>
                <a:cs typeface="Cambria" pitchFamily="34" charset="-120"/>
              </a:rPr>
              <a:t>TypeScript · Expo Router</a:t>
            </a:r>
            <a:endParaRPr lang="en-US" sz="1500" dirty="0"/>
          </a:p>
        </p:txBody>
      </p:sp>
      <p:sp>
        <p:nvSpPr>
          <p:cNvPr id="7" name="Text 5"/>
          <p:cNvSpPr txBox="1"/>
          <p:nvPr/>
        </p:nvSpPr>
        <p:spPr>
          <a:xfrm>
            <a:off x="932688" y="2761488"/>
            <a:ext cx="2971800" cy="68580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Cross-platform from one codebase, with file-based routing.</a:t>
            </a:r>
            <a:endParaRPr lang="en-US" sz="1150" dirty="0"/>
          </a:p>
        </p:txBody>
      </p:sp>
      <p:sp>
        <p:nvSpPr>
          <p:cNvPr id="8" name="Shape 6"/>
          <p:cNvSpPr/>
          <p:nvPr/>
        </p:nvSpPr>
        <p:spPr>
          <a:xfrm>
            <a:off x="4379976" y="1463040"/>
            <a:ext cx="3465576" cy="2148840"/>
          </a:xfrm>
          <a:prstGeom prst="roundRect">
            <a:avLst>
              <a:gd name="adj" fmla="val 3404"/>
            </a:avLst>
          </a:prstGeom>
          <a:solidFill>
            <a:srgbClr val="E9F3F4"/>
          </a:solidFill>
          <a:ln w="9525">
            <a:solidFill>
              <a:srgbClr val="E9F3F4"/>
            </a:solidFill>
            <a:prstDash val="solid"/>
          </a:ln>
        </p:spPr>
      </p:sp>
      <p:sp>
        <p:nvSpPr>
          <p:cNvPr id="9" name="Text 7"/>
          <p:cNvSpPr txBox="1"/>
          <p:nvPr/>
        </p:nvSpPr>
        <p:spPr>
          <a:xfrm>
            <a:off x="4672584" y="1719072"/>
            <a:ext cx="2926080" cy="237744"/>
          </a:xfrm>
          <a:prstGeom prst="rect">
            <a:avLst/>
          </a:prstGeom>
          <a:noFill/>
          <a:ln/>
        </p:spPr>
        <p:txBody>
          <a:bodyPr wrap="square" lIns="0" tIns="0" rIns="0" bIns="0" rtlCol="0" anchor="t"/>
          <a:lstStyle/>
          <a:p>
            <a:pPr indent="0" marL="0">
              <a:buNone/>
            </a:pPr>
            <a:r>
              <a:rPr lang="en-US" sz="1050" b="1" spc="150" kern="0" dirty="0">
                <a:solidFill>
                  <a:srgbClr val="6E8288"/>
                </a:solidFill>
                <a:latin typeface="Calibri" pitchFamily="34" charset="0"/>
                <a:ea typeface="Calibri" pitchFamily="34" charset="-122"/>
                <a:cs typeface="Calibri" pitchFamily="34" charset="-120"/>
              </a:rPr>
              <a:t>BACKEND</a:t>
            </a:r>
            <a:endParaRPr lang="en-US" sz="1050" dirty="0"/>
          </a:p>
        </p:txBody>
      </p:sp>
      <p:sp>
        <p:nvSpPr>
          <p:cNvPr id="10" name="Text 8"/>
          <p:cNvSpPr txBox="1"/>
          <p:nvPr/>
        </p:nvSpPr>
        <p:spPr>
          <a:xfrm>
            <a:off x="4672584" y="2029968"/>
            <a:ext cx="2926080" cy="621792"/>
          </a:xfrm>
          <a:prstGeom prst="rect">
            <a:avLst/>
          </a:prstGeom>
          <a:noFill/>
          <a:ln/>
        </p:spPr>
        <p:txBody>
          <a:bodyPr wrap="square" lIns="0" tIns="0" rIns="0" bIns="0" rtlCol="0" anchor="t"/>
          <a:lstStyle/>
          <a:p>
            <a:pPr indent="0" marL="0">
              <a:lnSpc>
                <a:spcPts val="2000"/>
              </a:lnSpc>
              <a:buNone/>
            </a:pPr>
            <a:r>
              <a:rPr lang="en-US" sz="1500" b="1" dirty="0">
                <a:solidFill>
                  <a:srgbClr val="028090"/>
                </a:solidFill>
                <a:latin typeface="Cambria" pitchFamily="34" charset="0"/>
                <a:ea typeface="Cambria" pitchFamily="34" charset="-122"/>
                <a:cs typeface="Cambria" pitchFamily="34" charset="-120"/>
              </a:rPr>
              <a:t>Node.js · Express.js</a:t>
            </a:r>
            <a:endParaRPr lang="en-US" sz="1500" dirty="0"/>
          </a:p>
        </p:txBody>
      </p:sp>
      <p:sp>
        <p:nvSpPr>
          <p:cNvPr id="11" name="Text 9"/>
          <p:cNvSpPr txBox="1"/>
          <p:nvPr/>
        </p:nvSpPr>
        <p:spPr>
          <a:xfrm>
            <a:off x="4672584" y="2761488"/>
            <a:ext cx="2971800" cy="68580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Lightweight REST layer holding all validation and business rules.</a:t>
            </a:r>
            <a:endParaRPr lang="en-US" sz="1150" dirty="0"/>
          </a:p>
        </p:txBody>
      </p:sp>
      <p:sp>
        <p:nvSpPr>
          <p:cNvPr id="12" name="Shape 10"/>
          <p:cNvSpPr/>
          <p:nvPr/>
        </p:nvSpPr>
        <p:spPr>
          <a:xfrm>
            <a:off x="8119872" y="1463040"/>
            <a:ext cx="3465576" cy="2148840"/>
          </a:xfrm>
          <a:prstGeom prst="roundRect">
            <a:avLst>
              <a:gd name="adj" fmla="val 3404"/>
            </a:avLst>
          </a:prstGeom>
          <a:solidFill>
            <a:srgbClr val="E9F3F4"/>
          </a:solidFill>
          <a:ln w="9525">
            <a:solidFill>
              <a:srgbClr val="E9F3F4"/>
            </a:solidFill>
            <a:prstDash val="solid"/>
          </a:ln>
        </p:spPr>
      </p:sp>
      <p:sp>
        <p:nvSpPr>
          <p:cNvPr id="13" name="Text 11"/>
          <p:cNvSpPr txBox="1"/>
          <p:nvPr/>
        </p:nvSpPr>
        <p:spPr>
          <a:xfrm>
            <a:off x="8412480" y="1719072"/>
            <a:ext cx="2926080" cy="237744"/>
          </a:xfrm>
          <a:prstGeom prst="rect">
            <a:avLst/>
          </a:prstGeom>
          <a:noFill/>
          <a:ln/>
        </p:spPr>
        <p:txBody>
          <a:bodyPr wrap="square" lIns="0" tIns="0" rIns="0" bIns="0" rtlCol="0" anchor="t"/>
          <a:lstStyle/>
          <a:p>
            <a:pPr indent="0" marL="0">
              <a:buNone/>
            </a:pPr>
            <a:r>
              <a:rPr lang="en-US" sz="1050" b="1" spc="150" kern="0" dirty="0">
                <a:solidFill>
                  <a:srgbClr val="6E8288"/>
                </a:solidFill>
                <a:latin typeface="Calibri" pitchFamily="34" charset="0"/>
                <a:ea typeface="Calibri" pitchFamily="34" charset="-122"/>
                <a:cs typeface="Calibri" pitchFamily="34" charset="-120"/>
              </a:rPr>
              <a:t>AUTHENTICATION</a:t>
            </a:r>
            <a:endParaRPr lang="en-US" sz="1050" dirty="0"/>
          </a:p>
        </p:txBody>
      </p:sp>
      <p:sp>
        <p:nvSpPr>
          <p:cNvPr id="14" name="Text 12"/>
          <p:cNvSpPr txBox="1"/>
          <p:nvPr/>
        </p:nvSpPr>
        <p:spPr>
          <a:xfrm>
            <a:off x="8412480" y="2029968"/>
            <a:ext cx="2926080" cy="621792"/>
          </a:xfrm>
          <a:prstGeom prst="rect">
            <a:avLst/>
          </a:prstGeom>
          <a:noFill/>
          <a:ln/>
        </p:spPr>
        <p:txBody>
          <a:bodyPr wrap="square" lIns="0" tIns="0" rIns="0" bIns="0" rtlCol="0" anchor="t"/>
          <a:lstStyle/>
          <a:p>
            <a:pPr indent="0" marL="0">
              <a:lnSpc>
                <a:spcPts val="2000"/>
              </a:lnSpc>
              <a:buNone/>
            </a:pPr>
            <a:r>
              <a:rPr lang="en-US" sz="1500" b="1" dirty="0">
                <a:solidFill>
                  <a:srgbClr val="028090"/>
                </a:solidFill>
                <a:latin typeface="Cambria" pitchFamily="34" charset="0"/>
                <a:ea typeface="Cambria" pitchFamily="34" charset="-122"/>
                <a:cs typeface="Cambria" pitchFamily="34" charset="-120"/>
              </a:rPr>
              <a:t>Supabase Authentication</a:t>
            </a:r>
            <a:endParaRPr lang="en-US" sz="1500" dirty="0"/>
          </a:p>
        </p:txBody>
      </p:sp>
      <p:sp>
        <p:nvSpPr>
          <p:cNvPr id="15" name="Text 13"/>
          <p:cNvSpPr txBox="1"/>
          <p:nvPr/>
        </p:nvSpPr>
        <p:spPr>
          <a:xfrm>
            <a:off x="8412480" y="2761488"/>
            <a:ext cx="2971800" cy="68580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Managed OTP issue and verification against institutional email.</a:t>
            </a:r>
            <a:endParaRPr lang="en-US" sz="1150" dirty="0"/>
          </a:p>
        </p:txBody>
      </p:sp>
      <p:sp>
        <p:nvSpPr>
          <p:cNvPr id="16" name="Shape 14"/>
          <p:cNvSpPr/>
          <p:nvPr/>
        </p:nvSpPr>
        <p:spPr>
          <a:xfrm>
            <a:off x="640080" y="3840480"/>
            <a:ext cx="3465576" cy="2148840"/>
          </a:xfrm>
          <a:prstGeom prst="roundRect">
            <a:avLst>
              <a:gd name="adj" fmla="val 3404"/>
            </a:avLst>
          </a:prstGeom>
          <a:solidFill>
            <a:srgbClr val="F4F9F9"/>
          </a:solidFill>
          <a:ln w="9525">
            <a:solidFill>
              <a:srgbClr val="F4F9F9"/>
            </a:solidFill>
            <a:prstDash val="solid"/>
          </a:ln>
        </p:spPr>
      </p:sp>
      <p:sp>
        <p:nvSpPr>
          <p:cNvPr id="17" name="Text 15"/>
          <p:cNvSpPr txBox="1"/>
          <p:nvPr/>
        </p:nvSpPr>
        <p:spPr>
          <a:xfrm>
            <a:off x="932688" y="4096512"/>
            <a:ext cx="2926080" cy="237744"/>
          </a:xfrm>
          <a:prstGeom prst="rect">
            <a:avLst/>
          </a:prstGeom>
          <a:noFill/>
          <a:ln/>
        </p:spPr>
        <p:txBody>
          <a:bodyPr wrap="square" lIns="0" tIns="0" rIns="0" bIns="0" rtlCol="0" anchor="t"/>
          <a:lstStyle/>
          <a:p>
            <a:pPr indent="0" marL="0">
              <a:buNone/>
            </a:pPr>
            <a:r>
              <a:rPr lang="en-US" sz="1050" b="1" spc="150" kern="0" dirty="0">
                <a:solidFill>
                  <a:srgbClr val="6E8288"/>
                </a:solidFill>
                <a:latin typeface="Calibri" pitchFamily="34" charset="0"/>
                <a:ea typeface="Calibri" pitchFamily="34" charset="-122"/>
                <a:cs typeface="Calibri" pitchFamily="34" charset="-120"/>
              </a:rPr>
              <a:t>DATABASE</a:t>
            </a:r>
            <a:endParaRPr lang="en-US" sz="1050" dirty="0"/>
          </a:p>
        </p:txBody>
      </p:sp>
      <p:sp>
        <p:nvSpPr>
          <p:cNvPr id="18" name="Text 16"/>
          <p:cNvSpPr txBox="1"/>
          <p:nvPr/>
        </p:nvSpPr>
        <p:spPr>
          <a:xfrm>
            <a:off x="932688" y="4407408"/>
            <a:ext cx="2926080" cy="621792"/>
          </a:xfrm>
          <a:prstGeom prst="rect">
            <a:avLst/>
          </a:prstGeom>
          <a:noFill/>
          <a:ln/>
        </p:spPr>
        <p:txBody>
          <a:bodyPr wrap="square" lIns="0" tIns="0" rIns="0" bIns="0" rtlCol="0" anchor="t"/>
          <a:lstStyle/>
          <a:p>
            <a:pPr indent="0" marL="0">
              <a:lnSpc>
                <a:spcPts val="2000"/>
              </a:lnSpc>
              <a:buNone/>
            </a:pPr>
            <a:r>
              <a:rPr lang="en-US" sz="1500" b="1" dirty="0">
                <a:solidFill>
                  <a:srgbClr val="028090"/>
                </a:solidFill>
                <a:latin typeface="Cambria" pitchFamily="34" charset="0"/>
                <a:ea typeface="Cambria" pitchFamily="34" charset="-122"/>
                <a:cs typeface="Cambria" pitchFamily="34" charset="-120"/>
              </a:rPr>
              <a:t>PostgreSQL via Supabase</a:t>
            </a:r>
            <a:endParaRPr lang="en-US" sz="1500" dirty="0"/>
          </a:p>
        </p:txBody>
      </p:sp>
      <p:sp>
        <p:nvSpPr>
          <p:cNvPr id="19" name="Text 17"/>
          <p:cNvSpPr txBox="1"/>
          <p:nvPr/>
        </p:nvSpPr>
        <p:spPr>
          <a:xfrm>
            <a:off x="932688" y="5138928"/>
            <a:ext cx="2971800" cy="68580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Relational integrity for requests, tokens and status history.</a:t>
            </a:r>
            <a:endParaRPr lang="en-US" sz="1150" dirty="0"/>
          </a:p>
        </p:txBody>
      </p:sp>
      <p:sp>
        <p:nvSpPr>
          <p:cNvPr id="20" name="Shape 18"/>
          <p:cNvSpPr/>
          <p:nvPr/>
        </p:nvSpPr>
        <p:spPr>
          <a:xfrm>
            <a:off x="4379976" y="3840480"/>
            <a:ext cx="3465576" cy="2148840"/>
          </a:xfrm>
          <a:prstGeom prst="roundRect">
            <a:avLst>
              <a:gd name="adj" fmla="val 3404"/>
            </a:avLst>
          </a:prstGeom>
          <a:solidFill>
            <a:srgbClr val="F4F9F9"/>
          </a:solidFill>
          <a:ln w="9525">
            <a:solidFill>
              <a:srgbClr val="F4F9F9"/>
            </a:solidFill>
            <a:prstDash val="solid"/>
          </a:ln>
        </p:spPr>
      </p:sp>
      <p:sp>
        <p:nvSpPr>
          <p:cNvPr id="21" name="Text 19"/>
          <p:cNvSpPr txBox="1"/>
          <p:nvPr/>
        </p:nvSpPr>
        <p:spPr>
          <a:xfrm>
            <a:off x="4672584" y="4096512"/>
            <a:ext cx="2926080" cy="237744"/>
          </a:xfrm>
          <a:prstGeom prst="rect">
            <a:avLst/>
          </a:prstGeom>
          <a:noFill/>
          <a:ln/>
        </p:spPr>
        <p:txBody>
          <a:bodyPr wrap="square" lIns="0" tIns="0" rIns="0" bIns="0" rtlCol="0" anchor="t"/>
          <a:lstStyle/>
          <a:p>
            <a:pPr indent="0" marL="0">
              <a:buNone/>
            </a:pPr>
            <a:r>
              <a:rPr lang="en-US" sz="1050" b="1" spc="150" kern="0" dirty="0">
                <a:solidFill>
                  <a:srgbClr val="6E8288"/>
                </a:solidFill>
                <a:latin typeface="Calibri" pitchFamily="34" charset="0"/>
                <a:ea typeface="Calibri" pitchFamily="34" charset="-122"/>
                <a:cs typeface="Calibri" pitchFamily="34" charset="-120"/>
              </a:rPr>
              <a:t>VERSION CONTROL</a:t>
            </a:r>
            <a:endParaRPr lang="en-US" sz="1050" dirty="0"/>
          </a:p>
        </p:txBody>
      </p:sp>
      <p:sp>
        <p:nvSpPr>
          <p:cNvPr id="22" name="Text 20"/>
          <p:cNvSpPr txBox="1"/>
          <p:nvPr/>
        </p:nvSpPr>
        <p:spPr>
          <a:xfrm>
            <a:off x="4672584" y="4407408"/>
            <a:ext cx="2926080" cy="621792"/>
          </a:xfrm>
          <a:prstGeom prst="rect">
            <a:avLst/>
          </a:prstGeom>
          <a:noFill/>
          <a:ln/>
        </p:spPr>
        <p:txBody>
          <a:bodyPr wrap="square" lIns="0" tIns="0" rIns="0" bIns="0" rtlCol="0" anchor="t"/>
          <a:lstStyle/>
          <a:p>
            <a:pPr indent="0" marL="0">
              <a:lnSpc>
                <a:spcPts val="2000"/>
              </a:lnSpc>
              <a:buNone/>
            </a:pPr>
            <a:r>
              <a:rPr lang="en-US" sz="1500" b="1" dirty="0">
                <a:solidFill>
                  <a:srgbClr val="028090"/>
                </a:solidFill>
                <a:latin typeface="Cambria" pitchFamily="34" charset="0"/>
                <a:ea typeface="Cambria" pitchFamily="34" charset="-122"/>
                <a:cs typeface="Cambria" pitchFamily="34" charset="-120"/>
              </a:rPr>
              <a:t>Git · GitHub</a:t>
            </a:r>
            <a:endParaRPr lang="en-US" sz="1500" dirty="0"/>
          </a:p>
        </p:txBody>
      </p:sp>
      <p:sp>
        <p:nvSpPr>
          <p:cNvPr id="23" name="Text 21"/>
          <p:cNvSpPr txBox="1"/>
          <p:nvPr/>
        </p:nvSpPr>
        <p:spPr>
          <a:xfrm>
            <a:off x="4672584" y="5138928"/>
            <a:ext cx="2971800" cy="68580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Branch-per-member workflow with pull requests into main.</a:t>
            </a:r>
            <a:endParaRPr lang="en-US" sz="1150" dirty="0"/>
          </a:p>
        </p:txBody>
      </p:sp>
      <p:sp>
        <p:nvSpPr>
          <p:cNvPr id="24" name="Shape 22"/>
          <p:cNvSpPr/>
          <p:nvPr/>
        </p:nvSpPr>
        <p:spPr>
          <a:xfrm>
            <a:off x="8119872" y="3840480"/>
            <a:ext cx="3465576" cy="2148840"/>
          </a:xfrm>
          <a:prstGeom prst="roundRect">
            <a:avLst>
              <a:gd name="adj" fmla="val 3404"/>
            </a:avLst>
          </a:prstGeom>
          <a:solidFill>
            <a:srgbClr val="F4F9F9"/>
          </a:solidFill>
          <a:ln w="9525">
            <a:solidFill>
              <a:srgbClr val="F4F9F9"/>
            </a:solidFill>
            <a:prstDash val="solid"/>
          </a:ln>
        </p:spPr>
      </p:sp>
      <p:sp>
        <p:nvSpPr>
          <p:cNvPr id="25" name="Text 23"/>
          <p:cNvSpPr txBox="1"/>
          <p:nvPr/>
        </p:nvSpPr>
        <p:spPr>
          <a:xfrm>
            <a:off x="8412480" y="4096512"/>
            <a:ext cx="2926080" cy="237744"/>
          </a:xfrm>
          <a:prstGeom prst="rect">
            <a:avLst/>
          </a:prstGeom>
          <a:noFill/>
          <a:ln/>
        </p:spPr>
        <p:txBody>
          <a:bodyPr wrap="square" lIns="0" tIns="0" rIns="0" bIns="0" rtlCol="0" anchor="t"/>
          <a:lstStyle/>
          <a:p>
            <a:pPr indent="0" marL="0">
              <a:buNone/>
            </a:pPr>
            <a:r>
              <a:rPr lang="en-US" sz="1050" b="1" spc="150" kern="0" dirty="0">
                <a:solidFill>
                  <a:srgbClr val="6E8288"/>
                </a:solidFill>
                <a:latin typeface="Calibri" pitchFamily="34" charset="0"/>
                <a:ea typeface="Calibri" pitchFamily="34" charset="-122"/>
                <a:cs typeface="Calibri" pitchFamily="34" charset="-120"/>
              </a:rPr>
              <a:t>CONFIGURATION</a:t>
            </a:r>
            <a:endParaRPr lang="en-US" sz="1050" dirty="0"/>
          </a:p>
        </p:txBody>
      </p:sp>
      <p:sp>
        <p:nvSpPr>
          <p:cNvPr id="26" name="Text 24"/>
          <p:cNvSpPr txBox="1"/>
          <p:nvPr/>
        </p:nvSpPr>
        <p:spPr>
          <a:xfrm>
            <a:off x="8412480" y="4407408"/>
            <a:ext cx="2926080" cy="621792"/>
          </a:xfrm>
          <a:prstGeom prst="rect">
            <a:avLst/>
          </a:prstGeom>
          <a:noFill/>
          <a:ln/>
        </p:spPr>
        <p:txBody>
          <a:bodyPr wrap="square" lIns="0" tIns="0" rIns="0" bIns="0" rtlCol="0" anchor="t"/>
          <a:lstStyle/>
          <a:p>
            <a:pPr indent="0" marL="0">
              <a:lnSpc>
                <a:spcPts val="2000"/>
              </a:lnSpc>
              <a:buNone/>
            </a:pPr>
            <a:r>
              <a:rPr lang="en-US" sz="1500" b="1" dirty="0">
                <a:solidFill>
                  <a:srgbClr val="028090"/>
                </a:solidFill>
                <a:latin typeface="Cambria" pitchFamily="34" charset="0"/>
                <a:ea typeface="Cambria" pitchFamily="34" charset="-122"/>
                <a:cs typeface="Cambria" pitchFamily="34" charset="-120"/>
              </a:rPr>
              <a:t>dotenv</a:t>
            </a:r>
            <a:endParaRPr lang="en-US" sz="1500" dirty="0"/>
          </a:p>
        </p:txBody>
      </p:sp>
      <p:sp>
        <p:nvSpPr>
          <p:cNvPr id="27" name="Text 25"/>
          <p:cNvSpPr txBox="1"/>
          <p:nvPr/>
        </p:nvSpPr>
        <p:spPr>
          <a:xfrm>
            <a:off x="8412480" y="5138928"/>
            <a:ext cx="2971800" cy="68580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Service credentials kept out of application source code.</a:t>
            </a:r>
            <a:endParaRPr lang="en-US" sz="1150" dirty="0"/>
          </a:p>
        </p:txBody>
      </p:sp>
      <p:sp>
        <p:nvSpPr>
          <p:cNvPr id="28" name="Text 26"/>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19</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Implementation — Structure</a:t>
            </a:r>
            <a:endParaRPr lang="en-US" sz="3000" dirty="0"/>
          </a:p>
        </p:txBody>
      </p:sp>
      <p:sp>
        <p:nvSpPr>
          <p:cNvPr id="4" name="Shape 2"/>
          <p:cNvSpPr/>
          <p:nvPr/>
        </p:nvSpPr>
        <p:spPr>
          <a:xfrm>
            <a:off x="640080" y="1463040"/>
            <a:ext cx="4892040" cy="4617720"/>
          </a:xfrm>
          <a:prstGeom prst="roundRect">
            <a:avLst>
              <a:gd name="adj" fmla="val 1584"/>
            </a:avLst>
          </a:prstGeom>
          <a:solidFill>
            <a:srgbClr val="E9F3F4"/>
          </a:solidFill>
          <a:ln w="9525">
            <a:solidFill>
              <a:srgbClr val="E9F3F4"/>
            </a:solidFill>
            <a:prstDash val="solid"/>
          </a:ln>
        </p:spPr>
      </p:sp>
      <p:sp>
        <p:nvSpPr>
          <p:cNvPr id="5" name="Text 3"/>
          <p:cNvSpPr txBox="1"/>
          <p:nvPr/>
        </p:nvSpPr>
        <p:spPr>
          <a:xfrm>
            <a:off x="960120" y="1737360"/>
            <a:ext cx="4114800" cy="274320"/>
          </a:xfrm>
          <a:prstGeom prst="rect">
            <a:avLst/>
          </a:prstGeom>
          <a:noFill/>
          <a:ln/>
        </p:spPr>
        <p:txBody>
          <a:bodyPr wrap="square" lIns="0" tIns="0" rIns="0" bIns="0" rtlCol="0" anchor="t"/>
          <a:lstStyle/>
          <a:p>
            <a:pPr indent="0" marL="0">
              <a:buNone/>
            </a:pPr>
            <a:r>
              <a:rPr lang="en-US" sz="1500" b="1" dirty="0">
                <a:solidFill>
                  <a:srgbClr val="0B3B47"/>
                </a:solidFill>
                <a:latin typeface="Cambria" pitchFamily="34" charset="0"/>
                <a:ea typeface="Cambria" pitchFamily="34" charset="-122"/>
                <a:cs typeface="Cambria" pitchFamily="34" charset="-120"/>
              </a:rPr>
              <a:t>Repository layout</a:t>
            </a:r>
            <a:endParaRPr lang="en-US" sz="1500" dirty="0"/>
          </a:p>
        </p:txBody>
      </p:sp>
      <p:sp>
        <p:nvSpPr>
          <p:cNvPr id="6" name="Text 4"/>
          <p:cNvSpPr txBox="1"/>
          <p:nvPr/>
        </p:nvSpPr>
        <p:spPr>
          <a:xfrm>
            <a:off x="960120" y="2148840"/>
            <a:ext cx="4434840" cy="3749040"/>
          </a:xfrm>
          <a:prstGeom prst="rect">
            <a:avLst/>
          </a:prstGeom>
          <a:noFill/>
          <a:ln/>
        </p:spPr>
        <p:txBody>
          <a:bodyPr wrap="square" lIns="0" tIns="0" rIns="0" bIns="0" rtlCol="0" anchor="t"/>
          <a:lstStyle/>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UCS503P-202627-Laundry-Management-System/</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code/</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frontend/        React Native + Expo</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 src/</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 app/         routes &amp; screens</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 components/  shared UI</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 constants/   theme</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 hooks/       custom hooks</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backend/         Node.js + Express</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routes/</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 authRoutes.js</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 studentRoutes.js</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 server.js</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docs/                requirements, database,</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diagrams</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journals/            weekly team journals</a:t>
            </a:r>
            <a:endParaRPr lang="en-US" sz="1000" dirty="0"/>
          </a:p>
          <a:p>
            <a:pPr indent="0" marL="0">
              <a:lnSpc>
                <a:spcPts val="1400"/>
              </a:lnSpc>
              <a:buNone/>
            </a:pPr>
            <a:r>
              <a:rPr lang="en-US" sz="1000" dirty="0">
                <a:solidFill>
                  <a:srgbClr val="27383D"/>
                </a:solidFill>
                <a:latin typeface="Courier New" pitchFamily="34" charset="0"/>
                <a:ea typeface="Courier New" pitchFamily="34" charset="-122"/>
                <a:cs typeface="Courier New" pitchFamily="34" charset="-120"/>
              </a:rPr>
              <a:t>└── project-report-final/</a:t>
            </a:r>
            <a:endParaRPr lang="en-US" sz="1000" dirty="0"/>
          </a:p>
        </p:txBody>
      </p:sp>
      <p:sp>
        <p:nvSpPr>
          <p:cNvPr id="7" name="Text 5"/>
          <p:cNvSpPr txBox="1"/>
          <p:nvPr/>
        </p:nvSpPr>
        <p:spPr>
          <a:xfrm>
            <a:off x="5989320" y="1600200"/>
            <a:ext cx="5486400" cy="292608"/>
          </a:xfrm>
          <a:prstGeom prst="rect">
            <a:avLst/>
          </a:prstGeom>
          <a:noFill/>
          <a:ln/>
        </p:spPr>
        <p:txBody>
          <a:bodyPr wrap="square" lIns="0" tIns="0" rIns="0" bIns="0" rtlCol="0" anchor="t"/>
          <a:lstStyle/>
          <a:p>
            <a:pPr indent="0" marL="0">
              <a:buNone/>
            </a:pPr>
            <a:r>
              <a:rPr lang="en-US" sz="1700" b="1" dirty="0">
                <a:solidFill>
                  <a:srgbClr val="0B3B47"/>
                </a:solidFill>
                <a:latin typeface="Cambria" pitchFamily="34" charset="0"/>
                <a:ea typeface="Cambria" pitchFamily="34" charset="-122"/>
                <a:cs typeface="Cambria" pitchFamily="34" charset="-120"/>
              </a:rPr>
              <a:t>Backend server — server.js</a:t>
            </a:r>
            <a:endParaRPr lang="en-US" sz="1700" dirty="0"/>
          </a:p>
        </p:txBody>
      </p:sp>
      <p:sp>
        <p:nvSpPr>
          <p:cNvPr id="8" name="Shape 6"/>
          <p:cNvSpPr/>
          <p:nvPr/>
        </p:nvSpPr>
        <p:spPr>
          <a:xfrm>
            <a:off x="5989320" y="2103120"/>
            <a:ext cx="347472" cy="347472"/>
          </a:xfrm>
          <a:prstGeom prst="ellipse">
            <a:avLst/>
          </a:prstGeom>
          <a:solidFill>
            <a:srgbClr val="028090"/>
          </a:solidFill>
          <a:ln w="6350">
            <a:solidFill>
              <a:srgbClr val="028090"/>
            </a:solidFill>
            <a:prstDash val="solid"/>
          </a:ln>
        </p:spPr>
      </p:sp>
      <p:sp>
        <p:nvSpPr>
          <p:cNvPr id="9" name="Text 7"/>
          <p:cNvSpPr txBox="1"/>
          <p:nvPr/>
        </p:nvSpPr>
        <p:spPr>
          <a:xfrm>
            <a:off x="5989320" y="2121408"/>
            <a:ext cx="347472"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8"/>
          <p:cNvSpPr txBox="1"/>
          <p:nvPr/>
        </p:nvSpPr>
        <p:spPr>
          <a:xfrm>
            <a:off x="6510528" y="2112264"/>
            <a:ext cx="4937760" cy="237744"/>
          </a:xfrm>
          <a:prstGeom prst="rect">
            <a:avLst/>
          </a:prstGeom>
          <a:noFill/>
          <a:ln/>
        </p:spPr>
        <p:txBody>
          <a:bodyPr wrap="square" lIns="0" tIns="0" rIns="0" bIns="0" rtlCol="0" anchor="t"/>
          <a:lstStyle/>
          <a:p>
            <a:pPr indent="0" marL="0">
              <a:buNone/>
            </a:pPr>
            <a:r>
              <a:rPr lang="en-US" sz="1250" b="1" dirty="0">
                <a:solidFill>
                  <a:srgbClr val="0B3B47"/>
                </a:solidFill>
                <a:latin typeface="Calibri" pitchFamily="34" charset="0"/>
                <a:ea typeface="Calibri" pitchFamily="34" charset="-122"/>
                <a:cs typeface="Calibri" pitchFamily="34" charset="-120"/>
              </a:rPr>
              <a:t>Environment configuration</a:t>
            </a:r>
            <a:endParaRPr lang="en-US" sz="1250" dirty="0"/>
          </a:p>
        </p:txBody>
      </p:sp>
      <p:sp>
        <p:nvSpPr>
          <p:cNvPr id="11" name="Text 9"/>
          <p:cNvSpPr txBox="1"/>
          <p:nvPr/>
        </p:nvSpPr>
        <p:spPr>
          <a:xfrm>
            <a:off x="6510528" y="2368296"/>
            <a:ext cx="4983480" cy="256032"/>
          </a:xfrm>
          <a:prstGeom prst="rect">
            <a:avLst/>
          </a:prstGeom>
          <a:noFill/>
          <a:ln/>
        </p:spPr>
        <p:txBody>
          <a:bodyPr wrap="square" lIns="0" tIns="0" rIns="0" bIns="0" rtlCol="0" anchor="t"/>
          <a:lstStyle/>
          <a:p>
            <a:pPr indent="0" marL="0">
              <a:buNone/>
            </a:pPr>
            <a:r>
              <a:rPr lang="en-US" sz="1100" dirty="0">
                <a:solidFill>
                  <a:srgbClr val="6E8288"/>
                </a:solidFill>
                <a:latin typeface="Calibri" pitchFamily="34" charset="0"/>
                <a:ea typeface="Calibri" pitchFamily="34" charset="-122"/>
                <a:cs typeface="Calibri" pitchFamily="34" charset="-120"/>
              </a:rPr>
              <a:t>Credentials loaded through dotenv, outside the source.</a:t>
            </a:r>
            <a:endParaRPr lang="en-US" sz="1100" dirty="0"/>
          </a:p>
        </p:txBody>
      </p:sp>
      <p:sp>
        <p:nvSpPr>
          <p:cNvPr id="12" name="Shape 10"/>
          <p:cNvSpPr/>
          <p:nvPr/>
        </p:nvSpPr>
        <p:spPr>
          <a:xfrm>
            <a:off x="5989320" y="2770632"/>
            <a:ext cx="347472" cy="347472"/>
          </a:xfrm>
          <a:prstGeom prst="ellipse">
            <a:avLst/>
          </a:prstGeom>
          <a:solidFill>
            <a:srgbClr val="028090"/>
          </a:solidFill>
          <a:ln w="6350">
            <a:solidFill>
              <a:srgbClr val="028090"/>
            </a:solidFill>
            <a:prstDash val="solid"/>
          </a:ln>
        </p:spPr>
      </p:sp>
      <p:sp>
        <p:nvSpPr>
          <p:cNvPr id="13" name="Text 11"/>
          <p:cNvSpPr txBox="1"/>
          <p:nvPr/>
        </p:nvSpPr>
        <p:spPr>
          <a:xfrm>
            <a:off x="5989320" y="2788920"/>
            <a:ext cx="347472"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2"/>
          <p:cNvSpPr txBox="1"/>
          <p:nvPr/>
        </p:nvSpPr>
        <p:spPr>
          <a:xfrm>
            <a:off x="6510528" y="2779776"/>
            <a:ext cx="4937760" cy="237744"/>
          </a:xfrm>
          <a:prstGeom prst="rect">
            <a:avLst/>
          </a:prstGeom>
          <a:noFill/>
          <a:ln/>
        </p:spPr>
        <p:txBody>
          <a:bodyPr wrap="square" lIns="0" tIns="0" rIns="0" bIns="0" rtlCol="0" anchor="t"/>
          <a:lstStyle/>
          <a:p>
            <a:pPr indent="0" marL="0">
              <a:buNone/>
            </a:pPr>
            <a:r>
              <a:rPr lang="en-US" sz="1250" b="1" dirty="0">
                <a:solidFill>
                  <a:srgbClr val="0B3B47"/>
                </a:solidFill>
                <a:latin typeface="Calibri" pitchFamily="34" charset="0"/>
                <a:ea typeface="Calibri" pitchFamily="34" charset="-122"/>
                <a:cs typeface="Calibri" pitchFamily="34" charset="-120"/>
              </a:rPr>
              <a:t>Express initialization</a:t>
            </a:r>
            <a:endParaRPr lang="en-US" sz="1250" dirty="0"/>
          </a:p>
        </p:txBody>
      </p:sp>
      <p:sp>
        <p:nvSpPr>
          <p:cNvPr id="15" name="Text 13"/>
          <p:cNvSpPr txBox="1"/>
          <p:nvPr/>
        </p:nvSpPr>
        <p:spPr>
          <a:xfrm>
            <a:off x="6510528" y="3035808"/>
            <a:ext cx="4983480" cy="256032"/>
          </a:xfrm>
          <a:prstGeom prst="rect">
            <a:avLst/>
          </a:prstGeom>
          <a:noFill/>
          <a:ln/>
        </p:spPr>
        <p:txBody>
          <a:bodyPr wrap="square" lIns="0" tIns="0" rIns="0" bIns="0" rtlCol="0" anchor="t"/>
          <a:lstStyle/>
          <a:p>
            <a:pPr indent="0" marL="0">
              <a:buNone/>
            </a:pPr>
            <a:r>
              <a:rPr lang="en-US" sz="1100" dirty="0">
                <a:solidFill>
                  <a:srgbClr val="6E8288"/>
                </a:solidFill>
                <a:latin typeface="Calibri" pitchFamily="34" charset="0"/>
                <a:ea typeface="Calibri" pitchFamily="34" charset="-122"/>
                <a:cs typeface="Calibri" pitchFamily="34" charset="-120"/>
              </a:rPr>
              <a:t>Application created and configured for JSON requests.</a:t>
            </a:r>
            <a:endParaRPr lang="en-US" sz="1100" dirty="0"/>
          </a:p>
        </p:txBody>
      </p:sp>
      <p:sp>
        <p:nvSpPr>
          <p:cNvPr id="16" name="Shape 14"/>
          <p:cNvSpPr/>
          <p:nvPr/>
        </p:nvSpPr>
        <p:spPr>
          <a:xfrm>
            <a:off x="5989320" y="3438144"/>
            <a:ext cx="347472" cy="347472"/>
          </a:xfrm>
          <a:prstGeom prst="ellipse">
            <a:avLst/>
          </a:prstGeom>
          <a:solidFill>
            <a:srgbClr val="028090"/>
          </a:solidFill>
          <a:ln w="6350">
            <a:solidFill>
              <a:srgbClr val="028090"/>
            </a:solidFill>
            <a:prstDash val="solid"/>
          </a:ln>
        </p:spPr>
      </p:sp>
      <p:sp>
        <p:nvSpPr>
          <p:cNvPr id="17" name="Text 15"/>
          <p:cNvSpPr txBox="1"/>
          <p:nvPr/>
        </p:nvSpPr>
        <p:spPr>
          <a:xfrm>
            <a:off x="5989320" y="3456432"/>
            <a:ext cx="347472"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6510528" y="3447288"/>
            <a:ext cx="4937760" cy="237744"/>
          </a:xfrm>
          <a:prstGeom prst="rect">
            <a:avLst/>
          </a:prstGeom>
          <a:noFill/>
          <a:ln/>
        </p:spPr>
        <p:txBody>
          <a:bodyPr wrap="square" lIns="0" tIns="0" rIns="0" bIns="0" rtlCol="0" anchor="t"/>
          <a:lstStyle/>
          <a:p>
            <a:pPr indent="0" marL="0">
              <a:buNone/>
            </a:pPr>
            <a:r>
              <a:rPr lang="en-US" sz="1250" b="1" dirty="0">
                <a:solidFill>
                  <a:srgbClr val="0B3B47"/>
                </a:solidFill>
                <a:latin typeface="Calibri" pitchFamily="34" charset="0"/>
                <a:ea typeface="Calibri" pitchFamily="34" charset="-122"/>
                <a:cs typeface="Calibri" pitchFamily="34" charset="-120"/>
              </a:rPr>
              <a:t>Supabase client</a:t>
            </a:r>
            <a:endParaRPr lang="en-US" sz="1250" dirty="0"/>
          </a:p>
        </p:txBody>
      </p:sp>
      <p:sp>
        <p:nvSpPr>
          <p:cNvPr id="19" name="Text 17"/>
          <p:cNvSpPr txBox="1"/>
          <p:nvPr/>
        </p:nvSpPr>
        <p:spPr>
          <a:xfrm>
            <a:off x="6510528" y="3703320"/>
            <a:ext cx="4983480" cy="256032"/>
          </a:xfrm>
          <a:prstGeom prst="rect">
            <a:avLst/>
          </a:prstGeom>
          <a:noFill/>
          <a:ln/>
        </p:spPr>
        <p:txBody>
          <a:bodyPr wrap="square" lIns="0" tIns="0" rIns="0" bIns="0" rtlCol="0" anchor="t"/>
          <a:lstStyle/>
          <a:p>
            <a:pPr indent="0" marL="0">
              <a:buNone/>
            </a:pPr>
            <a:r>
              <a:rPr lang="en-US" sz="1100" dirty="0">
                <a:solidFill>
                  <a:srgbClr val="6E8288"/>
                </a:solidFill>
                <a:latin typeface="Calibri" pitchFamily="34" charset="0"/>
                <a:ea typeface="Calibri" pitchFamily="34" charset="-122"/>
                <a:cs typeface="Calibri" pitchFamily="34" charset="-120"/>
              </a:rPr>
              <a:t>Client initialized for the project's Supabase services.</a:t>
            </a:r>
            <a:endParaRPr lang="en-US" sz="1100" dirty="0"/>
          </a:p>
        </p:txBody>
      </p:sp>
      <p:sp>
        <p:nvSpPr>
          <p:cNvPr id="20" name="Shape 18"/>
          <p:cNvSpPr/>
          <p:nvPr/>
        </p:nvSpPr>
        <p:spPr>
          <a:xfrm>
            <a:off x="5989320" y="4105656"/>
            <a:ext cx="347472" cy="347472"/>
          </a:xfrm>
          <a:prstGeom prst="ellipse">
            <a:avLst/>
          </a:prstGeom>
          <a:solidFill>
            <a:srgbClr val="028090"/>
          </a:solidFill>
          <a:ln w="6350">
            <a:solidFill>
              <a:srgbClr val="028090"/>
            </a:solidFill>
            <a:prstDash val="solid"/>
          </a:ln>
        </p:spPr>
      </p:sp>
      <p:sp>
        <p:nvSpPr>
          <p:cNvPr id="21" name="Text 19"/>
          <p:cNvSpPr txBox="1"/>
          <p:nvPr/>
        </p:nvSpPr>
        <p:spPr>
          <a:xfrm>
            <a:off x="5989320" y="4123944"/>
            <a:ext cx="347472"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txBox="1"/>
          <p:nvPr/>
        </p:nvSpPr>
        <p:spPr>
          <a:xfrm>
            <a:off x="6510528" y="4114800"/>
            <a:ext cx="4937760" cy="237744"/>
          </a:xfrm>
          <a:prstGeom prst="rect">
            <a:avLst/>
          </a:prstGeom>
          <a:noFill/>
          <a:ln/>
        </p:spPr>
        <p:txBody>
          <a:bodyPr wrap="square" lIns="0" tIns="0" rIns="0" bIns="0" rtlCol="0" anchor="t"/>
          <a:lstStyle/>
          <a:p>
            <a:pPr indent="0" marL="0">
              <a:buNone/>
            </a:pPr>
            <a:r>
              <a:rPr lang="en-US" sz="1250" b="1" dirty="0">
                <a:solidFill>
                  <a:srgbClr val="0B3B47"/>
                </a:solidFill>
                <a:latin typeface="Calibri" pitchFamily="34" charset="0"/>
                <a:ea typeface="Calibri" pitchFamily="34" charset="-122"/>
                <a:cs typeface="Calibri" pitchFamily="34" charset="-120"/>
              </a:rPr>
              <a:t>Route registration</a:t>
            </a:r>
            <a:endParaRPr lang="en-US" sz="1250" dirty="0"/>
          </a:p>
        </p:txBody>
      </p:sp>
      <p:sp>
        <p:nvSpPr>
          <p:cNvPr id="23" name="Text 21"/>
          <p:cNvSpPr txBox="1"/>
          <p:nvPr/>
        </p:nvSpPr>
        <p:spPr>
          <a:xfrm>
            <a:off x="6510528" y="4370832"/>
            <a:ext cx="4983480" cy="256032"/>
          </a:xfrm>
          <a:prstGeom prst="rect">
            <a:avLst/>
          </a:prstGeom>
          <a:noFill/>
          <a:ln/>
        </p:spPr>
        <p:txBody>
          <a:bodyPr wrap="square" lIns="0" tIns="0" rIns="0" bIns="0" rtlCol="0" anchor="t"/>
          <a:lstStyle/>
          <a:p>
            <a:pPr indent="0" marL="0">
              <a:buNone/>
            </a:pPr>
            <a:r>
              <a:rPr lang="en-US" sz="1100" dirty="0">
                <a:solidFill>
                  <a:srgbClr val="6E8288"/>
                </a:solidFill>
                <a:latin typeface="Calibri" pitchFamily="34" charset="0"/>
                <a:ea typeface="Calibri" pitchFamily="34" charset="-122"/>
                <a:cs typeface="Calibri" pitchFamily="34" charset="-120"/>
              </a:rPr>
              <a:t>Authentication routes mounted under /api/auth.</a:t>
            </a:r>
            <a:endParaRPr lang="en-US" sz="1100" dirty="0"/>
          </a:p>
        </p:txBody>
      </p:sp>
      <p:sp>
        <p:nvSpPr>
          <p:cNvPr id="24" name="Shape 22"/>
          <p:cNvSpPr/>
          <p:nvPr/>
        </p:nvSpPr>
        <p:spPr>
          <a:xfrm>
            <a:off x="5989320" y="4773168"/>
            <a:ext cx="347472" cy="347472"/>
          </a:xfrm>
          <a:prstGeom prst="ellipse">
            <a:avLst/>
          </a:prstGeom>
          <a:solidFill>
            <a:srgbClr val="028090"/>
          </a:solidFill>
          <a:ln w="6350">
            <a:solidFill>
              <a:srgbClr val="028090"/>
            </a:solidFill>
            <a:prstDash val="solid"/>
          </a:ln>
        </p:spPr>
      </p:sp>
      <p:sp>
        <p:nvSpPr>
          <p:cNvPr id="25" name="Text 23"/>
          <p:cNvSpPr txBox="1"/>
          <p:nvPr/>
        </p:nvSpPr>
        <p:spPr>
          <a:xfrm>
            <a:off x="5989320" y="4791456"/>
            <a:ext cx="347472"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6" name="Text 24"/>
          <p:cNvSpPr txBox="1"/>
          <p:nvPr/>
        </p:nvSpPr>
        <p:spPr>
          <a:xfrm>
            <a:off x="6510528" y="4782312"/>
            <a:ext cx="4937760" cy="237744"/>
          </a:xfrm>
          <a:prstGeom prst="rect">
            <a:avLst/>
          </a:prstGeom>
          <a:noFill/>
          <a:ln/>
        </p:spPr>
        <p:txBody>
          <a:bodyPr wrap="square" lIns="0" tIns="0" rIns="0" bIns="0" rtlCol="0" anchor="t"/>
          <a:lstStyle/>
          <a:p>
            <a:pPr indent="0" marL="0">
              <a:buNone/>
            </a:pPr>
            <a:r>
              <a:rPr lang="en-US" sz="1250" b="1" dirty="0">
                <a:solidFill>
                  <a:srgbClr val="0B3B47"/>
                </a:solidFill>
                <a:latin typeface="Calibri" pitchFamily="34" charset="0"/>
                <a:ea typeface="Calibri" pitchFamily="34" charset="-122"/>
                <a:cs typeface="Calibri" pitchFamily="34" charset="-120"/>
              </a:rPr>
              <a:t>Connectivity test</a:t>
            </a:r>
            <a:endParaRPr lang="en-US" sz="1250" dirty="0"/>
          </a:p>
        </p:txBody>
      </p:sp>
      <p:sp>
        <p:nvSpPr>
          <p:cNvPr id="27" name="Text 25"/>
          <p:cNvSpPr txBox="1"/>
          <p:nvPr/>
        </p:nvSpPr>
        <p:spPr>
          <a:xfrm>
            <a:off x="6510528" y="5038344"/>
            <a:ext cx="4983480" cy="256032"/>
          </a:xfrm>
          <a:prstGeom prst="rect">
            <a:avLst/>
          </a:prstGeom>
          <a:noFill/>
          <a:ln/>
        </p:spPr>
        <p:txBody>
          <a:bodyPr wrap="square" lIns="0" tIns="0" rIns="0" bIns="0" rtlCol="0" anchor="t"/>
          <a:lstStyle/>
          <a:p>
            <a:pPr indent="0" marL="0">
              <a:buNone/>
            </a:pPr>
            <a:r>
              <a:rPr lang="en-US" sz="1100" dirty="0">
                <a:solidFill>
                  <a:srgbClr val="6E8288"/>
                </a:solidFill>
                <a:latin typeface="Calibri" pitchFamily="34" charset="0"/>
                <a:ea typeface="Calibri" pitchFamily="34" charset="-122"/>
                <a:cs typeface="Calibri" pitchFamily="34" charset="-120"/>
              </a:rPr>
              <a:t>/api/test-db queries the hostels table to verify the chain.</a:t>
            </a:r>
            <a:endParaRPr lang="en-US" sz="1100" dirty="0"/>
          </a:p>
        </p:txBody>
      </p:sp>
      <p:sp>
        <p:nvSpPr>
          <p:cNvPr id="28" name="Shape 26"/>
          <p:cNvSpPr/>
          <p:nvPr/>
        </p:nvSpPr>
        <p:spPr>
          <a:xfrm>
            <a:off x="5989320" y="5440680"/>
            <a:ext cx="347472" cy="347472"/>
          </a:xfrm>
          <a:prstGeom prst="ellipse">
            <a:avLst/>
          </a:prstGeom>
          <a:solidFill>
            <a:srgbClr val="028090"/>
          </a:solidFill>
          <a:ln w="6350">
            <a:solidFill>
              <a:srgbClr val="028090"/>
            </a:solidFill>
            <a:prstDash val="solid"/>
          </a:ln>
        </p:spPr>
      </p:sp>
      <p:sp>
        <p:nvSpPr>
          <p:cNvPr id="29" name="Text 27"/>
          <p:cNvSpPr txBox="1"/>
          <p:nvPr/>
        </p:nvSpPr>
        <p:spPr>
          <a:xfrm>
            <a:off x="5989320" y="5458968"/>
            <a:ext cx="347472"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0" name="Text 28"/>
          <p:cNvSpPr txBox="1"/>
          <p:nvPr/>
        </p:nvSpPr>
        <p:spPr>
          <a:xfrm>
            <a:off x="6510528" y="5449824"/>
            <a:ext cx="4937760" cy="237744"/>
          </a:xfrm>
          <a:prstGeom prst="rect">
            <a:avLst/>
          </a:prstGeom>
          <a:noFill/>
          <a:ln/>
        </p:spPr>
        <p:txBody>
          <a:bodyPr wrap="square" lIns="0" tIns="0" rIns="0" bIns="0" rtlCol="0" anchor="t"/>
          <a:lstStyle/>
          <a:p>
            <a:pPr indent="0" marL="0">
              <a:buNone/>
            </a:pPr>
            <a:r>
              <a:rPr lang="en-US" sz="1250" b="1" dirty="0">
                <a:solidFill>
                  <a:srgbClr val="0B3B47"/>
                </a:solidFill>
                <a:latin typeface="Calibri" pitchFamily="34" charset="0"/>
                <a:ea typeface="Calibri" pitchFamily="34" charset="-122"/>
                <a:cs typeface="Calibri" pitchFamily="34" charset="-120"/>
              </a:rPr>
              <a:t>Server startup</a:t>
            </a:r>
            <a:endParaRPr lang="en-US" sz="1250" dirty="0"/>
          </a:p>
        </p:txBody>
      </p:sp>
      <p:sp>
        <p:nvSpPr>
          <p:cNvPr id="31" name="Text 29"/>
          <p:cNvSpPr txBox="1"/>
          <p:nvPr/>
        </p:nvSpPr>
        <p:spPr>
          <a:xfrm>
            <a:off x="6510528" y="5705856"/>
            <a:ext cx="4983480" cy="256032"/>
          </a:xfrm>
          <a:prstGeom prst="rect">
            <a:avLst/>
          </a:prstGeom>
          <a:noFill/>
          <a:ln/>
        </p:spPr>
        <p:txBody>
          <a:bodyPr wrap="square" lIns="0" tIns="0" rIns="0" bIns="0" rtlCol="0" anchor="t"/>
          <a:lstStyle/>
          <a:p>
            <a:pPr indent="0" marL="0">
              <a:buNone/>
            </a:pPr>
            <a:r>
              <a:rPr lang="en-US" sz="1100" dirty="0">
                <a:solidFill>
                  <a:srgbClr val="6E8288"/>
                </a:solidFill>
                <a:latin typeface="Calibri" pitchFamily="34" charset="0"/>
                <a:ea typeface="Calibri" pitchFamily="34" charset="-122"/>
                <a:cs typeface="Calibri" pitchFamily="34" charset="-120"/>
              </a:rPr>
              <a:t>Express listens on the configured development port 5000.</a:t>
            </a:r>
            <a:endParaRPr lang="en-US" sz="1100" dirty="0"/>
          </a:p>
        </p:txBody>
      </p:sp>
      <p:sp>
        <p:nvSpPr>
          <p:cNvPr id="32" name="Text 30"/>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3B47"/>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C39A"/>
                </a:solidFill>
                <a:latin typeface="Calibri" pitchFamily="34" charset="0"/>
                <a:ea typeface="Calibri" pitchFamily="34" charset="-122"/>
                <a:cs typeface="Calibri" pitchFamily="34" charset="-120"/>
              </a:rPr>
              <a:t>SECTION 19.5</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Authentication — Implemented</a:t>
            </a:r>
            <a:endParaRPr lang="en-US" sz="3000" dirty="0"/>
          </a:p>
        </p:txBody>
      </p:sp>
      <p:sp>
        <p:nvSpPr>
          <p:cNvPr id="4" name="Text 2"/>
          <p:cNvSpPr txBox="1"/>
          <p:nvPr/>
        </p:nvSpPr>
        <p:spPr>
          <a:xfrm>
            <a:off x="640080" y="1371600"/>
            <a:ext cx="10881360" cy="320040"/>
          </a:xfrm>
          <a:prstGeom prst="rect">
            <a:avLst/>
          </a:prstGeom>
          <a:noFill/>
          <a:ln/>
        </p:spPr>
        <p:txBody>
          <a:bodyPr wrap="square" lIns="0" tIns="0" rIns="0" bIns="0" rtlCol="0" anchor="t"/>
          <a:lstStyle/>
          <a:p>
            <a:pPr indent="0" marL="0">
              <a:buNone/>
            </a:pPr>
            <a:r>
              <a:rPr lang="en-US" sz="1350" dirty="0">
                <a:solidFill>
                  <a:srgbClr val="C9E4E8"/>
                </a:solidFill>
                <a:latin typeface="Calibri" pitchFamily="34" charset="0"/>
                <a:ea typeface="Calibri" pitchFamily="34" charset="-122"/>
                <a:cs typeface="Calibri" pitchFamily="34" charset="-120"/>
              </a:rPr>
              <a:t>Supabase Authentication with an institutional email OTP mechanism. Two endpoints, both live and tested.</a:t>
            </a:r>
            <a:endParaRPr lang="en-US" sz="1350" dirty="0"/>
          </a:p>
        </p:txBody>
      </p:sp>
      <p:sp>
        <p:nvSpPr>
          <p:cNvPr id="5" name="Shape 3"/>
          <p:cNvSpPr/>
          <p:nvPr/>
        </p:nvSpPr>
        <p:spPr>
          <a:xfrm>
            <a:off x="640080" y="1828800"/>
            <a:ext cx="5303520" cy="3977640"/>
          </a:xfrm>
          <a:prstGeom prst="roundRect">
            <a:avLst>
              <a:gd name="adj" fmla="val 1839"/>
            </a:avLst>
          </a:prstGeom>
          <a:solidFill>
            <a:srgbClr val="12505F"/>
          </a:solidFill>
          <a:ln w="6350">
            <a:solidFill>
              <a:srgbClr val="12505F"/>
            </a:solidFill>
            <a:prstDash val="solid"/>
          </a:ln>
        </p:spPr>
      </p:sp>
      <p:sp>
        <p:nvSpPr>
          <p:cNvPr id="6" name="Text 4"/>
          <p:cNvSpPr txBox="1"/>
          <p:nvPr/>
        </p:nvSpPr>
        <p:spPr>
          <a:xfrm>
            <a:off x="960120" y="2103120"/>
            <a:ext cx="4663440" cy="274320"/>
          </a:xfrm>
          <a:prstGeom prst="rect">
            <a:avLst/>
          </a:prstGeom>
          <a:noFill/>
          <a:ln/>
        </p:spPr>
        <p:txBody>
          <a:bodyPr wrap="square" lIns="0" tIns="0" rIns="0" bIns="0" rtlCol="0" anchor="t"/>
          <a:lstStyle/>
          <a:p>
            <a:pPr indent="0" marL="0">
              <a:buNone/>
            </a:pPr>
            <a:r>
              <a:rPr lang="en-US" sz="1400" b="1" dirty="0">
                <a:solidFill>
                  <a:srgbClr val="02C39A"/>
                </a:solidFill>
                <a:latin typeface="Courier New" pitchFamily="34" charset="0"/>
                <a:ea typeface="Courier New" pitchFamily="34" charset="-122"/>
                <a:cs typeface="Courier New" pitchFamily="34" charset="-120"/>
              </a:rPr>
              <a:t>POST  /api/auth/send-otp</a:t>
            </a:r>
            <a:endParaRPr lang="en-US" sz="1400" dirty="0"/>
          </a:p>
        </p:txBody>
      </p:sp>
      <p:sp>
        <p:nvSpPr>
          <p:cNvPr id="7" name="Shape 5"/>
          <p:cNvSpPr/>
          <p:nvPr/>
        </p:nvSpPr>
        <p:spPr>
          <a:xfrm>
            <a:off x="960120" y="2606040"/>
            <a:ext cx="4663440" cy="475488"/>
          </a:xfrm>
          <a:prstGeom prst="roundRect">
            <a:avLst>
              <a:gd name="adj" fmla="val 9615"/>
            </a:avLst>
          </a:prstGeom>
          <a:solidFill>
            <a:srgbClr val="0B3B47"/>
          </a:solidFill>
          <a:ln w="6350">
            <a:solidFill>
              <a:srgbClr val="0B3B47"/>
            </a:solidFill>
            <a:prstDash val="solid"/>
          </a:ln>
        </p:spPr>
      </p:sp>
      <p:sp>
        <p:nvSpPr>
          <p:cNvPr id="8" name="Text 6"/>
          <p:cNvSpPr txBox="1"/>
          <p:nvPr/>
        </p:nvSpPr>
        <p:spPr>
          <a:xfrm>
            <a:off x="1188720" y="2606040"/>
            <a:ext cx="4297680"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User enters institutional email</a:t>
            </a:r>
            <a:endParaRPr lang="en-US" sz="1150" dirty="0"/>
          </a:p>
        </p:txBody>
      </p:sp>
      <p:sp>
        <p:nvSpPr>
          <p:cNvPr id="9" name="Shape 7"/>
          <p:cNvSpPr/>
          <p:nvPr/>
        </p:nvSpPr>
        <p:spPr>
          <a:xfrm>
            <a:off x="960120" y="3227832"/>
            <a:ext cx="4663440" cy="475488"/>
          </a:xfrm>
          <a:prstGeom prst="roundRect">
            <a:avLst>
              <a:gd name="adj" fmla="val 9615"/>
            </a:avLst>
          </a:prstGeom>
          <a:solidFill>
            <a:srgbClr val="0B3B47"/>
          </a:solidFill>
          <a:ln w="6350">
            <a:solidFill>
              <a:srgbClr val="0B3B47"/>
            </a:solidFill>
            <a:prstDash val="solid"/>
          </a:ln>
        </p:spPr>
      </p:sp>
      <p:sp>
        <p:nvSpPr>
          <p:cNvPr id="10" name="Text 8"/>
          <p:cNvSpPr txBox="1"/>
          <p:nvPr/>
        </p:nvSpPr>
        <p:spPr>
          <a:xfrm>
            <a:off x="1188720" y="3227832"/>
            <a:ext cx="4297680"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Frontend sends email to the backend</a:t>
            </a:r>
            <a:endParaRPr lang="en-US" sz="1150" dirty="0"/>
          </a:p>
        </p:txBody>
      </p:sp>
      <p:sp>
        <p:nvSpPr>
          <p:cNvPr id="11" name="Shape 9"/>
          <p:cNvSpPr/>
          <p:nvPr/>
        </p:nvSpPr>
        <p:spPr>
          <a:xfrm>
            <a:off x="960120" y="3849624"/>
            <a:ext cx="4663440" cy="475488"/>
          </a:xfrm>
          <a:prstGeom prst="roundRect">
            <a:avLst>
              <a:gd name="adj" fmla="val 9615"/>
            </a:avLst>
          </a:prstGeom>
          <a:solidFill>
            <a:srgbClr val="0B3B47"/>
          </a:solidFill>
          <a:ln w="6350">
            <a:solidFill>
              <a:srgbClr val="0B3B47"/>
            </a:solidFill>
            <a:prstDash val="solid"/>
          </a:ln>
        </p:spPr>
      </p:sp>
      <p:sp>
        <p:nvSpPr>
          <p:cNvPr id="12" name="Text 10"/>
          <p:cNvSpPr txBox="1"/>
          <p:nvPr/>
        </p:nvSpPr>
        <p:spPr>
          <a:xfrm>
            <a:off x="1188720" y="3849624"/>
            <a:ext cx="4297680"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Backend validates the @thapar.edu domain</a:t>
            </a:r>
            <a:endParaRPr lang="en-US" sz="1150" dirty="0"/>
          </a:p>
        </p:txBody>
      </p:sp>
      <p:sp>
        <p:nvSpPr>
          <p:cNvPr id="13" name="Shape 11"/>
          <p:cNvSpPr/>
          <p:nvPr/>
        </p:nvSpPr>
        <p:spPr>
          <a:xfrm>
            <a:off x="960120" y="4471416"/>
            <a:ext cx="4663440" cy="475488"/>
          </a:xfrm>
          <a:prstGeom prst="roundRect">
            <a:avLst>
              <a:gd name="adj" fmla="val 9615"/>
            </a:avLst>
          </a:prstGeom>
          <a:solidFill>
            <a:srgbClr val="0B3B47"/>
          </a:solidFill>
          <a:ln w="6350">
            <a:solidFill>
              <a:srgbClr val="0B3B47"/>
            </a:solidFill>
            <a:prstDash val="solid"/>
          </a:ln>
        </p:spPr>
      </p:sp>
      <p:sp>
        <p:nvSpPr>
          <p:cNvPr id="14" name="Text 12"/>
          <p:cNvSpPr txBox="1"/>
          <p:nvPr/>
        </p:nvSpPr>
        <p:spPr>
          <a:xfrm>
            <a:off x="1188720" y="4471416"/>
            <a:ext cx="4297680"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Supabase issues and sends the OTP</a:t>
            </a:r>
            <a:endParaRPr lang="en-US" sz="1150" dirty="0"/>
          </a:p>
        </p:txBody>
      </p:sp>
      <p:sp>
        <p:nvSpPr>
          <p:cNvPr id="15" name="Shape 13"/>
          <p:cNvSpPr/>
          <p:nvPr/>
        </p:nvSpPr>
        <p:spPr>
          <a:xfrm>
            <a:off x="960120" y="5093208"/>
            <a:ext cx="4663440" cy="475488"/>
          </a:xfrm>
          <a:prstGeom prst="roundRect">
            <a:avLst>
              <a:gd name="adj" fmla="val 9615"/>
            </a:avLst>
          </a:prstGeom>
          <a:solidFill>
            <a:srgbClr val="0B3B47"/>
          </a:solidFill>
          <a:ln w="6350">
            <a:solidFill>
              <a:srgbClr val="0B3B47"/>
            </a:solidFill>
            <a:prstDash val="solid"/>
          </a:ln>
        </p:spPr>
      </p:sp>
      <p:sp>
        <p:nvSpPr>
          <p:cNvPr id="16" name="Text 14"/>
          <p:cNvSpPr txBox="1"/>
          <p:nvPr/>
        </p:nvSpPr>
        <p:spPr>
          <a:xfrm>
            <a:off x="1188720" y="5093208"/>
            <a:ext cx="4297680"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User receives the OTP by email</a:t>
            </a:r>
            <a:endParaRPr lang="en-US" sz="1150" dirty="0"/>
          </a:p>
        </p:txBody>
      </p:sp>
      <p:sp>
        <p:nvSpPr>
          <p:cNvPr id="17" name="Shape 15"/>
          <p:cNvSpPr/>
          <p:nvPr/>
        </p:nvSpPr>
        <p:spPr>
          <a:xfrm>
            <a:off x="6263640" y="1828800"/>
            <a:ext cx="5285232" cy="3977640"/>
          </a:xfrm>
          <a:prstGeom prst="roundRect">
            <a:avLst>
              <a:gd name="adj" fmla="val 1839"/>
            </a:avLst>
          </a:prstGeom>
          <a:solidFill>
            <a:srgbClr val="12505F"/>
          </a:solidFill>
          <a:ln w="6350">
            <a:solidFill>
              <a:srgbClr val="12505F"/>
            </a:solidFill>
            <a:prstDash val="solid"/>
          </a:ln>
        </p:spPr>
      </p:sp>
      <p:sp>
        <p:nvSpPr>
          <p:cNvPr id="18" name="Text 16"/>
          <p:cNvSpPr txBox="1"/>
          <p:nvPr/>
        </p:nvSpPr>
        <p:spPr>
          <a:xfrm>
            <a:off x="6583680" y="2103120"/>
            <a:ext cx="4663440" cy="274320"/>
          </a:xfrm>
          <a:prstGeom prst="rect">
            <a:avLst/>
          </a:prstGeom>
          <a:noFill/>
          <a:ln/>
        </p:spPr>
        <p:txBody>
          <a:bodyPr wrap="square" lIns="0" tIns="0" rIns="0" bIns="0" rtlCol="0" anchor="t"/>
          <a:lstStyle/>
          <a:p>
            <a:pPr indent="0" marL="0">
              <a:buNone/>
            </a:pPr>
            <a:r>
              <a:rPr lang="en-US" sz="1400" b="1" dirty="0">
                <a:solidFill>
                  <a:srgbClr val="02C39A"/>
                </a:solidFill>
                <a:latin typeface="Courier New" pitchFamily="34" charset="0"/>
                <a:ea typeface="Courier New" pitchFamily="34" charset="-122"/>
                <a:cs typeface="Courier New" pitchFamily="34" charset="-120"/>
              </a:rPr>
              <a:t>POST  /api/auth/verify-otp</a:t>
            </a:r>
            <a:endParaRPr lang="en-US" sz="1400" dirty="0"/>
          </a:p>
        </p:txBody>
      </p:sp>
      <p:sp>
        <p:nvSpPr>
          <p:cNvPr id="19" name="Shape 17"/>
          <p:cNvSpPr/>
          <p:nvPr/>
        </p:nvSpPr>
        <p:spPr>
          <a:xfrm>
            <a:off x="6583680" y="2606040"/>
            <a:ext cx="4645152" cy="475488"/>
          </a:xfrm>
          <a:prstGeom prst="roundRect">
            <a:avLst>
              <a:gd name="adj" fmla="val 9615"/>
            </a:avLst>
          </a:prstGeom>
          <a:solidFill>
            <a:srgbClr val="0B3B47"/>
          </a:solidFill>
          <a:ln w="6350">
            <a:solidFill>
              <a:srgbClr val="0B3B47"/>
            </a:solidFill>
            <a:prstDash val="solid"/>
          </a:ln>
        </p:spPr>
      </p:sp>
      <p:sp>
        <p:nvSpPr>
          <p:cNvPr id="20" name="Text 18"/>
          <p:cNvSpPr txBox="1"/>
          <p:nvPr/>
        </p:nvSpPr>
        <p:spPr>
          <a:xfrm>
            <a:off x="6812280" y="2606040"/>
            <a:ext cx="4297680"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User enters the received OTP</a:t>
            </a:r>
            <a:endParaRPr lang="en-US" sz="1150" dirty="0"/>
          </a:p>
        </p:txBody>
      </p:sp>
      <p:sp>
        <p:nvSpPr>
          <p:cNvPr id="21" name="Shape 19"/>
          <p:cNvSpPr/>
          <p:nvPr/>
        </p:nvSpPr>
        <p:spPr>
          <a:xfrm>
            <a:off x="6583680" y="3227832"/>
            <a:ext cx="4645152" cy="475488"/>
          </a:xfrm>
          <a:prstGeom prst="roundRect">
            <a:avLst>
              <a:gd name="adj" fmla="val 9615"/>
            </a:avLst>
          </a:prstGeom>
          <a:solidFill>
            <a:srgbClr val="0B3B47"/>
          </a:solidFill>
          <a:ln w="6350">
            <a:solidFill>
              <a:srgbClr val="0B3B47"/>
            </a:solidFill>
            <a:prstDash val="solid"/>
          </a:ln>
        </p:spPr>
      </p:sp>
      <p:sp>
        <p:nvSpPr>
          <p:cNvPr id="22" name="Text 20"/>
          <p:cNvSpPr txBox="1"/>
          <p:nvPr/>
        </p:nvSpPr>
        <p:spPr>
          <a:xfrm>
            <a:off x="6812280" y="3227832"/>
            <a:ext cx="4297680"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Frontend sends email and OTP</a:t>
            </a:r>
            <a:endParaRPr lang="en-US" sz="1150" dirty="0"/>
          </a:p>
        </p:txBody>
      </p:sp>
      <p:sp>
        <p:nvSpPr>
          <p:cNvPr id="23" name="Shape 21"/>
          <p:cNvSpPr/>
          <p:nvPr/>
        </p:nvSpPr>
        <p:spPr>
          <a:xfrm>
            <a:off x="6583680" y="3849624"/>
            <a:ext cx="4645152" cy="475488"/>
          </a:xfrm>
          <a:prstGeom prst="roundRect">
            <a:avLst>
              <a:gd name="adj" fmla="val 9615"/>
            </a:avLst>
          </a:prstGeom>
          <a:solidFill>
            <a:srgbClr val="0B3B47"/>
          </a:solidFill>
          <a:ln w="6350">
            <a:solidFill>
              <a:srgbClr val="0B3B47"/>
            </a:solidFill>
            <a:prstDash val="solid"/>
          </a:ln>
        </p:spPr>
      </p:sp>
      <p:sp>
        <p:nvSpPr>
          <p:cNvPr id="24" name="Text 22"/>
          <p:cNvSpPr txBox="1"/>
          <p:nvPr/>
        </p:nvSpPr>
        <p:spPr>
          <a:xfrm>
            <a:off x="6812280" y="3849624"/>
            <a:ext cx="4297680"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Backend requests Supabase verification</a:t>
            </a:r>
            <a:endParaRPr lang="en-US" sz="1150" dirty="0"/>
          </a:p>
        </p:txBody>
      </p:sp>
      <p:sp>
        <p:nvSpPr>
          <p:cNvPr id="25" name="Shape 23"/>
          <p:cNvSpPr/>
          <p:nvPr/>
        </p:nvSpPr>
        <p:spPr>
          <a:xfrm>
            <a:off x="6583680" y="4471416"/>
            <a:ext cx="4645152" cy="475488"/>
          </a:xfrm>
          <a:prstGeom prst="roundRect">
            <a:avLst>
              <a:gd name="adj" fmla="val 9615"/>
            </a:avLst>
          </a:prstGeom>
          <a:solidFill>
            <a:srgbClr val="0B3B47"/>
          </a:solidFill>
          <a:ln w="6350">
            <a:solidFill>
              <a:srgbClr val="0B3B47"/>
            </a:solidFill>
            <a:prstDash val="solid"/>
          </a:ln>
        </p:spPr>
      </p:sp>
      <p:sp>
        <p:nvSpPr>
          <p:cNvPr id="26" name="Text 24"/>
          <p:cNvSpPr txBox="1"/>
          <p:nvPr/>
        </p:nvSpPr>
        <p:spPr>
          <a:xfrm>
            <a:off x="6812280" y="4471416"/>
            <a:ext cx="4297680"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Supabase validates the OTP</a:t>
            </a:r>
            <a:endParaRPr lang="en-US" sz="1150" dirty="0"/>
          </a:p>
        </p:txBody>
      </p:sp>
      <p:sp>
        <p:nvSpPr>
          <p:cNvPr id="27" name="Shape 25"/>
          <p:cNvSpPr/>
          <p:nvPr/>
        </p:nvSpPr>
        <p:spPr>
          <a:xfrm>
            <a:off x="6583680" y="5093208"/>
            <a:ext cx="4645152" cy="475488"/>
          </a:xfrm>
          <a:prstGeom prst="roundRect">
            <a:avLst>
              <a:gd name="adj" fmla="val 9615"/>
            </a:avLst>
          </a:prstGeom>
          <a:solidFill>
            <a:srgbClr val="0B3B47"/>
          </a:solidFill>
          <a:ln w="6350">
            <a:solidFill>
              <a:srgbClr val="0B3B47"/>
            </a:solidFill>
            <a:prstDash val="solid"/>
          </a:ln>
        </p:spPr>
      </p:sp>
      <p:sp>
        <p:nvSpPr>
          <p:cNvPr id="28" name="Text 26"/>
          <p:cNvSpPr txBox="1"/>
          <p:nvPr/>
        </p:nvSpPr>
        <p:spPr>
          <a:xfrm>
            <a:off x="6812280" y="5093208"/>
            <a:ext cx="4297680"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Authenticated session returned to the client</a:t>
            </a:r>
            <a:endParaRPr lang="en-US" sz="1150" dirty="0"/>
          </a:p>
        </p:txBody>
      </p:sp>
      <p:sp>
        <p:nvSpPr>
          <p:cNvPr id="29" name="Text 27"/>
          <p:cNvSpPr txBox="1"/>
          <p:nvPr/>
        </p:nvSpPr>
        <p:spPr>
          <a:xfrm>
            <a:off x="640080" y="5943600"/>
            <a:ext cx="10881360" cy="274320"/>
          </a:xfrm>
          <a:prstGeom prst="rect">
            <a:avLst/>
          </a:prstGeom>
          <a:noFill/>
          <a:ln/>
        </p:spPr>
        <p:txBody>
          <a:bodyPr wrap="square" lIns="0" tIns="0" rIns="0" bIns="0" rtlCol="0" anchor="t"/>
          <a:lstStyle/>
          <a:p>
            <a:pPr indent="0" marL="0">
              <a:buNone/>
            </a:pPr>
            <a:r>
              <a:rPr lang="en-US" sz="1150" i="1" dirty="0">
                <a:solidFill>
                  <a:srgbClr val="9FC7CE"/>
                </a:solidFill>
                <a:latin typeface="Calibri" pitchFamily="34" charset="0"/>
                <a:ea typeface="Calibri" pitchFamily="34" charset="-122"/>
                <a:cs typeface="Calibri" pitchFamily="34" charset="-120"/>
              </a:rPr>
              <a:t>Domain validation happens in the backend, so restricting access to institutional users cannot be bypassed by the client app.</a:t>
            </a:r>
            <a:endParaRPr lang="en-US" sz="1150" dirty="0"/>
          </a:p>
        </p:txBody>
      </p:sp>
      <p:sp>
        <p:nvSpPr>
          <p:cNvPr id="30" name="Text 28"/>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SECTIONS 19.7 &amp; 20</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API Endpoints &amp; Testing</a:t>
            </a:r>
            <a:endParaRPr lang="en-US" sz="3000" dirty="0"/>
          </a:p>
        </p:txBody>
      </p:sp>
      <p:sp>
        <p:nvSpPr>
          <p:cNvPr id="4" name="Text 2"/>
          <p:cNvSpPr txBox="1"/>
          <p:nvPr/>
        </p:nvSpPr>
        <p:spPr>
          <a:xfrm>
            <a:off x="640080" y="1371600"/>
            <a:ext cx="5486400" cy="237744"/>
          </a:xfrm>
          <a:prstGeom prst="rect">
            <a:avLst/>
          </a:prstGeom>
          <a:noFill/>
          <a:ln/>
        </p:spPr>
        <p:txBody>
          <a:bodyPr wrap="square" lIns="0" tIns="0" rIns="0" bIns="0" rtlCol="0" anchor="t"/>
          <a:lstStyle/>
          <a:p>
            <a:pPr indent="0" marL="0">
              <a:buNone/>
            </a:pPr>
            <a:r>
              <a:rPr lang="en-US" sz="1100" b="1" spc="150" kern="0" dirty="0">
                <a:solidFill>
                  <a:srgbClr val="028090"/>
                </a:solidFill>
                <a:latin typeface="Calibri" pitchFamily="34" charset="0"/>
                <a:ea typeface="Calibri" pitchFamily="34" charset="-122"/>
                <a:cs typeface="Calibri" pitchFamily="34" charset="-120"/>
              </a:rPr>
              <a:t>IMPLEMENTED ENDPOINTS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5394960" cy="914400"/>
        </p:xfrm>
        <a:graphic>
          <a:graphicData uri="http://schemas.openxmlformats.org/drawingml/2006/table">
            <a:tbl>
              <a:tblPr/>
              <a:tblGrid>
                <a:gridCol w="822960"/>
                <a:gridCol w="2011680"/>
                <a:gridCol w="2560320"/>
              </a:tblGrid>
              <a:tr h="384048">
                <a:tc>
                  <a:txBody>
                    <a:bodyPr/>
                    <a:lstStyle/>
                    <a:p>
                      <a:pPr indent="0" marL="0">
                        <a:buNone/>
                      </a:pPr>
                      <a:r>
                        <a:rPr lang="en-US" sz="1100" b="1" dirty="0">
                          <a:solidFill>
                            <a:srgbClr val="27383D"/>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b="1" dirty="0">
                          <a:solidFill>
                            <a:srgbClr val="27383D"/>
                          </a:solidFill>
                          <a:latin typeface="Calibri" pitchFamily="34" charset="0"/>
                          <a:ea typeface="Calibri" pitchFamily="34" charset="-122"/>
                          <a:cs typeface="Calibri" pitchFamily="34" charset="-120"/>
                        </a:rPr>
                        <a:t>Endpoint</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b="1" dirty="0">
                          <a:solidFill>
                            <a:srgbClr val="27383D"/>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r>
              <a:tr h="384048">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POST</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/api/auth/send-otp</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Send OTP to institutional email</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r>
              <a:tr h="384048">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POST</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/api/auth/verify-otp</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Verify OTP and authenticate user</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r>
              <a:tr h="384048">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GET</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/api/test-db</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Test backend–database connectivity</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r>
            </a:tbl>
          </a:graphicData>
        </a:graphic>
      </p:graphicFrame>
      <p:sp>
        <p:nvSpPr>
          <p:cNvPr id="6" name="Text 3"/>
          <p:cNvSpPr txBox="1"/>
          <p:nvPr/>
        </p:nvSpPr>
        <p:spPr>
          <a:xfrm>
            <a:off x="6400800" y="1371600"/>
            <a:ext cx="5486400" cy="237744"/>
          </a:xfrm>
          <a:prstGeom prst="rect">
            <a:avLst/>
          </a:prstGeom>
          <a:noFill/>
          <a:ln/>
        </p:spPr>
        <p:txBody>
          <a:bodyPr wrap="square" lIns="0" tIns="0" rIns="0" bIns="0" rtlCol="0" anchor="t"/>
          <a:lstStyle/>
          <a:p>
            <a:pPr indent="0" marL="0">
              <a:buNone/>
            </a:pPr>
            <a:r>
              <a:rPr lang="en-US" sz="1100" b="1" spc="150" kern="0" dirty="0">
                <a:solidFill>
                  <a:srgbClr val="028090"/>
                </a:solidFill>
                <a:latin typeface="Calibri" pitchFamily="34" charset="0"/>
                <a:ea typeface="Calibri" pitchFamily="34" charset="-122"/>
                <a:cs typeface="Calibri" pitchFamily="34" charset="-120"/>
              </a:rPr>
              <a:t>AUTHENTICATION TEST CASES</a:t>
            </a:r>
            <a:endParaRPr lang="en-US" sz="110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400800" y="1691640"/>
          <a:ext cx="5148072" cy="914400"/>
        </p:xfrm>
        <a:graphic>
          <a:graphicData uri="http://schemas.openxmlformats.org/drawingml/2006/table">
            <a:tbl>
              <a:tblPr/>
              <a:tblGrid>
                <a:gridCol w="2743200"/>
                <a:gridCol w="2404872"/>
              </a:tblGrid>
              <a:tr h="384048">
                <a:tc>
                  <a:txBody>
                    <a:bodyPr/>
                    <a:lstStyle/>
                    <a:p>
                      <a:pPr indent="0" marL="0">
                        <a:buNone/>
                      </a:pPr>
                      <a:r>
                        <a:rPr lang="en-US" sz="1100" b="1" dirty="0">
                          <a:solidFill>
                            <a:srgbClr val="27383D"/>
                          </a:solidFill>
                          <a:latin typeface="Calibri" pitchFamily="34" charset="0"/>
                          <a:ea typeface="Calibri" pitchFamily="34" charset="-122"/>
                          <a:cs typeface="Calibri" pitchFamily="34" charset="-120"/>
                        </a:rPr>
                        <a:t>Test case</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b="1" dirty="0">
                          <a:solidFill>
                            <a:srgbClr val="27383D"/>
                          </a:solidFill>
                          <a:latin typeface="Calibri" pitchFamily="34" charset="0"/>
                          <a:ea typeface="Calibri" pitchFamily="34" charset="-122"/>
                          <a:cs typeface="Calibri" pitchFamily="34" charset="-120"/>
                        </a:rPr>
                        <a:t>Expected result</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r>
              <a:tr h="384048">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Valid @thapar.edu address</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OTP request accepted</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r>
              <a:tr h="384048">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Email outside permitted domain</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Request rejected</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r>
              <a:tr h="384048">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Valid OTP submitted</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User authenticated</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r>
              <a:tr h="384048">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Incorrect OTP submitted</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Authentication rejected</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r>
              <a:tr h="384048">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/api/test-db request</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c>
                  <a:txBody>
                    <a:bodyPr/>
                    <a:lstStyle/>
                    <a:p>
                      <a:pPr indent="0" marL="0">
                        <a:buNone/>
                      </a:pPr>
                      <a:r>
                        <a:rPr lang="en-US" sz="1100" dirty="0">
                          <a:solidFill>
                            <a:srgbClr val="27383D"/>
                          </a:solidFill>
                          <a:latin typeface="Calibri" pitchFamily="34" charset="0"/>
                          <a:ea typeface="Calibri" pitchFamily="34" charset="-122"/>
                          <a:cs typeface="Calibri" pitchFamily="34" charset="-120"/>
                        </a:rPr>
                        <a:t>Database query executed</a:t>
                      </a:r>
                      <a:endParaRPr lang="en-US" sz="1100" dirty="0">
                        <a:latin typeface="Calibri" charset="0"/>
                        <a:ea typeface="Calibri" charset="0"/>
                        <a:cs typeface="Calibri" charset="0"/>
                      </a:endParaRPr>
                    </a:p>
                  </a:txBody>
                  <a:tcPr marL="76200" marR="76200" marT="76200" marB="762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9F9"/>
                    </a:solidFill>
                  </a:tcPr>
                </a:tc>
              </a:tr>
            </a:tbl>
          </a:graphicData>
        </a:graphic>
      </p:graphicFrame>
      <p:sp>
        <p:nvSpPr>
          <p:cNvPr id="8" name="Shape 4"/>
          <p:cNvSpPr/>
          <p:nvPr/>
        </p:nvSpPr>
        <p:spPr>
          <a:xfrm>
            <a:off x="640080" y="4224528"/>
            <a:ext cx="5394960" cy="1828800"/>
          </a:xfrm>
          <a:prstGeom prst="roundRect">
            <a:avLst>
              <a:gd name="adj" fmla="val 4000"/>
            </a:avLst>
          </a:prstGeom>
          <a:solidFill>
            <a:srgbClr val="E9F3F4"/>
          </a:solidFill>
          <a:ln w="9525">
            <a:solidFill>
              <a:srgbClr val="E9F3F4"/>
            </a:solidFill>
            <a:prstDash val="solid"/>
          </a:ln>
        </p:spPr>
      </p:sp>
      <p:sp>
        <p:nvSpPr>
          <p:cNvPr id="9" name="Text 5"/>
          <p:cNvSpPr txBox="1"/>
          <p:nvPr/>
        </p:nvSpPr>
        <p:spPr>
          <a:xfrm>
            <a:off x="932688" y="4434840"/>
            <a:ext cx="4754880" cy="256032"/>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What testing covers today</a:t>
            </a:r>
            <a:endParaRPr lang="en-US" sz="1350" dirty="0"/>
          </a:p>
        </p:txBody>
      </p:sp>
      <p:sp>
        <p:nvSpPr>
          <p:cNvPr id="10" name="Text 6"/>
          <p:cNvSpPr txBox="1"/>
          <p:nvPr/>
        </p:nvSpPr>
        <p:spPr>
          <a:xfrm>
            <a:off x="932688" y="4773168"/>
            <a:ext cx="4754880" cy="118872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27383D"/>
                </a:solidFill>
                <a:latin typeface="Calibri" pitchFamily="34" charset="0"/>
                <a:ea typeface="Calibri" pitchFamily="34" charset="-122"/>
                <a:cs typeface="Calibri" pitchFamily="34" charset="-120"/>
              </a:rPr>
              <a:t>Endpoint accessibility and request handling</a:t>
            </a:r>
            <a:endParaRPr lang="en-US" sz="1150" dirty="0"/>
          </a:p>
          <a:p>
            <a:pPr marL="342900" indent="-342900">
              <a:lnSpc>
                <a:spcPts val="1500"/>
              </a:lnSpc>
              <a:spcAft>
                <a:spcPts val="600"/>
              </a:spcAft>
              <a:buSzPct val="100000"/>
              <a:buChar char="•"/>
            </a:pPr>
            <a:r>
              <a:rPr lang="en-US" sz="1150" dirty="0">
                <a:solidFill>
                  <a:srgbClr val="27383D"/>
                </a:solidFill>
                <a:latin typeface="Calibri" pitchFamily="34" charset="0"/>
                <a:ea typeface="Calibri" pitchFamily="34" charset="-122"/>
                <a:cs typeface="Calibri" pitchFamily="34" charset="-120"/>
              </a:rPr>
              <a:t>Institutional email validation</a:t>
            </a:r>
            <a:endParaRPr lang="en-US" sz="1150" dirty="0"/>
          </a:p>
          <a:p>
            <a:pPr marL="342900" indent="-342900">
              <a:lnSpc>
                <a:spcPts val="1500"/>
              </a:lnSpc>
              <a:spcAft>
                <a:spcPts val="600"/>
              </a:spcAft>
              <a:buSzPct val="100000"/>
              <a:buChar char="•"/>
            </a:pPr>
            <a:r>
              <a:rPr lang="en-US" sz="1150" dirty="0">
                <a:solidFill>
                  <a:srgbClr val="27383D"/>
                </a:solidFill>
                <a:latin typeface="Calibri" pitchFamily="34" charset="0"/>
                <a:ea typeface="Calibri" pitchFamily="34" charset="-122"/>
                <a:cs typeface="Calibri" pitchFamily="34" charset="-120"/>
              </a:rPr>
              <a:t>OTP issue and verification via Supabase</a:t>
            </a:r>
            <a:endParaRPr lang="en-US" sz="1150" dirty="0"/>
          </a:p>
          <a:p>
            <a:pPr marL="342900" indent="-342900">
              <a:lnSpc>
                <a:spcPts val="1500"/>
              </a:lnSpc>
              <a:spcAft>
                <a:spcPts val="600"/>
              </a:spcAft>
              <a:buSzPct val="100000"/>
              <a:buChar char="•"/>
            </a:pPr>
            <a:r>
              <a:rPr lang="en-US" sz="1150" dirty="0">
                <a:solidFill>
                  <a:srgbClr val="27383D"/>
                </a:solidFill>
                <a:latin typeface="Calibri" pitchFamily="34" charset="0"/>
                <a:ea typeface="Calibri" pitchFamily="34" charset="-122"/>
                <a:cs typeface="Calibri" pitchFamily="34" charset="-120"/>
              </a:rPr>
              <a:t>Backend → Supabase → PostgreSQL connectivity</a:t>
            </a:r>
            <a:endParaRPr lang="en-US" sz="1150" dirty="0"/>
          </a:p>
        </p:txBody>
      </p:sp>
      <p:sp>
        <p:nvSpPr>
          <p:cNvPr id="11" name="Shape 7"/>
          <p:cNvSpPr/>
          <p:nvPr/>
        </p:nvSpPr>
        <p:spPr>
          <a:xfrm>
            <a:off x="6400800" y="4224528"/>
            <a:ext cx="5148072" cy="1828800"/>
          </a:xfrm>
          <a:prstGeom prst="roundRect">
            <a:avLst>
              <a:gd name="adj" fmla="val 4000"/>
            </a:avLst>
          </a:prstGeom>
          <a:solidFill>
            <a:srgbClr val="F4F9F9"/>
          </a:solidFill>
          <a:ln w="9525">
            <a:solidFill>
              <a:srgbClr val="F4F9F9"/>
            </a:solidFill>
            <a:prstDash val="solid"/>
          </a:ln>
        </p:spPr>
      </p:sp>
      <p:sp>
        <p:nvSpPr>
          <p:cNvPr id="12" name="Text 8"/>
          <p:cNvSpPr txBox="1"/>
          <p:nvPr/>
        </p:nvSpPr>
        <p:spPr>
          <a:xfrm>
            <a:off x="6693408" y="4434840"/>
            <a:ext cx="4572000" cy="256032"/>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Planned once modules land</a:t>
            </a:r>
            <a:endParaRPr lang="en-US" sz="1350" dirty="0"/>
          </a:p>
        </p:txBody>
      </p:sp>
      <p:sp>
        <p:nvSpPr>
          <p:cNvPr id="13" name="Text 9"/>
          <p:cNvSpPr txBox="1"/>
          <p:nvPr/>
        </p:nvSpPr>
        <p:spPr>
          <a:xfrm>
            <a:off x="6693408" y="4773168"/>
            <a:ext cx="4572000" cy="118872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27383D"/>
                </a:solidFill>
                <a:latin typeface="Calibri" pitchFamily="34" charset="0"/>
                <a:ea typeface="Calibri" pitchFamily="34" charset="-122"/>
                <a:cs typeface="Calibri" pitchFamily="34" charset="-120"/>
              </a:rPr>
              <a:t>Functional, integration and workflow testing</a:t>
            </a:r>
            <a:endParaRPr lang="en-US" sz="1150" dirty="0"/>
          </a:p>
          <a:p>
            <a:pPr marL="342900" indent="-342900">
              <a:lnSpc>
                <a:spcPts val="1500"/>
              </a:lnSpc>
              <a:spcAft>
                <a:spcPts val="600"/>
              </a:spcAft>
              <a:buSzPct val="100000"/>
              <a:buChar char="•"/>
            </a:pPr>
            <a:r>
              <a:rPr lang="en-US" sz="1150" dirty="0">
                <a:solidFill>
                  <a:srgbClr val="27383D"/>
                </a:solidFill>
                <a:latin typeface="Calibri" pitchFamily="34" charset="0"/>
                <a:ea typeface="Calibri" pitchFamily="34" charset="-122"/>
                <a:cs typeface="Calibri" pitchFamily="34" charset="-120"/>
              </a:rPr>
              <a:t>Security testing of QR verification and access control</a:t>
            </a:r>
            <a:endParaRPr lang="en-US" sz="1150" dirty="0"/>
          </a:p>
          <a:p>
            <a:pPr marL="342900" indent="-342900">
              <a:lnSpc>
                <a:spcPts val="1500"/>
              </a:lnSpc>
              <a:spcAft>
                <a:spcPts val="600"/>
              </a:spcAft>
              <a:buSzPct val="100000"/>
              <a:buChar char="•"/>
            </a:pPr>
            <a:r>
              <a:rPr lang="en-US" sz="1150" dirty="0">
                <a:solidFill>
                  <a:srgbClr val="27383D"/>
                </a:solidFill>
                <a:latin typeface="Calibri" pitchFamily="34" charset="0"/>
                <a:ea typeface="Calibri" pitchFamily="34" charset="-122"/>
                <a:cs typeface="Calibri" pitchFamily="34" charset="-120"/>
              </a:rPr>
              <a:t>Usability testing with students and staff</a:t>
            </a:r>
            <a:endParaRPr lang="en-US" sz="1150" dirty="0"/>
          </a:p>
          <a:p>
            <a:pPr marL="342900" indent="-342900">
              <a:lnSpc>
                <a:spcPts val="1500"/>
              </a:lnSpc>
              <a:spcAft>
                <a:spcPts val="600"/>
              </a:spcAft>
              <a:buSzPct val="100000"/>
              <a:buChar char="•"/>
            </a:pPr>
            <a:r>
              <a:rPr lang="en-US" sz="1150" dirty="0">
                <a:solidFill>
                  <a:srgbClr val="27383D"/>
                </a:solidFill>
                <a:latin typeface="Calibri" pitchFamily="34" charset="0"/>
                <a:ea typeface="Calibri" pitchFamily="34" charset="-122"/>
                <a:cs typeface="Calibri" pitchFamily="34" charset="-120"/>
              </a:rPr>
              <a:t>End-to-end: login → submission → processing → QR collection</a:t>
            </a:r>
            <a:endParaRPr lang="en-US" sz="1150" dirty="0"/>
          </a:p>
        </p:txBody>
      </p:sp>
      <p:sp>
        <p:nvSpPr>
          <p:cNvPr id="14" name="Text 10"/>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21</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Implementation Status</a:t>
            </a:r>
            <a:endParaRPr lang="en-US" sz="3000" dirty="0"/>
          </a:p>
        </p:txBody>
      </p:sp>
      <p:sp>
        <p:nvSpPr>
          <p:cNvPr id="4" name="Text 2"/>
          <p:cNvSpPr txBox="1"/>
          <p:nvPr/>
        </p:nvSpPr>
        <p:spPr>
          <a:xfrm>
            <a:off x="640080" y="1371600"/>
            <a:ext cx="10881360" cy="320040"/>
          </a:xfrm>
          <a:prstGeom prst="rect">
            <a:avLst/>
          </a:prstGeom>
          <a:noFill/>
          <a:ln/>
        </p:spPr>
        <p:txBody>
          <a:bodyPr wrap="square" lIns="0" tIns="0" rIns="0" bIns="0" rtlCol="0" anchor="t"/>
          <a:lstStyle/>
          <a:p>
            <a:pPr indent="0" marL="0">
              <a:buNone/>
            </a:pPr>
            <a:r>
              <a:rPr lang="en-US" sz="1350" dirty="0">
                <a:solidFill>
                  <a:srgbClr val="6E8288"/>
                </a:solidFill>
                <a:latin typeface="Calibri" pitchFamily="34" charset="0"/>
                <a:ea typeface="Calibri" pitchFamily="34" charset="-122"/>
                <a:cs typeface="Calibri" pitchFamily="34" charset="-120"/>
              </a:rPr>
              <a:t>Twenty-three tracked components across design and implementation. The distribution below reflects the actual state of the project today.</a:t>
            </a:r>
            <a:endParaRPr lang="en-US" sz="1350" dirty="0"/>
          </a:p>
        </p:txBody>
      </p:sp>
      <p:graphicFrame>
        <p:nvGraphicFramePr>
          <p:cNvPr id="5" name="Chart 0" descr=""/>
          <p:cNvGraphicFramePr/>
          <p:nvPr/>
        </p:nvGraphicFramePr>
        <p:xfrm>
          <a:off x="640080" y="178308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766560" y="1783080"/>
            <a:ext cx="4782312" cy="1298448"/>
          </a:xfrm>
          <a:prstGeom prst="roundRect">
            <a:avLst>
              <a:gd name="adj" fmla="val 5634"/>
            </a:avLst>
          </a:prstGeom>
          <a:solidFill>
            <a:srgbClr val="E9F3F4"/>
          </a:solidFill>
          <a:ln w="9525">
            <a:solidFill>
              <a:srgbClr val="E9F3F4"/>
            </a:solidFill>
            <a:prstDash val="solid"/>
          </a:ln>
        </p:spPr>
      </p:sp>
      <p:sp>
        <p:nvSpPr>
          <p:cNvPr id="7" name="Text 4"/>
          <p:cNvSpPr txBox="1"/>
          <p:nvPr/>
        </p:nvSpPr>
        <p:spPr>
          <a:xfrm>
            <a:off x="7059168" y="1965960"/>
            <a:ext cx="4206240" cy="237744"/>
          </a:xfrm>
          <a:prstGeom prst="rect">
            <a:avLst/>
          </a:prstGeom>
          <a:noFill/>
          <a:ln/>
        </p:spPr>
        <p:txBody>
          <a:bodyPr wrap="square" lIns="0" tIns="0" rIns="0" bIns="0" rtlCol="0" anchor="t"/>
          <a:lstStyle/>
          <a:p>
            <a:pPr indent="0" marL="0">
              <a:buNone/>
            </a:pPr>
            <a:r>
              <a:rPr lang="en-US" sz="1100" b="1" spc="150" kern="0" dirty="0">
                <a:solidFill>
                  <a:srgbClr val="028090"/>
                </a:solidFill>
                <a:latin typeface="Calibri" pitchFamily="34" charset="0"/>
                <a:ea typeface="Calibri" pitchFamily="34" charset="-122"/>
                <a:cs typeface="Calibri" pitchFamily="34" charset="-120"/>
              </a:rPr>
              <a:t>COMPLETED</a:t>
            </a:r>
            <a:endParaRPr lang="en-US" sz="1100" dirty="0"/>
          </a:p>
        </p:txBody>
      </p:sp>
      <p:sp>
        <p:nvSpPr>
          <p:cNvPr id="8" name="Text 5"/>
          <p:cNvSpPr txBox="1"/>
          <p:nvPr/>
        </p:nvSpPr>
        <p:spPr>
          <a:xfrm>
            <a:off x="7059168" y="2258568"/>
            <a:ext cx="4251960" cy="73152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Requirement analysis, stakeholder study, and all five design models — use case, activity, class, DFD and sequence.</a:t>
            </a:r>
            <a:endParaRPr lang="en-US" sz="1150" dirty="0"/>
          </a:p>
        </p:txBody>
      </p:sp>
      <p:sp>
        <p:nvSpPr>
          <p:cNvPr id="9" name="Shape 6"/>
          <p:cNvSpPr/>
          <p:nvPr/>
        </p:nvSpPr>
        <p:spPr>
          <a:xfrm>
            <a:off x="6766560" y="3227832"/>
            <a:ext cx="4782312" cy="1298448"/>
          </a:xfrm>
          <a:prstGeom prst="roundRect">
            <a:avLst>
              <a:gd name="adj" fmla="val 5634"/>
            </a:avLst>
          </a:prstGeom>
          <a:solidFill>
            <a:srgbClr val="E9F3F4"/>
          </a:solidFill>
          <a:ln w="9525">
            <a:solidFill>
              <a:srgbClr val="E9F3F4"/>
            </a:solidFill>
            <a:prstDash val="solid"/>
          </a:ln>
        </p:spPr>
      </p:sp>
      <p:sp>
        <p:nvSpPr>
          <p:cNvPr id="10" name="Text 7"/>
          <p:cNvSpPr txBox="1"/>
          <p:nvPr/>
        </p:nvSpPr>
        <p:spPr>
          <a:xfrm>
            <a:off x="7059168" y="3410712"/>
            <a:ext cx="4206240" cy="237744"/>
          </a:xfrm>
          <a:prstGeom prst="rect">
            <a:avLst/>
          </a:prstGeom>
          <a:noFill/>
          <a:ln/>
        </p:spPr>
        <p:txBody>
          <a:bodyPr wrap="square" lIns="0" tIns="0" rIns="0" bIns="0" rtlCol="0" anchor="t"/>
          <a:lstStyle/>
          <a:p>
            <a:pPr indent="0" marL="0">
              <a:buNone/>
            </a:pPr>
            <a:r>
              <a:rPr lang="en-US" sz="1100" b="1" spc="150" kern="0" dirty="0">
                <a:solidFill>
                  <a:srgbClr val="00A896"/>
                </a:solidFill>
                <a:latin typeface="Calibri" pitchFamily="34" charset="0"/>
                <a:ea typeface="Calibri" pitchFamily="34" charset="-122"/>
                <a:cs typeface="Calibri" pitchFamily="34" charset="-120"/>
              </a:rPr>
              <a:t>IMPLEMENTED</a:t>
            </a:r>
            <a:endParaRPr lang="en-US" sz="1100" dirty="0"/>
          </a:p>
        </p:txBody>
      </p:sp>
      <p:sp>
        <p:nvSpPr>
          <p:cNvPr id="11" name="Text 8"/>
          <p:cNvSpPr txBox="1"/>
          <p:nvPr/>
        </p:nvSpPr>
        <p:spPr>
          <a:xfrm>
            <a:off x="7059168" y="3703320"/>
            <a:ext cx="4251960" cy="73152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Supabase and PostgreSQL setup, Express backend, connectivity test, institutional email validation, OTP send and verify, React Native + Expo foundation.</a:t>
            </a:r>
            <a:endParaRPr lang="en-US" sz="1150" dirty="0"/>
          </a:p>
        </p:txBody>
      </p:sp>
      <p:sp>
        <p:nvSpPr>
          <p:cNvPr id="12" name="Shape 9"/>
          <p:cNvSpPr/>
          <p:nvPr/>
        </p:nvSpPr>
        <p:spPr>
          <a:xfrm>
            <a:off x="6766560" y="4672584"/>
            <a:ext cx="4782312" cy="1298448"/>
          </a:xfrm>
          <a:prstGeom prst="roundRect">
            <a:avLst>
              <a:gd name="adj" fmla="val 5634"/>
            </a:avLst>
          </a:prstGeom>
          <a:solidFill>
            <a:srgbClr val="F4F9F9"/>
          </a:solidFill>
          <a:ln w="9525">
            <a:solidFill>
              <a:srgbClr val="F4F9F9"/>
            </a:solidFill>
            <a:prstDash val="solid"/>
          </a:ln>
        </p:spPr>
      </p:sp>
      <p:sp>
        <p:nvSpPr>
          <p:cNvPr id="13" name="Text 10"/>
          <p:cNvSpPr txBox="1"/>
          <p:nvPr/>
        </p:nvSpPr>
        <p:spPr>
          <a:xfrm>
            <a:off x="7059168" y="4855464"/>
            <a:ext cx="4206240" cy="237744"/>
          </a:xfrm>
          <a:prstGeom prst="rect">
            <a:avLst/>
          </a:prstGeom>
          <a:noFill/>
          <a:ln/>
        </p:spPr>
        <p:txBody>
          <a:bodyPr wrap="square" lIns="0" tIns="0" rIns="0" bIns="0" rtlCol="0" anchor="t"/>
          <a:lstStyle/>
          <a:p>
            <a:pPr indent="0" marL="0">
              <a:buNone/>
            </a:pPr>
            <a:r>
              <a:rPr lang="en-US" sz="1100" b="1" spc="150" kern="0" dirty="0">
                <a:solidFill>
                  <a:srgbClr val="6E8288"/>
                </a:solidFill>
                <a:latin typeface="Calibri" pitchFamily="34" charset="0"/>
                <a:ea typeface="Calibri" pitchFamily="34" charset="-122"/>
                <a:cs typeface="Calibri" pitchFamily="34" charset="-120"/>
              </a:rPr>
              <a:t>DESIGNED / PENDING</a:t>
            </a:r>
            <a:endParaRPr lang="en-US" sz="1100" dirty="0"/>
          </a:p>
        </p:txBody>
      </p:sp>
      <p:sp>
        <p:nvSpPr>
          <p:cNvPr id="14" name="Text 11"/>
          <p:cNvSpPr txBox="1"/>
          <p:nvPr/>
        </p:nvSpPr>
        <p:spPr>
          <a:xfrm>
            <a:off x="7059168" y="5148072"/>
            <a:ext cx="4251960" cy="731520"/>
          </a:xfrm>
          <a:prstGeom prst="rect">
            <a:avLst/>
          </a:prstGeom>
          <a:noFill/>
          <a:ln/>
        </p:spPr>
        <p:txBody>
          <a:bodyPr wrap="square" lIns="0" tIns="0" rIns="0" bIns="0" rtlCol="0" anchor="t"/>
          <a:lstStyle/>
          <a:p>
            <a:pPr indent="0" marL="0">
              <a:lnSpc>
                <a:spcPts val="1500"/>
              </a:lnSpc>
              <a:buNone/>
            </a:pPr>
            <a:r>
              <a:rPr lang="en-US" sz="1150" dirty="0">
                <a:solidFill>
                  <a:srgbClr val="27383D"/>
                </a:solidFill>
                <a:latin typeface="Calibri" pitchFamily="34" charset="0"/>
                <a:ea typeface="Calibri" pitchFamily="34" charset="-122"/>
                <a:cs typeface="Calibri" pitchFamily="34" charset="-120"/>
              </a:rPr>
              <a:t>QR pickup, complaints, notifications, admin dashboard and the full database schema are specified but not yet built.</a:t>
            </a:r>
            <a:endParaRPr lang="en-US" sz="1150" dirty="0"/>
          </a:p>
        </p:txBody>
      </p:sp>
      <p:sp>
        <p:nvSpPr>
          <p:cNvPr id="15" name="Text 12"/>
          <p:cNvSpPr txBox="1"/>
          <p:nvPr/>
        </p:nvSpPr>
        <p:spPr>
          <a:xfrm>
            <a:off x="6766560" y="6035040"/>
            <a:ext cx="4206240" cy="457200"/>
          </a:xfrm>
          <a:prstGeom prst="rect">
            <a:avLst/>
          </a:prstGeom>
          <a:noFill/>
          <a:ln/>
        </p:spPr>
        <p:txBody>
          <a:bodyPr wrap="square" lIns="0" tIns="0" rIns="0" bIns="0" rtlCol="0" anchor="t"/>
          <a:lstStyle/>
          <a:p>
            <a:pPr indent="0" marL="0">
              <a:lnSpc>
                <a:spcPts val="1300"/>
              </a:lnSpc>
              <a:buNone/>
            </a:pPr>
            <a:r>
              <a:rPr lang="en-US" sz="1050" i="1" dirty="0">
                <a:solidFill>
                  <a:srgbClr val="6E8288"/>
                </a:solidFill>
                <a:latin typeface="Calibri" pitchFamily="34" charset="0"/>
                <a:ea typeface="Calibri" pitchFamily="34" charset="-122"/>
                <a:cs typeface="Calibri" pitchFamily="34" charset="-120"/>
              </a:rPr>
              <a:t>The schema is designed and connectivity works — the operational CRUD layer for laundry requests does not exist yet.</a:t>
            </a:r>
            <a:endParaRPr lang="en-US" sz="1050" dirty="0"/>
          </a:p>
        </p:txBody>
      </p:sp>
      <p:sp>
        <p:nvSpPr>
          <p:cNvPr id="16" name="Text 13"/>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3B47"/>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C39A"/>
                </a:solidFill>
                <a:latin typeface="Calibri" pitchFamily="34" charset="0"/>
                <a:ea typeface="Calibri" pitchFamily="34" charset="-122"/>
                <a:cs typeface="Calibri" pitchFamily="34" charset="-120"/>
              </a:rPr>
              <a:t>SECTION 22</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Challenges Encountered</a:t>
            </a:r>
            <a:endParaRPr lang="en-US" sz="3000" dirty="0"/>
          </a:p>
        </p:txBody>
      </p:sp>
      <p:sp>
        <p:nvSpPr>
          <p:cNvPr id="4" name="Shape 2"/>
          <p:cNvSpPr/>
          <p:nvPr/>
        </p:nvSpPr>
        <p:spPr>
          <a:xfrm>
            <a:off x="640080" y="1600200"/>
            <a:ext cx="3465576" cy="2057400"/>
          </a:xfrm>
          <a:prstGeom prst="roundRect">
            <a:avLst>
              <a:gd name="adj" fmla="val 3556"/>
            </a:avLst>
          </a:prstGeom>
          <a:solidFill>
            <a:srgbClr val="12505F"/>
          </a:solidFill>
          <a:ln w="9525">
            <a:solidFill>
              <a:srgbClr val="12505F"/>
            </a:solidFill>
            <a:prstDash val="solid"/>
          </a:ln>
        </p:spPr>
      </p:sp>
      <p:sp>
        <p:nvSpPr>
          <p:cNvPr id="5" name="Shape 3"/>
          <p:cNvSpPr/>
          <p:nvPr/>
        </p:nvSpPr>
        <p:spPr>
          <a:xfrm>
            <a:off x="914400" y="1856232"/>
            <a:ext cx="384048" cy="384048"/>
          </a:xfrm>
          <a:prstGeom prst="ellipse">
            <a:avLst/>
          </a:prstGeom>
          <a:solidFill>
            <a:srgbClr val="02C39A"/>
          </a:solidFill>
          <a:ln w="6350">
            <a:solidFill>
              <a:srgbClr val="02C39A"/>
            </a:solidFill>
            <a:prstDash val="solid"/>
          </a:ln>
        </p:spPr>
      </p:sp>
      <p:sp>
        <p:nvSpPr>
          <p:cNvPr id="6" name="Text 4"/>
          <p:cNvSpPr txBox="1"/>
          <p:nvPr/>
        </p:nvSpPr>
        <p:spPr>
          <a:xfrm>
            <a:off x="914400" y="1874520"/>
            <a:ext cx="384048" cy="347472"/>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914400" y="2377440"/>
            <a:ext cx="2926080" cy="4572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Understanding the real workflow</a:t>
            </a:r>
            <a:endParaRPr lang="en-US" sz="1350" dirty="0"/>
          </a:p>
        </p:txBody>
      </p:sp>
      <p:sp>
        <p:nvSpPr>
          <p:cNvPr id="8" name="Text 6"/>
          <p:cNvSpPr txBox="1"/>
          <p:nvPr/>
        </p:nvSpPr>
        <p:spPr>
          <a:xfrm>
            <a:off x="914400" y="2807208"/>
            <a:ext cx="2971800" cy="7772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A software workflow cannot be designed on assumptions. We had to learn how laundry is actually received, identified, processed, returned and collected before modelling any of it.</a:t>
            </a:r>
            <a:endParaRPr lang="en-US" sz="1050" dirty="0"/>
          </a:p>
        </p:txBody>
      </p:sp>
      <p:sp>
        <p:nvSpPr>
          <p:cNvPr id="9" name="Shape 7"/>
          <p:cNvSpPr/>
          <p:nvPr/>
        </p:nvSpPr>
        <p:spPr>
          <a:xfrm>
            <a:off x="4379976" y="1600200"/>
            <a:ext cx="3465576" cy="2057400"/>
          </a:xfrm>
          <a:prstGeom prst="roundRect">
            <a:avLst>
              <a:gd name="adj" fmla="val 3556"/>
            </a:avLst>
          </a:prstGeom>
          <a:solidFill>
            <a:srgbClr val="12505F"/>
          </a:solidFill>
          <a:ln w="9525">
            <a:solidFill>
              <a:srgbClr val="12505F"/>
            </a:solidFill>
            <a:prstDash val="solid"/>
          </a:ln>
        </p:spPr>
      </p:sp>
      <p:sp>
        <p:nvSpPr>
          <p:cNvPr id="10" name="Shape 8"/>
          <p:cNvSpPr/>
          <p:nvPr/>
        </p:nvSpPr>
        <p:spPr>
          <a:xfrm>
            <a:off x="4654296" y="1856232"/>
            <a:ext cx="384048" cy="384048"/>
          </a:xfrm>
          <a:prstGeom prst="ellipse">
            <a:avLst/>
          </a:prstGeom>
          <a:solidFill>
            <a:srgbClr val="02C39A"/>
          </a:solidFill>
          <a:ln w="6350">
            <a:solidFill>
              <a:srgbClr val="02C39A"/>
            </a:solidFill>
            <a:prstDash val="solid"/>
          </a:ln>
        </p:spPr>
      </p:sp>
      <p:sp>
        <p:nvSpPr>
          <p:cNvPr id="11" name="Text 9"/>
          <p:cNvSpPr txBox="1"/>
          <p:nvPr/>
        </p:nvSpPr>
        <p:spPr>
          <a:xfrm>
            <a:off x="4654296" y="1874520"/>
            <a:ext cx="384048" cy="347472"/>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4654296" y="2377440"/>
            <a:ext cx="2926080" cy="4572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Stakeholder coordination</a:t>
            </a:r>
            <a:endParaRPr lang="en-US" sz="1350" dirty="0"/>
          </a:p>
        </p:txBody>
      </p:sp>
      <p:sp>
        <p:nvSpPr>
          <p:cNvPr id="13" name="Text 11"/>
          <p:cNvSpPr txBox="1"/>
          <p:nvPr/>
        </p:nvSpPr>
        <p:spPr>
          <a:xfrm>
            <a:off x="4654296" y="2807208"/>
            <a:ext cx="2971800" cy="7772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Obtaining permissions and arranging discussions with laundry personnel consumed development time in the early phase — but it produced realistic requirements.</a:t>
            </a:r>
            <a:endParaRPr lang="en-US" sz="1050" dirty="0"/>
          </a:p>
        </p:txBody>
      </p:sp>
      <p:sp>
        <p:nvSpPr>
          <p:cNvPr id="14" name="Shape 12"/>
          <p:cNvSpPr/>
          <p:nvPr/>
        </p:nvSpPr>
        <p:spPr>
          <a:xfrm>
            <a:off x="8119872" y="1600200"/>
            <a:ext cx="3465576" cy="2057400"/>
          </a:xfrm>
          <a:prstGeom prst="roundRect">
            <a:avLst>
              <a:gd name="adj" fmla="val 3556"/>
            </a:avLst>
          </a:prstGeom>
          <a:solidFill>
            <a:srgbClr val="12505F"/>
          </a:solidFill>
          <a:ln w="9525">
            <a:solidFill>
              <a:srgbClr val="12505F"/>
            </a:solidFill>
            <a:prstDash val="solid"/>
          </a:ln>
        </p:spPr>
      </p:sp>
      <p:sp>
        <p:nvSpPr>
          <p:cNvPr id="15" name="Shape 13"/>
          <p:cNvSpPr/>
          <p:nvPr/>
        </p:nvSpPr>
        <p:spPr>
          <a:xfrm>
            <a:off x="8394192" y="1856232"/>
            <a:ext cx="384048" cy="384048"/>
          </a:xfrm>
          <a:prstGeom prst="ellipse">
            <a:avLst/>
          </a:prstGeom>
          <a:solidFill>
            <a:srgbClr val="02C39A"/>
          </a:solidFill>
          <a:ln w="6350">
            <a:solidFill>
              <a:srgbClr val="02C39A"/>
            </a:solidFill>
            <a:prstDash val="solid"/>
          </a:ln>
        </p:spPr>
      </p:sp>
      <p:sp>
        <p:nvSpPr>
          <p:cNvPr id="16" name="Text 14"/>
          <p:cNvSpPr txBox="1"/>
          <p:nvPr/>
        </p:nvSpPr>
        <p:spPr>
          <a:xfrm>
            <a:off x="8394192" y="1874520"/>
            <a:ext cx="384048" cy="347472"/>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3</a:t>
            </a:r>
            <a:endParaRPr lang="en-US" sz="1250" dirty="0"/>
          </a:p>
        </p:txBody>
      </p:sp>
      <p:sp>
        <p:nvSpPr>
          <p:cNvPr id="17" name="Text 15"/>
          <p:cNvSpPr txBox="1"/>
          <p:nvPr/>
        </p:nvSpPr>
        <p:spPr>
          <a:xfrm>
            <a:off x="8394192" y="2377440"/>
            <a:ext cx="2926080" cy="4572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Reliable collection verification</a:t>
            </a:r>
            <a:endParaRPr lang="en-US" sz="1350" dirty="0"/>
          </a:p>
        </p:txBody>
      </p:sp>
      <p:sp>
        <p:nvSpPr>
          <p:cNvPr id="18" name="Text 16"/>
          <p:cNvSpPr txBox="1"/>
          <p:nvPr/>
        </p:nvSpPr>
        <p:spPr>
          <a:xfrm>
            <a:off x="8394192" y="2807208"/>
            <a:ext cx="2971800" cy="7772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Associating a physical laundry order with the correct student and giving staff a way to verify handover is what led directly to the QR pickup token design.</a:t>
            </a:r>
            <a:endParaRPr lang="en-US" sz="1050" dirty="0"/>
          </a:p>
        </p:txBody>
      </p:sp>
      <p:sp>
        <p:nvSpPr>
          <p:cNvPr id="19" name="Shape 17"/>
          <p:cNvSpPr/>
          <p:nvPr/>
        </p:nvSpPr>
        <p:spPr>
          <a:xfrm>
            <a:off x="640080" y="3840480"/>
            <a:ext cx="3465576" cy="2057400"/>
          </a:xfrm>
          <a:prstGeom prst="roundRect">
            <a:avLst>
              <a:gd name="adj" fmla="val 3556"/>
            </a:avLst>
          </a:prstGeom>
          <a:solidFill>
            <a:srgbClr val="12505F"/>
          </a:solidFill>
          <a:ln w="9525">
            <a:solidFill>
              <a:srgbClr val="12505F"/>
            </a:solidFill>
            <a:prstDash val="solid"/>
          </a:ln>
        </p:spPr>
      </p:sp>
      <p:sp>
        <p:nvSpPr>
          <p:cNvPr id="20" name="Shape 18"/>
          <p:cNvSpPr/>
          <p:nvPr/>
        </p:nvSpPr>
        <p:spPr>
          <a:xfrm>
            <a:off x="914400" y="4096512"/>
            <a:ext cx="384048" cy="384048"/>
          </a:xfrm>
          <a:prstGeom prst="ellipse">
            <a:avLst/>
          </a:prstGeom>
          <a:solidFill>
            <a:srgbClr val="02C39A"/>
          </a:solidFill>
          <a:ln w="6350">
            <a:solidFill>
              <a:srgbClr val="02C39A"/>
            </a:solidFill>
            <a:prstDash val="solid"/>
          </a:ln>
        </p:spPr>
      </p:sp>
      <p:sp>
        <p:nvSpPr>
          <p:cNvPr id="21" name="Text 19"/>
          <p:cNvSpPr txBox="1"/>
          <p:nvPr/>
        </p:nvSpPr>
        <p:spPr>
          <a:xfrm>
            <a:off x="914400" y="4114800"/>
            <a:ext cx="384048" cy="347472"/>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4</a:t>
            </a:r>
            <a:endParaRPr lang="en-US" sz="1250" dirty="0"/>
          </a:p>
        </p:txBody>
      </p:sp>
      <p:sp>
        <p:nvSpPr>
          <p:cNvPr id="22" name="Text 20"/>
          <p:cNvSpPr txBox="1"/>
          <p:nvPr/>
        </p:nvSpPr>
        <p:spPr>
          <a:xfrm>
            <a:off x="914400" y="4617720"/>
            <a:ext cx="2926080" cy="4572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Requirements into models</a:t>
            </a:r>
            <a:endParaRPr lang="en-US" sz="1350" dirty="0"/>
          </a:p>
        </p:txBody>
      </p:sp>
      <p:sp>
        <p:nvSpPr>
          <p:cNvPr id="23" name="Text 21"/>
          <p:cNvSpPr txBox="1"/>
          <p:nvPr/>
        </p:nvSpPr>
        <p:spPr>
          <a:xfrm>
            <a:off x="914400" y="5047488"/>
            <a:ext cx="2971800" cy="7772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Converting operational needs into formal artefacts — actors, use cases, activities, classes, data flows, entities and APIs — took several iterations.</a:t>
            </a:r>
            <a:endParaRPr lang="en-US" sz="1050" dirty="0"/>
          </a:p>
        </p:txBody>
      </p:sp>
      <p:sp>
        <p:nvSpPr>
          <p:cNvPr id="24" name="Shape 22"/>
          <p:cNvSpPr/>
          <p:nvPr/>
        </p:nvSpPr>
        <p:spPr>
          <a:xfrm>
            <a:off x="4379976" y="3840480"/>
            <a:ext cx="3465576" cy="2057400"/>
          </a:xfrm>
          <a:prstGeom prst="roundRect">
            <a:avLst>
              <a:gd name="adj" fmla="val 3556"/>
            </a:avLst>
          </a:prstGeom>
          <a:solidFill>
            <a:srgbClr val="12505F"/>
          </a:solidFill>
          <a:ln w="9525">
            <a:solidFill>
              <a:srgbClr val="12505F"/>
            </a:solidFill>
            <a:prstDash val="solid"/>
          </a:ln>
        </p:spPr>
      </p:sp>
      <p:sp>
        <p:nvSpPr>
          <p:cNvPr id="25" name="Shape 23"/>
          <p:cNvSpPr/>
          <p:nvPr/>
        </p:nvSpPr>
        <p:spPr>
          <a:xfrm>
            <a:off x="4654296" y="4096512"/>
            <a:ext cx="384048" cy="384048"/>
          </a:xfrm>
          <a:prstGeom prst="ellipse">
            <a:avLst/>
          </a:prstGeom>
          <a:solidFill>
            <a:srgbClr val="02C39A"/>
          </a:solidFill>
          <a:ln w="6350">
            <a:solidFill>
              <a:srgbClr val="02C39A"/>
            </a:solidFill>
            <a:prstDash val="solid"/>
          </a:ln>
        </p:spPr>
      </p:sp>
      <p:sp>
        <p:nvSpPr>
          <p:cNvPr id="26" name="Text 24"/>
          <p:cNvSpPr txBox="1"/>
          <p:nvPr/>
        </p:nvSpPr>
        <p:spPr>
          <a:xfrm>
            <a:off x="4654296" y="4114800"/>
            <a:ext cx="384048" cy="347472"/>
          </a:xfrm>
          <a:prstGeom prst="rect">
            <a:avLst/>
          </a:prstGeom>
          <a:noFill/>
          <a:ln/>
        </p:spPr>
        <p:txBody>
          <a:bodyPr wrap="square" lIns="0" tIns="0" rIns="0" bIns="0" rtlCol="0" anchor="ctr"/>
          <a:lstStyle/>
          <a:p>
            <a:pPr algn="ctr" indent="0" marL="0">
              <a:buNone/>
            </a:pPr>
            <a:r>
              <a:rPr lang="en-US" sz="1250" b="1" dirty="0">
                <a:solidFill>
                  <a:srgbClr val="0B3B47"/>
                </a:solidFill>
                <a:latin typeface="Calibri" pitchFamily="34" charset="0"/>
                <a:ea typeface="Calibri" pitchFamily="34" charset="-122"/>
                <a:cs typeface="Calibri" pitchFamily="34" charset="-120"/>
              </a:rPr>
              <a:t>5</a:t>
            </a:r>
            <a:endParaRPr lang="en-US" sz="1250" dirty="0"/>
          </a:p>
        </p:txBody>
      </p:sp>
      <p:sp>
        <p:nvSpPr>
          <p:cNvPr id="27" name="Text 25"/>
          <p:cNvSpPr txBox="1"/>
          <p:nvPr/>
        </p:nvSpPr>
        <p:spPr>
          <a:xfrm>
            <a:off x="4654296" y="4617720"/>
            <a:ext cx="2926080" cy="4572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Development vs documentation</a:t>
            </a:r>
            <a:endParaRPr lang="en-US" sz="1350" dirty="0"/>
          </a:p>
        </p:txBody>
      </p:sp>
      <p:sp>
        <p:nvSpPr>
          <p:cNvPr id="28" name="Text 26"/>
          <p:cNvSpPr txBox="1"/>
          <p:nvPr/>
        </p:nvSpPr>
        <p:spPr>
          <a:xfrm>
            <a:off x="4654296" y="5047488"/>
            <a:ext cx="2971800" cy="777240"/>
          </a:xfrm>
          <a:prstGeom prst="rect">
            <a:avLst/>
          </a:prstGeom>
          <a:noFill/>
          <a:ln/>
        </p:spPr>
        <p:txBody>
          <a:bodyPr wrap="square" lIns="0" tIns="0" rIns="0" bIns="0" rtlCol="0" anchor="t"/>
          <a:lstStyle/>
          <a:p>
            <a:pPr indent="0" marL="0">
              <a:lnSpc>
                <a:spcPts val="1300"/>
              </a:lnSpc>
              <a:buNone/>
            </a:pPr>
            <a:r>
              <a:rPr lang="en-US" sz="1050" dirty="0">
                <a:solidFill>
                  <a:srgbClr val="C9E4E8"/>
                </a:solidFill>
                <a:latin typeface="Calibri" pitchFamily="34" charset="0"/>
                <a:ea typeface="Calibri" pitchFamily="34" charset="-122"/>
                <a:cs typeface="Calibri" pitchFamily="34" charset="-120"/>
              </a:rPr>
              <a:t>With work happening in parallel on different layers, keeping the report consistent with the actual codebase was an ongoing effort.</a:t>
            </a:r>
            <a:endParaRPr lang="en-US" sz="1050" dirty="0"/>
          </a:p>
        </p:txBody>
      </p:sp>
      <p:sp>
        <p:nvSpPr>
          <p:cNvPr id="29" name="Shape 27"/>
          <p:cNvSpPr/>
          <p:nvPr/>
        </p:nvSpPr>
        <p:spPr>
          <a:xfrm>
            <a:off x="8119872" y="3840480"/>
            <a:ext cx="3465576" cy="2057400"/>
          </a:xfrm>
          <a:prstGeom prst="roundRect">
            <a:avLst>
              <a:gd name="adj" fmla="val 3556"/>
            </a:avLst>
          </a:prstGeom>
          <a:solidFill>
            <a:srgbClr val="028090"/>
          </a:solidFill>
          <a:ln w="6350">
            <a:solidFill>
              <a:srgbClr val="028090"/>
            </a:solidFill>
            <a:prstDash val="solid"/>
          </a:ln>
        </p:spPr>
      </p:sp>
      <p:sp>
        <p:nvSpPr>
          <p:cNvPr id="30" name="Text 28"/>
          <p:cNvSpPr txBox="1"/>
          <p:nvPr/>
        </p:nvSpPr>
        <p:spPr>
          <a:xfrm>
            <a:off x="8439912" y="4480560"/>
            <a:ext cx="2834640" cy="822960"/>
          </a:xfrm>
          <a:prstGeom prst="rect">
            <a:avLst/>
          </a:prstGeom>
          <a:noFill/>
          <a:ln/>
        </p:spPr>
        <p:txBody>
          <a:bodyPr wrap="square" lIns="0" tIns="0" rIns="0" bIns="0" rtlCol="0" anchor="t"/>
          <a:lstStyle/>
          <a:p>
            <a:pPr indent="0" marL="0">
              <a:lnSpc>
                <a:spcPts val="2000"/>
              </a:lnSpc>
              <a:buNone/>
            </a:pPr>
            <a:r>
              <a:rPr lang="en-US" sz="1450" b="1" i="1" dirty="0">
                <a:solidFill>
                  <a:srgbClr val="FFFFFF"/>
                </a:solidFill>
                <a:latin typeface="Calibri" pitchFamily="34" charset="0"/>
                <a:ea typeface="Calibri" pitchFamily="34" charset="-122"/>
                <a:cs typeface="Calibri" pitchFamily="34" charset="-120"/>
              </a:rPr>
              <a:t>The hardest problems in this phase were about the domain, not the code.</a:t>
            </a:r>
            <a:endParaRPr lang="en-US" sz="1450" dirty="0"/>
          </a:p>
        </p:txBody>
      </p:sp>
      <p:sp>
        <p:nvSpPr>
          <p:cNvPr id="31" name="Text 29"/>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23</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Current Limitations</a:t>
            </a:r>
            <a:endParaRPr lang="en-US" sz="3000" dirty="0"/>
          </a:p>
        </p:txBody>
      </p:sp>
      <p:sp>
        <p:nvSpPr>
          <p:cNvPr id="4" name="Text 2"/>
          <p:cNvSpPr txBox="1"/>
          <p:nvPr/>
        </p:nvSpPr>
        <p:spPr>
          <a:xfrm>
            <a:off x="640080" y="1371600"/>
            <a:ext cx="10881360" cy="320040"/>
          </a:xfrm>
          <a:prstGeom prst="rect">
            <a:avLst/>
          </a:prstGeom>
          <a:noFill/>
          <a:ln/>
        </p:spPr>
        <p:txBody>
          <a:bodyPr wrap="square" lIns="0" tIns="0" rIns="0" bIns="0" rtlCol="0" anchor="t"/>
          <a:lstStyle/>
          <a:p>
            <a:pPr indent="0" marL="0">
              <a:buNone/>
            </a:pPr>
            <a:r>
              <a:rPr lang="en-US" sz="1350" dirty="0">
                <a:solidFill>
                  <a:srgbClr val="6E8288"/>
                </a:solidFill>
                <a:latin typeface="Calibri" pitchFamily="34" charset="0"/>
                <a:ea typeface="Calibri" pitchFamily="34" charset="-122"/>
                <a:cs typeface="Calibri" pitchFamily="34" charset="-120"/>
              </a:rPr>
              <a:t>These reflect the current stage of development rather than flaws in the system design.</a:t>
            </a:r>
            <a:endParaRPr lang="en-US" sz="1350" dirty="0"/>
          </a:p>
        </p:txBody>
      </p:sp>
      <p:sp>
        <p:nvSpPr>
          <p:cNvPr id="5" name="Shape 3"/>
          <p:cNvSpPr/>
          <p:nvPr/>
        </p:nvSpPr>
        <p:spPr>
          <a:xfrm>
            <a:off x="640080" y="1783080"/>
            <a:ext cx="5349240" cy="914400"/>
          </a:xfrm>
          <a:prstGeom prst="roundRect">
            <a:avLst>
              <a:gd name="adj" fmla="val 8000"/>
            </a:avLst>
          </a:prstGeom>
          <a:solidFill>
            <a:srgbClr val="F4F9F9"/>
          </a:solidFill>
          <a:ln w="9525">
            <a:solidFill>
              <a:srgbClr val="F4F9F9"/>
            </a:solidFill>
            <a:prstDash val="solid"/>
          </a:ln>
        </p:spPr>
      </p:sp>
      <p:sp>
        <p:nvSpPr>
          <p:cNvPr id="6" name="Shape 4"/>
          <p:cNvSpPr/>
          <p:nvPr/>
        </p:nvSpPr>
        <p:spPr>
          <a:xfrm>
            <a:off x="896112" y="2020824"/>
            <a:ext cx="420624" cy="420624"/>
          </a:xfrm>
          <a:prstGeom prst="ellipse">
            <a:avLst/>
          </a:prstGeom>
          <a:solidFill>
            <a:srgbClr val="0B3B47"/>
          </a:solidFill>
          <a:ln w="6350">
            <a:solidFill>
              <a:srgbClr val="0B3B47"/>
            </a:solidFill>
            <a:prstDash val="solid"/>
          </a:ln>
        </p:spPr>
      </p:sp>
      <p:sp>
        <p:nvSpPr>
          <p:cNvPr id="7" name="Text 5"/>
          <p:cNvSpPr txBox="1"/>
          <p:nvPr/>
        </p:nvSpPr>
        <p:spPr>
          <a:xfrm>
            <a:off x="896112" y="2039112"/>
            <a:ext cx="42062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txBox="1"/>
          <p:nvPr/>
        </p:nvSpPr>
        <p:spPr>
          <a:xfrm>
            <a:off x="1481328" y="1965960"/>
            <a:ext cx="4297680" cy="256032"/>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Incomplete laundry workflow</a:t>
            </a:r>
            <a:endParaRPr lang="en-US" sz="1350" dirty="0"/>
          </a:p>
        </p:txBody>
      </p:sp>
      <p:sp>
        <p:nvSpPr>
          <p:cNvPr id="9" name="Text 7"/>
          <p:cNvSpPr txBox="1"/>
          <p:nvPr/>
        </p:nvSpPr>
        <p:spPr>
          <a:xfrm>
            <a:off x="1481328" y="2258568"/>
            <a:ext cx="438912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Student submission and tracking are not yet fully implemented.</a:t>
            </a:r>
            <a:endParaRPr lang="en-US" sz="1150" dirty="0"/>
          </a:p>
        </p:txBody>
      </p:sp>
      <p:sp>
        <p:nvSpPr>
          <p:cNvPr id="10" name="Shape 8"/>
          <p:cNvSpPr/>
          <p:nvPr/>
        </p:nvSpPr>
        <p:spPr>
          <a:xfrm>
            <a:off x="6309360" y="1783080"/>
            <a:ext cx="5349240" cy="914400"/>
          </a:xfrm>
          <a:prstGeom prst="roundRect">
            <a:avLst>
              <a:gd name="adj" fmla="val 8000"/>
            </a:avLst>
          </a:prstGeom>
          <a:solidFill>
            <a:srgbClr val="F4F9F9"/>
          </a:solidFill>
          <a:ln w="9525">
            <a:solidFill>
              <a:srgbClr val="F4F9F9"/>
            </a:solidFill>
            <a:prstDash val="solid"/>
          </a:ln>
        </p:spPr>
      </p:sp>
      <p:sp>
        <p:nvSpPr>
          <p:cNvPr id="11" name="Shape 9"/>
          <p:cNvSpPr/>
          <p:nvPr/>
        </p:nvSpPr>
        <p:spPr>
          <a:xfrm>
            <a:off x="6565392" y="2020824"/>
            <a:ext cx="420624" cy="420624"/>
          </a:xfrm>
          <a:prstGeom prst="ellipse">
            <a:avLst/>
          </a:prstGeom>
          <a:solidFill>
            <a:srgbClr val="0B3B47"/>
          </a:solidFill>
          <a:ln w="6350">
            <a:solidFill>
              <a:srgbClr val="0B3B47"/>
            </a:solidFill>
            <a:prstDash val="solid"/>
          </a:ln>
        </p:spPr>
      </p:sp>
      <p:sp>
        <p:nvSpPr>
          <p:cNvPr id="12" name="Text 10"/>
          <p:cNvSpPr txBox="1"/>
          <p:nvPr/>
        </p:nvSpPr>
        <p:spPr>
          <a:xfrm>
            <a:off x="6565392" y="2039112"/>
            <a:ext cx="42062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txBox="1"/>
          <p:nvPr/>
        </p:nvSpPr>
        <p:spPr>
          <a:xfrm>
            <a:off x="7150608" y="1965960"/>
            <a:ext cx="4297680" cy="256032"/>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Staff module pending</a:t>
            </a:r>
            <a:endParaRPr lang="en-US" sz="1350" dirty="0"/>
          </a:p>
        </p:txBody>
      </p:sp>
      <p:sp>
        <p:nvSpPr>
          <p:cNvPr id="14" name="Text 12"/>
          <p:cNvSpPr txBox="1"/>
          <p:nvPr/>
        </p:nvSpPr>
        <p:spPr>
          <a:xfrm>
            <a:off x="7150608" y="2258568"/>
            <a:ext cx="438912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The staff interface and complete staff APIs are yet to be built.</a:t>
            </a:r>
            <a:endParaRPr lang="en-US" sz="1150" dirty="0"/>
          </a:p>
        </p:txBody>
      </p:sp>
      <p:sp>
        <p:nvSpPr>
          <p:cNvPr id="15" name="Shape 13"/>
          <p:cNvSpPr/>
          <p:nvPr/>
        </p:nvSpPr>
        <p:spPr>
          <a:xfrm>
            <a:off x="640080" y="2862072"/>
            <a:ext cx="5349240" cy="914400"/>
          </a:xfrm>
          <a:prstGeom prst="roundRect">
            <a:avLst>
              <a:gd name="adj" fmla="val 8000"/>
            </a:avLst>
          </a:prstGeom>
          <a:solidFill>
            <a:srgbClr val="F4F9F9"/>
          </a:solidFill>
          <a:ln w="9525">
            <a:solidFill>
              <a:srgbClr val="F4F9F9"/>
            </a:solidFill>
            <a:prstDash val="solid"/>
          </a:ln>
        </p:spPr>
      </p:sp>
      <p:sp>
        <p:nvSpPr>
          <p:cNvPr id="16" name="Shape 14"/>
          <p:cNvSpPr/>
          <p:nvPr/>
        </p:nvSpPr>
        <p:spPr>
          <a:xfrm>
            <a:off x="896112" y="3099816"/>
            <a:ext cx="420624" cy="420624"/>
          </a:xfrm>
          <a:prstGeom prst="ellipse">
            <a:avLst/>
          </a:prstGeom>
          <a:solidFill>
            <a:srgbClr val="0B3B47"/>
          </a:solidFill>
          <a:ln w="6350">
            <a:solidFill>
              <a:srgbClr val="0B3B47"/>
            </a:solidFill>
            <a:prstDash val="solid"/>
          </a:ln>
        </p:spPr>
      </p:sp>
      <p:sp>
        <p:nvSpPr>
          <p:cNvPr id="17" name="Text 15"/>
          <p:cNvSpPr txBox="1"/>
          <p:nvPr/>
        </p:nvSpPr>
        <p:spPr>
          <a:xfrm>
            <a:off x="896112" y="3118104"/>
            <a:ext cx="42062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1481328" y="3044952"/>
            <a:ext cx="4297680" cy="256032"/>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QR pickup pending</a:t>
            </a:r>
            <a:endParaRPr lang="en-US" sz="1350" dirty="0"/>
          </a:p>
        </p:txBody>
      </p:sp>
      <p:sp>
        <p:nvSpPr>
          <p:cNvPr id="19" name="Text 17"/>
          <p:cNvSpPr txBox="1"/>
          <p:nvPr/>
        </p:nvSpPr>
        <p:spPr>
          <a:xfrm>
            <a:off x="1481328" y="3337560"/>
            <a:ext cx="438912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Designed in full; implementation and validation are outstanding.</a:t>
            </a:r>
            <a:endParaRPr lang="en-US" sz="1150" dirty="0"/>
          </a:p>
        </p:txBody>
      </p:sp>
      <p:sp>
        <p:nvSpPr>
          <p:cNvPr id="20" name="Shape 18"/>
          <p:cNvSpPr/>
          <p:nvPr/>
        </p:nvSpPr>
        <p:spPr>
          <a:xfrm>
            <a:off x="6309360" y="2862072"/>
            <a:ext cx="5349240" cy="914400"/>
          </a:xfrm>
          <a:prstGeom prst="roundRect">
            <a:avLst>
              <a:gd name="adj" fmla="val 8000"/>
            </a:avLst>
          </a:prstGeom>
          <a:solidFill>
            <a:srgbClr val="F4F9F9"/>
          </a:solidFill>
          <a:ln w="9525">
            <a:solidFill>
              <a:srgbClr val="F4F9F9"/>
            </a:solidFill>
            <a:prstDash val="solid"/>
          </a:ln>
        </p:spPr>
      </p:sp>
      <p:sp>
        <p:nvSpPr>
          <p:cNvPr id="21" name="Shape 19"/>
          <p:cNvSpPr/>
          <p:nvPr/>
        </p:nvSpPr>
        <p:spPr>
          <a:xfrm>
            <a:off x="6565392" y="3099816"/>
            <a:ext cx="420624" cy="420624"/>
          </a:xfrm>
          <a:prstGeom prst="ellipse">
            <a:avLst/>
          </a:prstGeom>
          <a:solidFill>
            <a:srgbClr val="0B3B47"/>
          </a:solidFill>
          <a:ln w="6350">
            <a:solidFill>
              <a:srgbClr val="0B3B47"/>
            </a:solidFill>
            <a:prstDash val="solid"/>
          </a:ln>
        </p:spPr>
      </p:sp>
      <p:sp>
        <p:nvSpPr>
          <p:cNvPr id="22" name="Text 20"/>
          <p:cNvSpPr txBox="1"/>
          <p:nvPr/>
        </p:nvSpPr>
        <p:spPr>
          <a:xfrm>
            <a:off x="6565392" y="3118104"/>
            <a:ext cx="42062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txBox="1"/>
          <p:nvPr/>
        </p:nvSpPr>
        <p:spPr>
          <a:xfrm>
            <a:off x="7150608" y="3044952"/>
            <a:ext cx="4297680" cy="256032"/>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Complaint module pending</a:t>
            </a:r>
            <a:endParaRPr lang="en-US" sz="1350" dirty="0"/>
          </a:p>
        </p:txBody>
      </p:sp>
      <p:sp>
        <p:nvSpPr>
          <p:cNvPr id="24" name="Text 22"/>
          <p:cNvSpPr txBox="1"/>
          <p:nvPr/>
        </p:nvSpPr>
        <p:spPr>
          <a:xfrm>
            <a:off x="7150608" y="3337560"/>
            <a:ext cx="438912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Included in the design, not yet implemented.</a:t>
            </a:r>
            <a:endParaRPr lang="en-US" sz="1150" dirty="0"/>
          </a:p>
        </p:txBody>
      </p:sp>
      <p:sp>
        <p:nvSpPr>
          <p:cNvPr id="25" name="Shape 23"/>
          <p:cNvSpPr/>
          <p:nvPr/>
        </p:nvSpPr>
        <p:spPr>
          <a:xfrm>
            <a:off x="640080" y="3941064"/>
            <a:ext cx="5349240" cy="914400"/>
          </a:xfrm>
          <a:prstGeom prst="roundRect">
            <a:avLst>
              <a:gd name="adj" fmla="val 8000"/>
            </a:avLst>
          </a:prstGeom>
          <a:solidFill>
            <a:srgbClr val="F4F9F9"/>
          </a:solidFill>
          <a:ln w="9525">
            <a:solidFill>
              <a:srgbClr val="F4F9F9"/>
            </a:solidFill>
            <a:prstDash val="solid"/>
          </a:ln>
        </p:spPr>
      </p:sp>
      <p:sp>
        <p:nvSpPr>
          <p:cNvPr id="26" name="Shape 24"/>
          <p:cNvSpPr/>
          <p:nvPr/>
        </p:nvSpPr>
        <p:spPr>
          <a:xfrm>
            <a:off x="896112" y="4178808"/>
            <a:ext cx="420624" cy="420624"/>
          </a:xfrm>
          <a:prstGeom prst="ellipse">
            <a:avLst/>
          </a:prstGeom>
          <a:solidFill>
            <a:srgbClr val="0B3B47"/>
          </a:solidFill>
          <a:ln w="6350">
            <a:solidFill>
              <a:srgbClr val="0B3B47"/>
            </a:solidFill>
            <a:prstDash val="solid"/>
          </a:ln>
        </p:spPr>
      </p:sp>
      <p:sp>
        <p:nvSpPr>
          <p:cNvPr id="27" name="Text 25"/>
          <p:cNvSpPr txBox="1"/>
          <p:nvPr/>
        </p:nvSpPr>
        <p:spPr>
          <a:xfrm>
            <a:off x="896112" y="4197096"/>
            <a:ext cx="42062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8" name="Text 26"/>
          <p:cNvSpPr txBox="1"/>
          <p:nvPr/>
        </p:nvSpPr>
        <p:spPr>
          <a:xfrm>
            <a:off x="1481328" y="4123944"/>
            <a:ext cx="4297680" cy="256032"/>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Notification system pending</a:t>
            </a:r>
            <a:endParaRPr lang="en-US" sz="1350" dirty="0"/>
          </a:p>
        </p:txBody>
      </p:sp>
      <p:sp>
        <p:nvSpPr>
          <p:cNvPr id="29" name="Text 27"/>
          <p:cNvSpPr txBox="1"/>
          <p:nvPr/>
        </p:nvSpPr>
        <p:spPr>
          <a:xfrm>
            <a:off x="1481328" y="4416552"/>
            <a:ext cx="438912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Part of the architecture, requires implementation and integration.</a:t>
            </a:r>
            <a:endParaRPr lang="en-US" sz="1150" dirty="0"/>
          </a:p>
        </p:txBody>
      </p:sp>
      <p:sp>
        <p:nvSpPr>
          <p:cNvPr id="30" name="Shape 28"/>
          <p:cNvSpPr/>
          <p:nvPr/>
        </p:nvSpPr>
        <p:spPr>
          <a:xfrm>
            <a:off x="6309360" y="3941064"/>
            <a:ext cx="5349240" cy="914400"/>
          </a:xfrm>
          <a:prstGeom prst="roundRect">
            <a:avLst>
              <a:gd name="adj" fmla="val 8000"/>
            </a:avLst>
          </a:prstGeom>
          <a:solidFill>
            <a:srgbClr val="F4F9F9"/>
          </a:solidFill>
          <a:ln w="9525">
            <a:solidFill>
              <a:srgbClr val="F4F9F9"/>
            </a:solidFill>
            <a:prstDash val="solid"/>
          </a:ln>
        </p:spPr>
      </p:sp>
      <p:sp>
        <p:nvSpPr>
          <p:cNvPr id="31" name="Shape 29"/>
          <p:cNvSpPr/>
          <p:nvPr/>
        </p:nvSpPr>
        <p:spPr>
          <a:xfrm>
            <a:off x="6565392" y="4178808"/>
            <a:ext cx="420624" cy="420624"/>
          </a:xfrm>
          <a:prstGeom prst="ellipse">
            <a:avLst/>
          </a:prstGeom>
          <a:solidFill>
            <a:srgbClr val="0B3B47"/>
          </a:solidFill>
          <a:ln w="6350">
            <a:solidFill>
              <a:srgbClr val="0B3B47"/>
            </a:solidFill>
            <a:prstDash val="solid"/>
          </a:ln>
        </p:spPr>
      </p:sp>
      <p:sp>
        <p:nvSpPr>
          <p:cNvPr id="32" name="Text 30"/>
          <p:cNvSpPr txBox="1"/>
          <p:nvPr/>
        </p:nvSpPr>
        <p:spPr>
          <a:xfrm>
            <a:off x="6565392" y="4197096"/>
            <a:ext cx="42062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3" name="Text 31"/>
          <p:cNvSpPr txBox="1"/>
          <p:nvPr/>
        </p:nvSpPr>
        <p:spPr>
          <a:xfrm>
            <a:off x="7150608" y="4123944"/>
            <a:ext cx="4297680" cy="256032"/>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Administrative interface pending</a:t>
            </a:r>
            <a:endParaRPr lang="en-US" sz="1350" dirty="0"/>
          </a:p>
        </p:txBody>
      </p:sp>
      <p:sp>
        <p:nvSpPr>
          <p:cNvPr id="34" name="Text 32"/>
          <p:cNvSpPr txBox="1"/>
          <p:nvPr/>
        </p:nvSpPr>
        <p:spPr>
          <a:xfrm>
            <a:off x="7150608" y="4416552"/>
            <a:ext cx="438912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The admin dashboard remains future development.</a:t>
            </a:r>
            <a:endParaRPr lang="en-US" sz="1150" dirty="0"/>
          </a:p>
        </p:txBody>
      </p:sp>
      <p:sp>
        <p:nvSpPr>
          <p:cNvPr id="35" name="Shape 33"/>
          <p:cNvSpPr/>
          <p:nvPr/>
        </p:nvSpPr>
        <p:spPr>
          <a:xfrm>
            <a:off x="640080" y="5020056"/>
            <a:ext cx="5349240" cy="914400"/>
          </a:xfrm>
          <a:prstGeom prst="roundRect">
            <a:avLst>
              <a:gd name="adj" fmla="val 8000"/>
            </a:avLst>
          </a:prstGeom>
          <a:solidFill>
            <a:srgbClr val="F4F9F9"/>
          </a:solidFill>
          <a:ln w="9525">
            <a:solidFill>
              <a:srgbClr val="F4F9F9"/>
            </a:solidFill>
            <a:prstDash val="solid"/>
          </a:ln>
        </p:spPr>
      </p:sp>
      <p:sp>
        <p:nvSpPr>
          <p:cNvPr id="36" name="Shape 34"/>
          <p:cNvSpPr/>
          <p:nvPr/>
        </p:nvSpPr>
        <p:spPr>
          <a:xfrm>
            <a:off x="896112" y="5257800"/>
            <a:ext cx="420624" cy="420624"/>
          </a:xfrm>
          <a:prstGeom prst="ellipse">
            <a:avLst/>
          </a:prstGeom>
          <a:solidFill>
            <a:srgbClr val="0B3B47"/>
          </a:solidFill>
          <a:ln w="6350">
            <a:solidFill>
              <a:srgbClr val="0B3B47"/>
            </a:solidFill>
            <a:prstDash val="solid"/>
          </a:ln>
        </p:spPr>
      </p:sp>
      <p:sp>
        <p:nvSpPr>
          <p:cNvPr id="37" name="Text 35"/>
          <p:cNvSpPr txBox="1"/>
          <p:nvPr/>
        </p:nvSpPr>
        <p:spPr>
          <a:xfrm>
            <a:off x="896112" y="5276088"/>
            <a:ext cx="42062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38" name="Text 36"/>
          <p:cNvSpPr txBox="1"/>
          <p:nvPr/>
        </p:nvSpPr>
        <p:spPr>
          <a:xfrm>
            <a:off x="1481328" y="5202936"/>
            <a:ext cx="4297680" cy="256032"/>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End-to-end testing pending</a:t>
            </a:r>
            <a:endParaRPr lang="en-US" sz="1350" dirty="0"/>
          </a:p>
        </p:txBody>
      </p:sp>
      <p:sp>
        <p:nvSpPr>
          <p:cNvPr id="39" name="Text 37"/>
          <p:cNvSpPr txBox="1"/>
          <p:nvPr/>
        </p:nvSpPr>
        <p:spPr>
          <a:xfrm>
            <a:off x="1481328" y="5495544"/>
            <a:ext cx="438912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Possible only once the remaining modules are integrated.</a:t>
            </a:r>
            <a:endParaRPr lang="en-US" sz="1150" dirty="0"/>
          </a:p>
        </p:txBody>
      </p:sp>
      <p:sp>
        <p:nvSpPr>
          <p:cNvPr id="40" name="Shape 38"/>
          <p:cNvSpPr/>
          <p:nvPr/>
        </p:nvSpPr>
        <p:spPr>
          <a:xfrm>
            <a:off x="6309360" y="5020056"/>
            <a:ext cx="5349240" cy="914400"/>
          </a:xfrm>
          <a:prstGeom prst="roundRect">
            <a:avLst>
              <a:gd name="adj" fmla="val 8000"/>
            </a:avLst>
          </a:prstGeom>
          <a:solidFill>
            <a:srgbClr val="F4F9F9"/>
          </a:solidFill>
          <a:ln w="9525">
            <a:solidFill>
              <a:srgbClr val="F4F9F9"/>
            </a:solidFill>
            <a:prstDash val="solid"/>
          </a:ln>
        </p:spPr>
      </p:sp>
      <p:sp>
        <p:nvSpPr>
          <p:cNvPr id="41" name="Shape 39"/>
          <p:cNvSpPr/>
          <p:nvPr/>
        </p:nvSpPr>
        <p:spPr>
          <a:xfrm>
            <a:off x="6565392" y="5257800"/>
            <a:ext cx="420624" cy="420624"/>
          </a:xfrm>
          <a:prstGeom prst="ellipse">
            <a:avLst/>
          </a:prstGeom>
          <a:solidFill>
            <a:srgbClr val="0B3B47"/>
          </a:solidFill>
          <a:ln w="6350">
            <a:solidFill>
              <a:srgbClr val="0B3B47"/>
            </a:solidFill>
            <a:prstDash val="solid"/>
          </a:ln>
        </p:spPr>
      </p:sp>
      <p:sp>
        <p:nvSpPr>
          <p:cNvPr id="42" name="Text 40"/>
          <p:cNvSpPr txBox="1"/>
          <p:nvPr/>
        </p:nvSpPr>
        <p:spPr>
          <a:xfrm>
            <a:off x="6565392" y="5276088"/>
            <a:ext cx="42062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43" name="Text 41"/>
          <p:cNvSpPr txBox="1"/>
          <p:nvPr/>
        </p:nvSpPr>
        <p:spPr>
          <a:xfrm>
            <a:off x="7150608" y="5202936"/>
            <a:ext cx="4297680" cy="256032"/>
          </a:xfrm>
          <a:prstGeom prst="rect">
            <a:avLst/>
          </a:prstGeom>
          <a:noFill/>
          <a:ln/>
        </p:spPr>
        <p:txBody>
          <a:bodyPr wrap="square" lIns="0" tIns="0" rIns="0" bIns="0" rtlCol="0" anchor="t"/>
          <a:lstStyle/>
          <a:p>
            <a:pPr indent="0" marL="0">
              <a:buNone/>
            </a:pPr>
            <a:r>
              <a:rPr lang="en-US" sz="1350" b="1" dirty="0">
                <a:solidFill>
                  <a:srgbClr val="0B3B47"/>
                </a:solidFill>
                <a:latin typeface="Calibri" pitchFamily="34" charset="0"/>
                <a:ea typeface="Calibri" pitchFamily="34" charset="-122"/>
                <a:cs typeface="Calibri" pitchFamily="34" charset="-120"/>
              </a:rPr>
              <a:t>Frontend scope</a:t>
            </a:r>
            <a:endParaRPr lang="en-US" sz="1350" dirty="0"/>
          </a:p>
        </p:txBody>
      </p:sp>
      <p:sp>
        <p:nvSpPr>
          <p:cNvPr id="44" name="Text 42"/>
          <p:cNvSpPr txBox="1"/>
          <p:nvPr/>
        </p:nvSpPr>
        <p:spPr>
          <a:xfrm>
            <a:off x="7150608" y="5495544"/>
            <a:ext cx="4389120" cy="274320"/>
          </a:xfrm>
          <a:prstGeom prst="rect">
            <a:avLst/>
          </a:prstGeom>
          <a:noFill/>
          <a:ln/>
        </p:spPr>
        <p:txBody>
          <a:bodyPr wrap="square" lIns="0" tIns="0" rIns="0" bIns="0" rtlCol="0" anchor="t"/>
          <a:lstStyle/>
          <a:p>
            <a:pPr indent="0" marL="0">
              <a:buNone/>
            </a:pPr>
            <a:r>
              <a:rPr lang="en-US" sz="1150" dirty="0">
                <a:solidFill>
                  <a:srgbClr val="6E8288"/>
                </a:solidFill>
                <a:latin typeface="Calibri" pitchFamily="34" charset="0"/>
                <a:ea typeface="Calibri" pitchFamily="34" charset="-122"/>
                <a:cs typeface="Calibri" pitchFamily="34" charset="-120"/>
              </a:rPr>
              <a:t>The app establishes the foundation; the full UI is under development.</a:t>
            </a:r>
            <a:endParaRPr lang="en-US" sz="1150" dirty="0"/>
          </a:p>
        </p:txBody>
      </p:sp>
      <p:sp>
        <p:nvSpPr>
          <p:cNvPr id="45" name="Text 43"/>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8090"/>
                </a:solidFill>
                <a:latin typeface="Calibri" pitchFamily="34" charset="0"/>
                <a:ea typeface="Calibri" pitchFamily="34" charset="-122"/>
                <a:cs typeface="Calibri" pitchFamily="34" charset="-120"/>
              </a:rPr>
              <a:t>SECTION 24</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0B3B47"/>
                </a:solidFill>
                <a:latin typeface="Cambria" pitchFamily="34" charset="0"/>
                <a:ea typeface="Cambria" pitchFamily="34" charset="-122"/>
                <a:cs typeface="Cambria" pitchFamily="34" charset="-120"/>
              </a:rPr>
              <a:t>Future Work</a:t>
            </a:r>
            <a:endParaRPr lang="en-US" sz="3000" dirty="0"/>
          </a:p>
        </p:txBody>
      </p:sp>
      <p:sp>
        <p:nvSpPr>
          <p:cNvPr id="4" name="Shape 2"/>
          <p:cNvSpPr/>
          <p:nvPr/>
        </p:nvSpPr>
        <p:spPr>
          <a:xfrm>
            <a:off x="640080" y="1554480"/>
            <a:ext cx="2587752" cy="2029968"/>
          </a:xfrm>
          <a:prstGeom prst="roundRect">
            <a:avLst>
              <a:gd name="adj" fmla="val 3604"/>
            </a:avLst>
          </a:prstGeom>
          <a:solidFill>
            <a:srgbClr val="E9F3F4"/>
          </a:solidFill>
          <a:ln w="9525">
            <a:solidFill>
              <a:srgbClr val="E9F3F4"/>
            </a:solidFill>
            <a:prstDash val="solid"/>
          </a:ln>
        </p:spPr>
      </p:sp>
      <p:sp>
        <p:nvSpPr>
          <p:cNvPr id="5" name="Shape 3"/>
          <p:cNvSpPr/>
          <p:nvPr/>
        </p:nvSpPr>
        <p:spPr>
          <a:xfrm>
            <a:off x="896112" y="1792224"/>
            <a:ext cx="384048" cy="384048"/>
          </a:xfrm>
          <a:prstGeom prst="ellipse">
            <a:avLst/>
          </a:prstGeom>
          <a:solidFill>
            <a:srgbClr val="028090"/>
          </a:solidFill>
          <a:ln w="6350">
            <a:solidFill>
              <a:srgbClr val="028090"/>
            </a:solidFill>
            <a:prstDash val="solid"/>
          </a:ln>
        </p:spPr>
      </p:sp>
      <p:sp>
        <p:nvSpPr>
          <p:cNvPr id="6" name="Text 4"/>
          <p:cNvSpPr txBox="1"/>
          <p:nvPr/>
        </p:nvSpPr>
        <p:spPr>
          <a:xfrm>
            <a:off x="896112" y="181051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896112" y="2304288"/>
            <a:ext cx="2148840" cy="457200"/>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Student module</a:t>
            </a:r>
            <a:endParaRPr lang="en-US" sz="1300" dirty="0"/>
          </a:p>
        </p:txBody>
      </p:sp>
      <p:sp>
        <p:nvSpPr>
          <p:cNvPr id="8" name="Text 6"/>
          <p:cNvSpPr txBox="1"/>
          <p:nvPr/>
        </p:nvSpPr>
        <p:spPr>
          <a:xfrm>
            <a:off x="896112" y="2724912"/>
            <a:ext cx="2148840" cy="777240"/>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Dashboard, request creation and item entry, tracking and history, status visualization, complaint submission.</a:t>
            </a:r>
            <a:endParaRPr lang="en-US" sz="1050" dirty="0"/>
          </a:p>
        </p:txBody>
      </p:sp>
      <p:sp>
        <p:nvSpPr>
          <p:cNvPr id="9" name="Shape 7"/>
          <p:cNvSpPr/>
          <p:nvPr/>
        </p:nvSpPr>
        <p:spPr>
          <a:xfrm>
            <a:off x="3456432" y="1554480"/>
            <a:ext cx="2587752" cy="2029968"/>
          </a:xfrm>
          <a:prstGeom prst="roundRect">
            <a:avLst>
              <a:gd name="adj" fmla="val 3604"/>
            </a:avLst>
          </a:prstGeom>
          <a:solidFill>
            <a:srgbClr val="E9F3F4"/>
          </a:solidFill>
          <a:ln w="9525">
            <a:solidFill>
              <a:srgbClr val="E9F3F4"/>
            </a:solidFill>
            <a:prstDash val="solid"/>
          </a:ln>
        </p:spPr>
      </p:sp>
      <p:sp>
        <p:nvSpPr>
          <p:cNvPr id="10" name="Shape 8"/>
          <p:cNvSpPr/>
          <p:nvPr/>
        </p:nvSpPr>
        <p:spPr>
          <a:xfrm>
            <a:off x="3712464" y="1792224"/>
            <a:ext cx="384048" cy="384048"/>
          </a:xfrm>
          <a:prstGeom prst="ellipse">
            <a:avLst/>
          </a:prstGeom>
          <a:solidFill>
            <a:srgbClr val="028090"/>
          </a:solidFill>
          <a:ln w="6350">
            <a:solidFill>
              <a:srgbClr val="028090"/>
            </a:solidFill>
            <a:prstDash val="solid"/>
          </a:ln>
        </p:spPr>
      </p:sp>
      <p:sp>
        <p:nvSpPr>
          <p:cNvPr id="11" name="Text 9"/>
          <p:cNvSpPr txBox="1"/>
          <p:nvPr/>
        </p:nvSpPr>
        <p:spPr>
          <a:xfrm>
            <a:off x="3712464" y="181051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3712464" y="2304288"/>
            <a:ext cx="2148840" cy="457200"/>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Laundry staff module</a:t>
            </a:r>
            <a:endParaRPr lang="en-US" sz="1300" dirty="0"/>
          </a:p>
        </p:txBody>
      </p:sp>
      <p:sp>
        <p:nvSpPr>
          <p:cNvPr id="13" name="Text 11"/>
          <p:cNvSpPr txBox="1"/>
          <p:nvPr/>
        </p:nvSpPr>
        <p:spPr>
          <a:xfrm>
            <a:off x="3712464" y="2724912"/>
            <a:ext cx="2148840" cy="777240"/>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Incoming queue and verification, tagging and processing, ready-for-pickup management, QR scanning, complaint handling.</a:t>
            </a:r>
            <a:endParaRPr lang="en-US" sz="1050" dirty="0"/>
          </a:p>
        </p:txBody>
      </p:sp>
      <p:sp>
        <p:nvSpPr>
          <p:cNvPr id="14" name="Shape 12"/>
          <p:cNvSpPr/>
          <p:nvPr/>
        </p:nvSpPr>
        <p:spPr>
          <a:xfrm>
            <a:off x="6272784" y="1554480"/>
            <a:ext cx="2587752" cy="2029968"/>
          </a:xfrm>
          <a:prstGeom prst="roundRect">
            <a:avLst>
              <a:gd name="adj" fmla="val 3604"/>
            </a:avLst>
          </a:prstGeom>
          <a:solidFill>
            <a:srgbClr val="E9F3F4"/>
          </a:solidFill>
          <a:ln w="9525">
            <a:solidFill>
              <a:srgbClr val="E9F3F4"/>
            </a:solidFill>
            <a:prstDash val="solid"/>
          </a:ln>
        </p:spPr>
      </p:sp>
      <p:sp>
        <p:nvSpPr>
          <p:cNvPr id="15" name="Shape 13"/>
          <p:cNvSpPr/>
          <p:nvPr/>
        </p:nvSpPr>
        <p:spPr>
          <a:xfrm>
            <a:off x="6528816" y="1792224"/>
            <a:ext cx="384048" cy="384048"/>
          </a:xfrm>
          <a:prstGeom prst="ellipse">
            <a:avLst/>
          </a:prstGeom>
          <a:solidFill>
            <a:srgbClr val="028090"/>
          </a:solidFill>
          <a:ln w="6350">
            <a:solidFill>
              <a:srgbClr val="028090"/>
            </a:solidFill>
            <a:prstDash val="solid"/>
          </a:ln>
        </p:spPr>
      </p:sp>
      <p:sp>
        <p:nvSpPr>
          <p:cNvPr id="16" name="Text 14"/>
          <p:cNvSpPr txBox="1"/>
          <p:nvPr/>
        </p:nvSpPr>
        <p:spPr>
          <a:xfrm>
            <a:off x="6528816" y="181051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txBox="1"/>
          <p:nvPr/>
        </p:nvSpPr>
        <p:spPr>
          <a:xfrm>
            <a:off x="6528816" y="2304288"/>
            <a:ext cx="2148840" cy="457200"/>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QR-based pickup</a:t>
            </a:r>
            <a:endParaRPr lang="en-US" sz="1300" dirty="0"/>
          </a:p>
        </p:txBody>
      </p:sp>
      <p:sp>
        <p:nvSpPr>
          <p:cNvPr id="18" name="Text 16"/>
          <p:cNvSpPr txBox="1"/>
          <p:nvPr/>
        </p:nvSpPr>
        <p:spPr>
          <a:xfrm>
            <a:off x="6528816" y="2724912"/>
            <a:ext cx="2148840" cy="777240"/>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Token generation and activation, staff scan and validation, collection recorded, reuse blocked.</a:t>
            </a:r>
            <a:endParaRPr lang="en-US" sz="1050" dirty="0"/>
          </a:p>
        </p:txBody>
      </p:sp>
      <p:sp>
        <p:nvSpPr>
          <p:cNvPr id="19" name="Shape 17"/>
          <p:cNvSpPr/>
          <p:nvPr/>
        </p:nvSpPr>
        <p:spPr>
          <a:xfrm>
            <a:off x="9089136" y="1554480"/>
            <a:ext cx="2587752" cy="2029968"/>
          </a:xfrm>
          <a:prstGeom prst="roundRect">
            <a:avLst>
              <a:gd name="adj" fmla="val 3604"/>
            </a:avLst>
          </a:prstGeom>
          <a:solidFill>
            <a:srgbClr val="E9F3F4"/>
          </a:solidFill>
          <a:ln w="9525">
            <a:solidFill>
              <a:srgbClr val="E9F3F4"/>
            </a:solidFill>
            <a:prstDash val="solid"/>
          </a:ln>
        </p:spPr>
      </p:sp>
      <p:sp>
        <p:nvSpPr>
          <p:cNvPr id="20" name="Shape 18"/>
          <p:cNvSpPr/>
          <p:nvPr/>
        </p:nvSpPr>
        <p:spPr>
          <a:xfrm>
            <a:off x="9345168" y="1792224"/>
            <a:ext cx="384048" cy="384048"/>
          </a:xfrm>
          <a:prstGeom prst="ellipse">
            <a:avLst/>
          </a:prstGeom>
          <a:solidFill>
            <a:srgbClr val="028090"/>
          </a:solidFill>
          <a:ln w="6350">
            <a:solidFill>
              <a:srgbClr val="028090"/>
            </a:solidFill>
            <a:prstDash val="solid"/>
          </a:ln>
        </p:spPr>
      </p:sp>
      <p:sp>
        <p:nvSpPr>
          <p:cNvPr id="21" name="Text 19"/>
          <p:cNvSpPr txBox="1"/>
          <p:nvPr/>
        </p:nvSpPr>
        <p:spPr>
          <a:xfrm>
            <a:off x="9345168" y="181051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txBox="1"/>
          <p:nvPr/>
        </p:nvSpPr>
        <p:spPr>
          <a:xfrm>
            <a:off x="9345168" y="2304288"/>
            <a:ext cx="2148840" cy="457200"/>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Notifications</a:t>
            </a:r>
            <a:endParaRPr lang="en-US" sz="1300" dirty="0"/>
          </a:p>
        </p:txBody>
      </p:sp>
      <p:sp>
        <p:nvSpPr>
          <p:cNvPr id="23" name="Text 21"/>
          <p:cNvSpPr txBox="1"/>
          <p:nvPr/>
        </p:nvSpPr>
        <p:spPr>
          <a:xfrm>
            <a:off x="9345168" y="2724912"/>
            <a:ext cx="2148840" cy="777240"/>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Received, processing, returned, ready for pickup, collection completed and complaint updates.</a:t>
            </a:r>
            <a:endParaRPr lang="en-US" sz="1050" dirty="0"/>
          </a:p>
        </p:txBody>
      </p:sp>
      <p:sp>
        <p:nvSpPr>
          <p:cNvPr id="24" name="Shape 22"/>
          <p:cNvSpPr/>
          <p:nvPr/>
        </p:nvSpPr>
        <p:spPr>
          <a:xfrm>
            <a:off x="640080" y="3794760"/>
            <a:ext cx="2587752" cy="2029968"/>
          </a:xfrm>
          <a:prstGeom prst="roundRect">
            <a:avLst>
              <a:gd name="adj" fmla="val 3604"/>
            </a:avLst>
          </a:prstGeom>
          <a:solidFill>
            <a:srgbClr val="F4F9F9"/>
          </a:solidFill>
          <a:ln w="9525">
            <a:solidFill>
              <a:srgbClr val="F4F9F9"/>
            </a:solidFill>
            <a:prstDash val="solid"/>
          </a:ln>
        </p:spPr>
      </p:sp>
      <p:sp>
        <p:nvSpPr>
          <p:cNvPr id="25" name="Shape 23"/>
          <p:cNvSpPr/>
          <p:nvPr/>
        </p:nvSpPr>
        <p:spPr>
          <a:xfrm>
            <a:off x="896112" y="4032504"/>
            <a:ext cx="384048" cy="384048"/>
          </a:xfrm>
          <a:prstGeom prst="ellipse">
            <a:avLst/>
          </a:prstGeom>
          <a:solidFill>
            <a:srgbClr val="00A896"/>
          </a:solidFill>
          <a:ln w="6350">
            <a:solidFill>
              <a:srgbClr val="00A896"/>
            </a:solidFill>
            <a:prstDash val="solid"/>
          </a:ln>
        </p:spPr>
      </p:sp>
      <p:sp>
        <p:nvSpPr>
          <p:cNvPr id="26" name="Text 24"/>
          <p:cNvSpPr txBox="1"/>
          <p:nvPr/>
        </p:nvSpPr>
        <p:spPr>
          <a:xfrm>
            <a:off x="896112" y="405079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txBox="1"/>
          <p:nvPr/>
        </p:nvSpPr>
        <p:spPr>
          <a:xfrm>
            <a:off x="896112" y="4544568"/>
            <a:ext cx="2148840" cy="457200"/>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Complaint management</a:t>
            </a:r>
            <a:endParaRPr lang="en-US" sz="1300" dirty="0"/>
          </a:p>
        </p:txBody>
      </p:sp>
      <p:sp>
        <p:nvSpPr>
          <p:cNvPr id="28" name="Text 26"/>
          <p:cNvSpPr txBox="1"/>
          <p:nvPr/>
        </p:nvSpPr>
        <p:spPr>
          <a:xfrm>
            <a:off x="896112" y="4965192"/>
            <a:ext cx="2148840" cy="777240"/>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Description, related request, submission time, status, resolution and staff or admin actions.</a:t>
            </a:r>
            <a:endParaRPr lang="en-US" sz="1050" dirty="0"/>
          </a:p>
        </p:txBody>
      </p:sp>
      <p:sp>
        <p:nvSpPr>
          <p:cNvPr id="29" name="Shape 27"/>
          <p:cNvSpPr/>
          <p:nvPr/>
        </p:nvSpPr>
        <p:spPr>
          <a:xfrm>
            <a:off x="3456432" y="3794760"/>
            <a:ext cx="2587752" cy="2029968"/>
          </a:xfrm>
          <a:prstGeom prst="roundRect">
            <a:avLst>
              <a:gd name="adj" fmla="val 3604"/>
            </a:avLst>
          </a:prstGeom>
          <a:solidFill>
            <a:srgbClr val="F4F9F9"/>
          </a:solidFill>
          <a:ln w="9525">
            <a:solidFill>
              <a:srgbClr val="F4F9F9"/>
            </a:solidFill>
            <a:prstDash val="solid"/>
          </a:ln>
        </p:spPr>
      </p:sp>
      <p:sp>
        <p:nvSpPr>
          <p:cNvPr id="30" name="Shape 28"/>
          <p:cNvSpPr/>
          <p:nvPr/>
        </p:nvSpPr>
        <p:spPr>
          <a:xfrm>
            <a:off x="3712464" y="4032504"/>
            <a:ext cx="384048" cy="384048"/>
          </a:xfrm>
          <a:prstGeom prst="ellipse">
            <a:avLst/>
          </a:prstGeom>
          <a:solidFill>
            <a:srgbClr val="00A896"/>
          </a:solidFill>
          <a:ln w="6350">
            <a:solidFill>
              <a:srgbClr val="00A896"/>
            </a:solidFill>
            <a:prstDash val="solid"/>
          </a:ln>
        </p:spPr>
      </p:sp>
      <p:sp>
        <p:nvSpPr>
          <p:cNvPr id="31" name="Text 29"/>
          <p:cNvSpPr txBox="1"/>
          <p:nvPr/>
        </p:nvSpPr>
        <p:spPr>
          <a:xfrm>
            <a:off x="3712464" y="405079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txBox="1"/>
          <p:nvPr/>
        </p:nvSpPr>
        <p:spPr>
          <a:xfrm>
            <a:off x="3712464" y="4544568"/>
            <a:ext cx="2148840" cy="457200"/>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Administrative dashboard</a:t>
            </a:r>
            <a:endParaRPr lang="en-US" sz="1300" dirty="0"/>
          </a:p>
        </p:txBody>
      </p:sp>
      <p:sp>
        <p:nvSpPr>
          <p:cNvPr id="33" name="Text 31"/>
          <p:cNvSpPr txBox="1"/>
          <p:nvPr/>
        </p:nvSpPr>
        <p:spPr>
          <a:xfrm>
            <a:off x="3712464" y="4965192"/>
            <a:ext cx="2148840" cy="777240"/>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User and hostel management, activity monitoring, complaint and audit-log access, system reporting.</a:t>
            </a:r>
            <a:endParaRPr lang="en-US" sz="1050" dirty="0"/>
          </a:p>
        </p:txBody>
      </p:sp>
      <p:sp>
        <p:nvSpPr>
          <p:cNvPr id="34" name="Shape 32"/>
          <p:cNvSpPr/>
          <p:nvPr/>
        </p:nvSpPr>
        <p:spPr>
          <a:xfrm>
            <a:off x="6272784" y="3794760"/>
            <a:ext cx="2587752" cy="2029968"/>
          </a:xfrm>
          <a:prstGeom prst="roundRect">
            <a:avLst>
              <a:gd name="adj" fmla="val 3604"/>
            </a:avLst>
          </a:prstGeom>
          <a:solidFill>
            <a:srgbClr val="F4F9F9"/>
          </a:solidFill>
          <a:ln w="9525">
            <a:solidFill>
              <a:srgbClr val="F4F9F9"/>
            </a:solidFill>
            <a:prstDash val="solid"/>
          </a:ln>
        </p:spPr>
      </p:sp>
      <p:sp>
        <p:nvSpPr>
          <p:cNvPr id="35" name="Shape 33"/>
          <p:cNvSpPr/>
          <p:nvPr/>
        </p:nvSpPr>
        <p:spPr>
          <a:xfrm>
            <a:off x="6528816" y="4032504"/>
            <a:ext cx="384048" cy="384048"/>
          </a:xfrm>
          <a:prstGeom prst="ellipse">
            <a:avLst/>
          </a:prstGeom>
          <a:solidFill>
            <a:srgbClr val="00A896"/>
          </a:solidFill>
          <a:ln w="6350">
            <a:solidFill>
              <a:srgbClr val="00A896"/>
            </a:solidFill>
            <a:prstDash val="solid"/>
          </a:ln>
        </p:spPr>
      </p:sp>
      <p:sp>
        <p:nvSpPr>
          <p:cNvPr id="36" name="Text 34"/>
          <p:cNvSpPr txBox="1"/>
          <p:nvPr/>
        </p:nvSpPr>
        <p:spPr>
          <a:xfrm>
            <a:off x="6528816" y="405079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37" name="Text 35"/>
          <p:cNvSpPr txBox="1"/>
          <p:nvPr/>
        </p:nvSpPr>
        <p:spPr>
          <a:xfrm>
            <a:off x="6528816" y="4544568"/>
            <a:ext cx="2148840" cy="457200"/>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Comprehensive testing</a:t>
            </a:r>
            <a:endParaRPr lang="en-US" sz="1300" dirty="0"/>
          </a:p>
        </p:txBody>
      </p:sp>
      <p:sp>
        <p:nvSpPr>
          <p:cNvPr id="38" name="Text 36"/>
          <p:cNvSpPr txBox="1"/>
          <p:nvPr/>
        </p:nvSpPr>
        <p:spPr>
          <a:xfrm>
            <a:off x="6528816" y="4965192"/>
            <a:ext cx="2148840" cy="777240"/>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Unit, integration, functional, authentication, database, workflow, security, usability and end-to-end.</a:t>
            </a:r>
            <a:endParaRPr lang="en-US" sz="1050" dirty="0"/>
          </a:p>
        </p:txBody>
      </p:sp>
      <p:sp>
        <p:nvSpPr>
          <p:cNvPr id="39" name="Shape 37"/>
          <p:cNvSpPr/>
          <p:nvPr/>
        </p:nvSpPr>
        <p:spPr>
          <a:xfrm>
            <a:off x="9089136" y="3794760"/>
            <a:ext cx="2587752" cy="2029968"/>
          </a:xfrm>
          <a:prstGeom prst="roundRect">
            <a:avLst>
              <a:gd name="adj" fmla="val 3604"/>
            </a:avLst>
          </a:prstGeom>
          <a:solidFill>
            <a:srgbClr val="F4F9F9"/>
          </a:solidFill>
          <a:ln w="9525">
            <a:solidFill>
              <a:srgbClr val="F4F9F9"/>
            </a:solidFill>
            <a:prstDash val="solid"/>
          </a:ln>
        </p:spPr>
      </p:sp>
      <p:sp>
        <p:nvSpPr>
          <p:cNvPr id="40" name="Shape 38"/>
          <p:cNvSpPr/>
          <p:nvPr/>
        </p:nvSpPr>
        <p:spPr>
          <a:xfrm>
            <a:off x="9345168" y="4032504"/>
            <a:ext cx="384048" cy="384048"/>
          </a:xfrm>
          <a:prstGeom prst="ellipse">
            <a:avLst/>
          </a:prstGeom>
          <a:solidFill>
            <a:srgbClr val="00A896"/>
          </a:solidFill>
          <a:ln w="6350">
            <a:solidFill>
              <a:srgbClr val="00A896"/>
            </a:solidFill>
            <a:prstDash val="solid"/>
          </a:ln>
        </p:spPr>
      </p:sp>
      <p:sp>
        <p:nvSpPr>
          <p:cNvPr id="41" name="Text 39"/>
          <p:cNvSpPr txBox="1"/>
          <p:nvPr/>
        </p:nvSpPr>
        <p:spPr>
          <a:xfrm>
            <a:off x="9345168" y="4050792"/>
            <a:ext cx="38404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42" name="Text 40"/>
          <p:cNvSpPr txBox="1"/>
          <p:nvPr/>
        </p:nvSpPr>
        <p:spPr>
          <a:xfrm>
            <a:off x="9345168" y="4544568"/>
            <a:ext cx="2148840" cy="457200"/>
          </a:xfrm>
          <a:prstGeom prst="rect">
            <a:avLst/>
          </a:prstGeom>
          <a:noFill/>
          <a:ln/>
        </p:spPr>
        <p:txBody>
          <a:bodyPr wrap="square" lIns="0" tIns="0" rIns="0" bIns="0" rtlCol="0" anchor="t"/>
          <a:lstStyle/>
          <a:p>
            <a:pPr indent="0" marL="0">
              <a:buNone/>
            </a:pPr>
            <a:r>
              <a:rPr lang="en-US" sz="1300" b="1" dirty="0">
                <a:solidFill>
                  <a:srgbClr val="0B3B47"/>
                </a:solidFill>
                <a:latin typeface="Calibri" pitchFamily="34" charset="0"/>
                <a:ea typeface="Calibri" pitchFamily="34" charset="-122"/>
                <a:cs typeface="Calibri" pitchFamily="34" charset="-120"/>
              </a:rPr>
              <a:t>Deployment</a:t>
            </a:r>
            <a:endParaRPr lang="en-US" sz="1300" dirty="0"/>
          </a:p>
        </p:txBody>
      </p:sp>
      <p:sp>
        <p:nvSpPr>
          <p:cNvPr id="43" name="Text 41"/>
          <p:cNvSpPr txBox="1"/>
          <p:nvPr/>
        </p:nvSpPr>
        <p:spPr>
          <a:xfrm>
            <a:off x="9345168" y="4965192"/>
            <a:ext cx="2148840" cy="777240"/>
          </a:xfrm>
          <a:prstGeom prst="rect">
            <a:avLst/>
          </a:prstGeom>
          <a:noFill/>
          <a:ln/>
        </p:spPr>
        <p:txBody>
          <a:bodyPr wrap="square" lIns="0" tIns="0" rIns="0" bIns="0" rtlCol="0" anchor="t"/>
          <a:lstStyle/>
          <a:p>
            <a:pPr indent="0" marL="0">
              <a:lnSpc>
                <a:spcPts val="1300"/>
              </a:lnSpc>
              <a:buNone/>
            </a:pPr>
            <a:r>
              <a:rPr lang="en-US" sz="1050" dirty="0">
                <a:solidFill>
                  <a:srgbClr val="27383D"/>
                </a:solidFill>
                <a:latin typeface="Calibri" pitchFamily="34" charset="0"/>
                <a:ea typeface="Calibri" pitchFamily="34" charset="-122"/>
                <a:cs typeface="Calibri" pitchFamily="34" charset="-120"/>
              </a:rPr>
              <a:t>Production database and secure configuration, backend deployment, mobile build, monitoring and maintenance.</a:t>
            </a:r>
            <a:endParaRPr lang="en-US" sz="1050" dirty="0"/>
          </a:p>
        </p:txBody>
      </p:sp>
      <p:sp>
        <p:nvSpPr>
          <p:cNvPr id="44" name="Text 42"/>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3B47"/>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37744"/>
          </a:xfrm>
          <a:prstGeom prst="rect">
            <a:avLst/>
          </a:prstGeom>
          <a:noFill/>
          <a:ln/>
        </p:spPr>
        <p:txBody>
          <a:bodyPr wrap="square" lIns="0" tIns="0" rIns="0" bIns="0" rtlCol="0" anchor="t"/>
          <a:lstStyle/>
          <a:p>
            <a:pPr indent="0" marL="0">
              <a:buNone/>
            </a:pPr>
            <a:r>
              <a:rPr lang="en-US" sz="1150" b="1" spc="200" kern="0" dirty="0">
                <a:solidFill>
                  <a:srgbClr val="02C39A"/>
                </a:solidFill>
                <a:latin typeface="Calibri" pitchFamily="34" charset="0"/>
                <a:ea typeface="Calibri" pitchFamily="34" charset="-122"/>
                <a:cs typeface="Calibri" pitchFamily="34" charset="-120"/>
              </a:rPr>
              <a:t>SECTIONS 25 &amp; 26</a:t>
            </a:r>
            <a:endParaRPr lang="en-US" sz="1150" dirty="0"/>
          </a:p>
        </p:txBody>
      </p:sp>
      <p:sp>
        <p:nvSpPr>
          <p:cNvPr id="3" name="Text 1"/>
          <p:cNvSpPr txBox="1"/>
          <p:nvPr/>
        </p:nvSpPr>
        <p:spPr>
          <a:xfrm>
            <a:off x="640080" y="658368"/>
            <a:ext cx="10972800"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Expected Impact &amp; Conclusion</a:t>
            </a:r>
            <a:endParaRPr lang="en-US" sz="3000" dirty="0"/>
          </a:p>
        </p:txBody>
      </p:sp>
      <p:sp>
        <p:nvSpPr>
          <p:cNvPr id="4" name="Shape 2"/>
          <p:cNvSpPr/>
          <p:nvPr/>
        </p:nvSpPr>
        <p:spPr>
          <a:xfrm>
            <a:off x="640080" y="1463040"/>
            <a:ext cx="5486400" cy="4434840"/>
          </a:xfrm>
          <a:prstGeom prst="roundRect">
            <a:avLst>
              <a:gd name="adj" fmla="val 1649"/>
            </a:avLst>
          </a:prstGeom>
          <a:solidFill>
            <a:srgbClr val="12505F"/>
          </a:solidFill>
          <a:ln w="6350">
            <a:solidFill>
              <a:srgbClr val="12505F"/>
            </a:solidFill>
            <a:prstDash val="solid"/>
          </a:ln>
        </p:spPr>
      </p:sp>
      <p:sp>
        <p:nvSpPr>
          <p:cNvPr id="5" name="Text 3"/>
          <p:cNvSpPr txBox="1"/>
          <p:nvPr/>
        </p:nvSpPr>
        <p:spPr>
          <a:xfrm>
            <a:off x="1005840" y="1737360"/>
            <a:ext cx="4572000" cy="292608"/>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Expected impact</a:t>
            </a:r>
            <a:endParaRPr lang="en-US" sz="1700" dirty="0"/>
          </a:p>
        </p:txBody>
      </p:sp>
      <p:sp>
        <p:nvSpPr>
          <p:cNvPr id="6" name="Shape 4"/>
          <p:cNvSpPr/>
          <p:nvPr/>
        </p:nvSpPr>
        <p:spPr>
          <a:xfrm>
            <a:off x="1005840" y="2267712"/>
            <a:ext cx="146304" cy="146304"/>
          </a:xfrm>
          <a:prstGeom prst="ellipse">
            <a:avLst/>
          </a:prstGeom>
          <a:solidFill>
            <a:srgbClr val="02C39A"/>
          </a:solidFill>
          <a:ln w="6350">
            <a:solidFill>
              <a:srgbClr val="02C39A"/>
            </a:solidFill>
            <a:prstDash val="solid"/>
          </a:ln>
        </p:spPr>
      </p:sp>
      <p:sp>
        <p:nvSpPr>
          <p:cNvPr id="7" name="Text 5"/>
          <p:cNvSpPr txBox="1"/>
          <p:nvPr/>
        </p:nvSpPr>
        <p:spPr>
          <a:xfrm>
            <a:off x="1325880" y="2194560"/>
            <a:ext cx="4572000" cy="292608"/>
          </a:xfrm>
          <a:prstGeom prst="rect">
            <a:avLst/>
          </a:prstGeom>
          <a:noFill/>
          <a:ln/>
        </p:spPr>
        <p:txBody>
          <a:bodyPr wrap="square" lIns="0" tIns="0" rIns="0" bIns="0" rtlCol="0" anchor="t"/>
          <a:lstStyle/>
          <a:p>
            <a:pPr indent="0" marL="0">
              <a:buNone/>
            </a:pPr>
            <a:r>
              <a:rPr lang="en-US" sz="1250" dirty="0">
                <a:solidFill>
                  <a:srgbClr val="E4F1F3"/>
                </a:solidFill>
                <a:latin typeface="Calibri" pitchFamily="34" charset="0"/>
                <a:ea typeface="Calibri" pitchFamily="34" charset="-122"/>
                <a:cs typeface="Calibri" pitchFamily="34" charset="-120"/>
              </a:rPr>
              <a:t>Reduced dependence on manual records</a:t>
            </a:r>
            <a:endParaRPr lang="en-US" sz="1250" dirty="0"/>
          </a:p>
        </p:txBody>
      </p:sp>
      <p:sp>
        <p:nvSpPr>
          <p:cNvPr id="8" name="Shape 6"/>
          <p:cNvSpPr/>
          <p:nvPr/>
        </p:nvSpPr>
        <p:spPr>
          <a:xfrm>
            <a:off x="1005840" y="2688336"/>
            <a:ext cx="146304" cy="146304"/>
          </a:xfrm>
          <a:prstGeom prst="ellipse">
            <a:avLst/>
          </a:prstGeom>
          <a:solidFill>
            <a:srgbClr val="02C39A"/>
          </a:solidFill>
          <a:ln w="6350">
            <a:solidFill>
              <a:srgbClr val="02C39A"/>
            </a:solidFill>
            <a:prstDash val="solid"/>
          </a:ln>
        </p:spPr>
      </p:sp>
      <p:sp>
        <p:nvSpPr>
          <p:cNvPr id="9" name="Text 7"/>
          <p:cNvSpPr txBox="1"/>
          <p:nvPr/>
        </p:nvSpPr>
        <p:spPr>
          <a:xfrm>
            <a:off x="1325880" y="2615184"/>
            <a:ext cx="4572000" cy="292608"/>
          </a:xfrm>
          <a:prstGeom prst="rect">
            <a:avLst/>
          </a:prstGeom>
          <a:noFill/>
          <a:ln/>
        </p:spPr>
        <p:txBody>
          <a:bodyPr wrap="square" lIns="0" tIns="0" rIns="0" bIns="0" rtlCol="0" anchor="t"/>
          <a:lstStyle/>
          <a:p>
            <a:pPr indent="0" marL="0">
              <a:buNone/>
            </a:pPr>
            <a:r>
              <a:rPr lang="en-US" sz="1250" dirty="0">
                <a:solidFill>
                  <a:srgbClr val="E4F1F3"/>
                </a:solidFill>
                <a:latin typeface="Calibri" pitchFamily="34" charset="0"/>
                <a:ea typeface="Calibri" pitchFamily="34" charset="-122"/>
                <a:cs typeface="Calibri" pitchFamily="34" charset="-120"/>
              </a:rPr>
              <a:t>Better visibility of laundry status for students</a:t>
            </a:r>
            <a:endParaRPr lang="en-US" sz="1250" dirty="0"/>
          </a:p>
        </p:txBody>
      </p:sp>
      <p:sp>
        <p:nvSpPr>
          <p:cNvPr id="10" name="Shape 8"/>
          <p:cNvSpPr/>
          <p:nvPr/>
        </p:nvSpPr>
        <p:spPr>
          <a:xfrm>
            <a:off x="1005840" y="3108960"/>
            <a:ext cx="146304" cy="146304"/>
          </a:xfrm>
          <a:prstGeom prst="ellipse">
            <a:avLst/>
          </a:prstGeom>
          <a:solidFill>
            <a:srgbClr val="02C39A"/>
          </a:solidFill>
          <a:ln w="6350">
            <a:solidFill>
              <a:srgbClr val="02C39A"/>
            </a:solidFill>
            <a:prstDash val="solid"/>
          </a:ln>
        </p:spPr>
      </p:sp>
      <p:sp>
        <p:nvSpPr>
          <p:cNvPr id="11" name="Text 9"/>
          <p:cNvSpPr txBox="1"/>
          <p:nvPr/>
        </p:nvSpPr>
        <p:spPr>
          <a:xfrm>
            <a:off x="1325880" y="3035808"/>
            <a:ext cx="4572000" cy="292608"/>
          </a:xfrm>
          <a:prstGeom prst="rect">
            <a:avLst/>
          </a:prstGeom>
          <a:noFill/>
          <a:ln/>
        </p:spPr>
        <p:txBody>
          <a:bodyPr wrap="square" lIns="0" tIns="0" rIns="0" bIns="0" rtlCol="0" anchor="t"/>
          <a:lstStyle/>
          <a:p>
            <a:pPr indent="0" marL="0">
              <a:buNone/>
            </a:pPr>
            <a:r>
              <a:rPr lang="en-US" sz="1250" dirty="0">
                <a:solidFill>
                  <a:srgbClr val="E4F1F3"/>
                </a:solidFill>
                <a:latin typeface="Calibri" pitchFamily="34" charset="0"/>
                <a:ea typeface="Calibri" pitchFamily="34" charset="-122"/>
                <a:cs typeface="Calibri" pitchFamily="34" charset="-120"/>
              </a:rPr>
              <a:t>Structured, verifiable historical records</a:t>
            </a:r>
            <a:endParaRPr lang="en-US" sz="1250" dirty="0"/>
          </a:p>
        </p:txBody>
      </p:sp>
      <p:sp>
        <p:nvSpPr>
          <p:cNvPr id="12" name="Shape 10"/>
          <p:cNvSpPr/>
          <p:nvPr/>
        </p:nvSpPr>
        <p:spPr>
          <a:xfrm>
            <a:off x="1005840" y="3529584"/>
            <a:ext cx="146304" cy="146304"/>
          </a:xfrm>
          <a:prstGeom prst="ellipse">
            <a:avLst/>
          </a:prstGeom>
          <a:solidFill>
            <a:srgbClr val="02C39A"/>
          </a:solidFill>
          <a:ln w="6350">
            <a:solidFill>
              <a:srgbClr val="02C39A"/>
            </a:solidFill>
            <a:prstDash val="solid"/>
          </a:ln>
        </p:spPr>
      </p:sp>
      <p:sp>
        <p:nvSpPr>
          <p:cNvPr id="13" name="Text 11"/>
          <p:cNvSpPr txBox="1"/>
          <p:nvPr/>
        </p:nvSpPr>
        <p:spPr>
          <a:xfrm>
            <a:off x="1325880" y="3456432"/>
            <a:ext cx="4572000" cy="292608"/>
          </a:xfrm>
          <a:prstGeom prst="rect">
            <a:avLst/>
          </a:prstGeom>
          <a:noFill/>
          <a:ln/>
        </p:spPr>
        <p:txBody>
          <a:bodyPr wrap="square" lIns="0" tIns="0" rIns="0" bIns="0" rtlCol="0" anchor="t"/>
          <a:lstStyle/>
          <a:p>
            <a:pPr indent="0" marL="0">
              <a:buNone/>
            </a:pPr>
            <a:r>
              <a:rPr lang="en-US" sz="1250" dirty="0">
                <a:solidFill>
                  <a:srgbClr val="E4F1F3"/>
                </a:solidFill>
                <a:latin typeface="Calibri" pitchFamily="34" charset="0"/>
                <a:ea typeface="Calibri" pitchFamily="34" charset="-122"/>
                <a:cs typeface="Calibri" pitchFamily="34" charset="-120"/>
              </a:rPr>
              <a:t>Reliable collection verification at handover</a:t>
            </a:r>
            <a:endParaRPr lang="en-US" sz="1250" dirty="0"/>
          </a:p>
        </p:txBody>
      </p:sp>
      <p:sp>
        <p:nvSpPr>
          <p:cNvPr id="14" name="Shape 12"/>
          <p:cNvSpPr/>
          <p:nvPr/>
        </p:nvSpPr>
        <p:spPr>
          <a:xfrm>
            <a:off x="1005840" y="3950208"/>
            <a:ext cx="146304" cy="146304"/>
          </a:xfrm>
          <a:prstGeom prst="ellipse">
            <a:avLst/>
          </a:prstGeom>
          <a:solidFill>
            <a:srgbClr val="02C39A"/>
          </a:solidFill>
          <a:ln w="6350">
            <a:solidFill>
              <a:srgbClr val="02C39A"/>
            </a:solidFill>
            <a:prstDash val="solid"/>
          </a:ln>
        </p:spPr>
      </p:sp>
      <p:sp>
        <p:nvSpPr>
          <p:cNvPr id="15" name="Text 13"/>
          <p:cNvSpPr txBox="1"/>
          <p:nvPr/>
        </p:nvSpPr>
        <p:spPr>
          <a:xfrm>
            <a:off x="1325880" y="3877056"/>
            <a:ext cx="4572000" cy="292608"/>
          </a:xfrm>
          <a:prstGeom prst="rect">
            <a:avLst/>
          </a:prstGeom>
          <a:noFill/>
          <a:ln/>
        </p:spPr>
        <p:txBody>
          <a:bodyPr wrap="square" lIns="0" tIns="0" rIns="0" bIns="0" rtlCol="0" anchor="t"/>
          <a:lstStyle/>
          <a:p>
            <a:pPr indent="0" marL="0">
              <a:buNone/>
            </a:pPr>
            <a:r>
              <a:rPr lang="en-US" sz="1250" dirty="0">
                <a:solidFill>
                  <a:srgbClr val="E4F1F3"/>
                </a:solidFill>
                <a:latin typeface="Calibri" pitchFamily="34" charset="0"/>
                <a:ea typeface="Calibri" pitchFamily="34" charset="-122"/>
                <a:cs typeface="Calibri" pitchFamily="34" charset="-120"/>
              </a:rPr>
              <a:t>Timely information through notifications</a:t>
            </a:r>
            <a:endParaRPr lang="en-US" sz="1250" dirty="0"/>
          </a:p>
        </p:txBody>
      </p:sp>
      <p:sp>
        <p:nvSpPr>
          <p:cNvPr id="16" name="Shape 14"/>
          <p:cNvSpPr/>
          <p:nvPr/>
        </p:nvSpPr>
        <p:spPr>
          <a:xfrm>
            <a:off x="1005840" y="4370832"/>
            <a:ext cx="146304" cy="146304"/>
          </a:xfrm>
          <a:prstGeom prst="ellipse">
            <a:avLst/>
          </a:prstGeom>
          <a:solidFill>
            <a:srgbClr val="02C39A"/>
          </a:solidFill>
          <a:ln w="6350">
            <a:solidFill>
              <a:srgbClr val="02C39A"/>
            </a:solidFill>
            <a:prstDash val="solid"/>
          </a:ln>
        </p:spPr>
      </p:sp>
      <p:sp>
        <p:nvSpPr>
          <p:cNvPr id="17" name="Text 15"/>
          <p:cNvSpPr txBox="1"/>
          <p:nvPr/>
        </p:nvSpPr>
        <p:spPr>
          <a:xfrm>
            <a:off x="1325880" y="4297680"/>
            <a:ext cx="4572000" cy="292608"/>
          </a:xfrm>
          <a:prstGeom prst="rect">
            <a:avLst/>
          </a:prstGeom>
          <a:noFill/>
          <a:ln/>
        </p:spPr>
        <p:txBody>
          <a:bodyPr wrap="square" lIns="0" tIns="0" rIns="0" bIns="0" rtlCol="0" anchor="t"/>
          <a:lstStyle/>
          <a:p>
            <a:pPr indent="0" marL="0">
              <a:buNone/>
            </a:pPr>
            <a:r>
              <a:rPr lang="en-US" sz="1250" dirty="0">
                <a:solidFill>
                  <a:srgbClr val="E4F1F3"/>
                </a:solidFill>
                <a:latin typeface="Calibri" pitchFamily="34" charset="0"/>
                <a:ea typeface="Calibri" pitchFamily="34" charset="-122"/>
                <a:cs typeface="Calibri" pitchFamily="34" charset="-120"/>
              </a:rPr>
              <a:t>Better operational organisation for staff</a:t>
            </a:r>
            <a:endParaRPr lang="en-US" sz="1250" dirty="0"/>
          </a:p>
        </p:txBody>
      </p:sp>
      <p:sp>
        <p:nvSpPr>
          <p:cNvPr id="18" name="Shape 16"/>
          <p:cNvSpPr/>
          <p:nvPr/>
        </p:nvSpPr>
        <p:spPr>
          <a:xfrm>
            <a:off x="1005840" y="4791456"/>
            <a:ext cx="146304" cy="146304"/>
          </a:xfrm>
          <a:prstGeom prst="ellipse">
            <a:avLst/>
          </a:prstGeom>
          <a:solidFill>
            <a:srgbClr val="02C39A"/>
          </a:solidFill>
          <a:ln w="6350">
            <a:solidFill>
              <a:srgbClr val="02C39A"/>
            </a:solidFill>
            <a:prstDash val="solid"/>
          </a:ln>
        </p:spPr>
      </p:sp>
      <p:sp>
        <p:nvSpPr>
          <p:cNvPr id="19" name="Text 17"/>
          <p:cNvSpPr txBox="1"/>
          <p:nvPr/>
        </p:nvSpPr>
        <p:spPr>
          <a:xfrm>
            <a:off x="1325880" y="4718304"/>
            <a:ext cx="4572000" cy="292608"/>
          </a:xfrm>
          <a:prstGeom prst="rect">
            <a:avLst/>
          </a:prstGeom>
          <a:noFill/>
          <a:ln/>
        </p:spPr>
        <p:txBody>
          <a:bodyPr wrap="square" lIns="0" tIns="0" rIns="0" bIns="0" rtlCol="0" anchor="t"/>
          <a:lstStyle/>
          <a:p>
            <a:pPr indent="0" marL="0">
              <a:buNone/>
            </a:pPr>
            <a:r>
              <a:rPr lang="en-US" sz="1250" dirty="0">
                <a:solidFill>
                  <a:srgbClr val="E4F1F3"/>
                </a:solidFill>
                <a:latin typeface="Calibri" pitchFamily="34" charset="0"/>
                <a:ea typeface="Calibri" pitchFamily="34" charset="-122"/>
                <a:cs typeface="Calibri" pitchFamily="34" charset="-120"/>
              </a:rPr>
              <a:t>Centralised monitoring across hostels</a:t>
            </a:r>
            <a:endParaRPr lang="en-US" sz="1250" dirty="0"/>
          </a:p>
        </p:txBody>
      </p:sp>
      <p:sp>
        <p:nvSpPr>
          <p:cNvPr id="20" name="Shape 18"/>
          <p:cNvSpPr/>
          <p:nvPr/>
        </p:nvSpPr>
        <p:spPr>
          <a:xfrm>
            <a:off x="1005840" y="5212080"/>
            <a:ext cx="146304" cy="146304"/>
          </a:xfrm>
          <a:prstGeom prst="ellipse">
            <a:avLst/>
          </a:prstGeom>
          <a:solidFill>
            <a:srgbClr val="02C39A"/>
          </a:solidFill>
          <a:ln w="6350">
            <a:solidFill>
              <a:srgbClr val="02C39A"/>
            </a:solidFill>
            <a:prstDash val="solid"/>
          </a:ln>
        </p:spPr>
      </p:sp>
      <p:sp>
        <p:nvSpPr>
          <p:cNvPr id="21" name="Text 19"/>
          <p:cNvSpPr txBox="1"/>
          <p:nvPr/>
        </p:nvSpPr>
        <p:spPr>
          <a:xfrm>
            <a:off x="1325880" y="5138928"/>
            <a:ext cx="4572000" cy="292608"/>
          </a:xfrm>
          <a:prstGeom prst="rect">
            <a:avLst/>
          </a:prstGeom>
          <a:noFill/>
          <a:ln/>
        </p:spPr>
        <p:txBody>
          <a:bodyPr wrap="square" lIns="0" tIns="0" rIns="0" bIns="0" rtlCol="0" anchor="t"/>
          <a:lstStyle/>
          <a:p>
            <a:pPr indent="0" marL="0">
              <a:buNone/>
            </a:pPr>
            <a:r>
              <a:rPr lang="en-US" sz="1250" dirty="0">
                <a:solidFill>
                  <a:srgbClr val="E4F1F3"/>
                </a:solidFill>
                <a:latin typeface="Calibri" pitchFamily="34" charset="0"/>
                <a:ea typeface="Calibri" pitchFamily="34" charset="-122"/>
                <a:cs typeface="Calibri" pitchFamily="34" charset="-120"/>
              </a:rPr>
              <a:t>Traceability of key actions through audit logs</a:t>
            </a:r>
            <a:endParaRPr lang="en-US" sz="1250" dirty="0"/>
          </a:p>
        </p:txBody>
      </p:sp>
      <p:sp>
        <p:nvSpPr>
          <p:cNvPr id="22" name="Text 20"/>
          <p:cNvSpPr txBox="1"/>
          <p:nvPr/>
        </p:nvSpPr>
        <p:spPr>
          <a:xfrm>
            <a:off x="1005840" y="5532120"/>
            <a:ext cx="4754880" cy="320040"/>
          </a:xfrm>
          <a:prstGeom prst="rect">
            <a:avLst/>
          </a:prstGeom>
          <a:noFill/>
          <a:ln/>
        </p:spPr>
        <p:txBody>
          <a:bodyPr wrap="square" lIns="0" tIns="0" rIns="0" bIns="0" rtlCol="0" anchor="t"/>
          <a:lstStyle/>
          <a:p>
            <a:pPr indent="0" marL="0">
              <a:buNone/>
            </a:pPr>
            <a:r>
              <a:rPr lang="en-US" sz="1050" i="1" dirty="0">
                <a:solidFill>
                  <a:srgbClr val="9FC7CE"/>
                </a:solidFill>
                <a:latin typeface="Calibri" pitchFamily="34" charset="0"/>
                <a:ea typeface="Calibri" pitchFamily="34" charset="-122"/>
                <a:cs typeface="Calibri" pitchFamily="34" charset="-120"/>
              </a:rPr>
              <a:t>Actual impact will need to be evaluated after deployment, through user feedback and usage data.</a:t>
            </a:r>
            <a:endParaRPr lang="en-US" sz="1050" dirty="0"/>
          </a:p>
        </p:txBody>
      </p:sp>
      <p:sp>
        <p:nvSpPr>
          <p:cNvPr id="23" name="Text 21"/>
          <p:cNvSpPr txBox="1"/>
          <p:nvPr/>
        </p:nvSpPr>
        <p:spPr>
          <a:xfrm>
            <a:off x="6492240" y="1691640"/>
            <a:ext cx="5029200" cy="32004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Conclusion</a:t>
            </a:r>
            <a:endParaRPr lang="en-US" sz="2000" dirty="0"/>
          </a:p>
        </p:txBody>
      </p:sp>
      <p:sp>
        <p:nvSpPr>
          <p:cNvPr id="24" name="Text 22"/>
          <p:cNvSpPr txBox="1"/>
          <p:nvPr/>
        </p:nvSpPr>
        <p:spPr>
          <a:xfrm>
            <a:off x="6492240" y="2194560"/>
            <a:ext cx="5029200" cy="1371600"/>
          </a:xfrm>
          <a:prstGeom prst="rect">
            <a:avLst/>
          </a:prstGeom>
          <a:noFill/>
          <a:ln/>
        </p:spPr>
        <p:txBody>
          <a:bodyPr wrap="square" lIns="0" tIns="0" rIns="0" bIns="0" rtlCol="0" anchor="t"/>
          <a:lstStyle/>
          <a:p>
            <a:pPr indent="0" marL="0">
              <a:lnSpc>
                <a:spcPts val="1800"/>
              </a:lnSpc>
              <a:buNone/>
            </a:pPr>
            <a:r>
              <a:rPr lang="en-US" sz="1250" dirty="0">
                <a:solidFill>
                  <a:srgbClr val="C9E4E8"/>
                </a:solidFill>
                <a:latin typeface="Calibri" pitchFamily="34" charset="0"/>
                <a:ea typeface="Calibri" pitchFamily="34" charset="-122"/>
                <a:cs typeface="Calibri" pitchFamily="34" charset="-120"/>
              </a:rPr>
              <a:t>We have completed the major requirement-analysis and system-design activities and established the technical foundation for implementation: defined actors, functional and non-functional requirements, the complete laundry workflow, database modelling, UML and DFD representations, and a layered architecture.</a:t>
            </a:r>
            <a:endParaRPr lang="en-US" sz="1250" dirty="0"/>
          </a:p>
        </p:txBody>
      </p:sp>
      <p:sp>
        <p:nvSpPr>
          <p:cNvPr id="25" name="Text 23"/>
          <p:cNvSpPr txBox="1"/>
          <p:nvPr/>
        </p:nvSpPr>
        <p:spPr>
          <a:xfrm>
            <a:off x="6492240" y="3611880"/>
            <a:ext cx="5029200" cy="1051560"/>
          </a:xfrm>
          <a:prstGeom prst="rect">
            <a:avLst/>
          </a:prstGeom>
          <a:noFill/>
          <a:ln/>
        </p:spPr>
        <p:txBody>
          <a:bodyPr wrap="square" lIns="0" tIns="0" rIns="0" bIns="0" rtlCol="0" anchor="t"/>
          <a:lstStyle/>
          <a:p>
            <a:pPr indent="0" marL="0">
              <a:lnSpc>
                <a:spcPts val="1800"/>
              </a:lnSpc>
              <a:buNone/>
            </a:pPr>
            <a:r>
              <a:rPr lang="en-US" sz="1250" dirty="0">
                <a:solidFill>
                  <a:srgbClr val="C9E4E8"/>
                </a:solidFill>
                <a:latin typeface="Calibri" pitchFamily="34" charset="0"/>
                <a:ea typeface="Calibri" pitchFamily="34" charset="-122"/>
                <a:cs typeface="Calibri" pitchFamily="34" charset="-120"/>
              </a:rPr>
              <a:t>The Expo frontend is initialized, the Express backend is running and connected to Supabase, and institutional-email OTP authentication works end to end — the first functional feature of the application.</a:t>
            </a:r>
            <a:endParaRPr lang="en-US" sz="1250" dirty="0"/>
          </a:p>
        </p:txBody>
      </p:sp>
      <p:sp>
        <p:nvSpPr>
          <p:cNvPr id="26" name="Shape 24"/>
          <p:cNvSpPr/>
          <p:nvPr/>
        </p:nvSpPr>
        <p:spPr>
          <a:xfrm>
            <a:off x="6492240" y="4800600"/>
            <a:ext cx="5056632" cy="1097280"/>
          </a:xfrm>
          <a:prstGeom prst="roundRect">
            <a:avLst>
              <a:gd name="adj" fmla="val 6667"/>
            </a:avLst>
          </a:prstGeom>
          <a:solidFill>
            <a:srgbClr val="028090"/>
          </a:solidFill>
          <a:ln w="6350">
            <a:solidFill>
              <a:srgbClr val="028090"/>
            </a:solidFill>
            <a:prstDash val="solid"/>
          </a:ln>
        </p:spPr>
      </p:sp>
      <p:sp>
        <p:nvSpPr>
          <p:cNvPr id="27" name="Text 25"/>
          <p:cNvSpPr txBox="1"/>
          <p:nvPr/>
        </p:nvSpPr>
        <p:spPr>
          <a:xfrm>
            <a:off x="6766560" y="4983480"/>
            <a:ext cx="4526280" cy="777240"/>
          </a:xfrm>
          <a:prstGeom prst="rect">
            <a:avLst/>
          </a:prstGeom>
          <a:noFill/>
          <a:ln/>
        </p:spPr>
        <p:txBody>
          <a:bodyPr wrap="square" lIns="0" tIns="0" rIns="0" bIns="0" rtlCol="0" anchor="t"/>
          <a:lstStyle/>
          <a:p>
            <a:pPr indent="0" marL="0">
              <a:lnSpc>
                <a:spcPts val="1400"/>
              </a:lnSpc>
              <a:buNone/>
            </a:pPr>
            <a:r>
              <a:rPr lang="en-US" sz="1100" dirty="0">
                <a:solidFill>
                  <a:srgbClr val="FFFFFF"/>
                </a:solidFill>
                <a:latin typeface="Calibri" pitchFamily="34" charset="0"/>
                <a:ea typeface="Calibri" pitchFamily="34" charset="-122"/>
                <a:cs typeface="Calibri" pitchFamily="34" charset="-120"/>
              </a:rPr>
              <a:t>The project demonstrates requirement analysis, stakeholder interaction, system modelling, relational design, client–server architecture, API development, authentication and collaborative version control.</a:t>
            </a:r>
            <a:endParaRPr lang="en-US" sz="1100" dirty="0"/>
          </a:p>
        </p:txBody>
      </p:sp>
      <p:sp>
        <p:nvSpPr>
          <p:cNvPr id="28" name="Text 26"/>
          <p:cNvSpPr txBox="1"/>
          <p:nvPr/>
        </p:nvSpPr>
        <p:spPr>
          <a:xfrm>
            <a:off x="11185855" y="6400800"/>
            <a:ext cx="457200" cy="228600"/>
          </a:xfrm>
          <a:prstGeom prst="rect">
            <a:avLst/>
          </a:prstGeom>
          <a:noFill/>
          <a:ln/>
        </p:spPr>
        <p:txBody>
          <a:bodyPr wrap="square" lIns="0" tIns="0" rIns="0" bIns="0" rtlCol="0" anchor="t"/>
          <a:lstStyle/>
          <a:p>
            <a:pPr algn="r" indent="0" marL="0">
              <a:buNone/>
            </a:pPr>
            <a:r>
              <a:rPr lang="en-US" sz="1000" dirty="0">
                <a:solidFill>
                  <a:srgbClr val="6E828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3B47"/>
        </a:solidFill>
      </p:bgPr>
    </p:bg>
    <p:spTree>
      <p:nvGrpSpPr>
        <p:cNvPr id="1" name=""/>
        <p:cNvGrpSpPr/>
        <p:nvPr/>
      </p:nvGrpSpPr>
      <p:grpSpPr>
        <a:xfrm>
          <a:off x="0" y="0"/>
          <a:ext cx="0" cy="0"/>
          <a:chOff x="0" y="0"/>
          <a:chExt cx="0" cy="0"/>
        </a:xfrm>
      </p:grpSpPr>
      <p:sp>
        <p:nvSpPr>
          <p:cNvPr id="2" name="Shape 0"/>
          <p:cNvSpPr/>
          <p:nvPr/>
        </p:nvSpPr>
        <p:spPr>
          <a:xfrm>
            <a:off x="-1645920" y="3840480"/>
            <a:ext cx="4754880" cy="4754880"/>
          </a:xfrm>
          <a:prstGeom prst="ellipse">
            <a:avLst/>
          </a:prstGeom>
          <a:solidFill>
            <a:srgbClr val="12505F"/>
          </a:solidFill>
          <a:ln/>
        </p:spPr>
      </p:sp>
      <p:sp>
        <p:nvSpPr>
          <p:cNvPr id="3" name="Shape 1"/>
          <p:cNvSpPr/>
          <p:nvPr/>
        </p:nvSpPr>
        <p:spPr>
          <a:xfrm>
            <a:off x="10058400" y="-1371600"/>
            <a:ext cx="3840480" cy="3840480"/>
          </a:xfrm>
          <a:prstGeom prst="ellipse">
            <a:avLst/>
          </a:prstGeom>
          <a:solidFill>
            <a:srgbClr val="12505F"/>
          </a:solidFill>
          <a:ln/>
        </p:spPr>
      </p:sp>
      <p:sp>
        <p:nvSpPr>
          <p:cNvPr id="4" name="Text 2"/>
          <p:cNvSpPr txBox="1"/>
          <p:nvPr/>
        </p:nvSpPr>
        <p:spPr>
          <a:xfrm>
            <a:off x="0" y="2148840"/>
            <a:ext cx="12191695" cy="868680"/>
          </a:xfrm>
          <a:prstGeom prst="rect">
            <a:avLst/>
          </a:prstGeom>
          <a:noFill/>
          <a:ln/>
        </p:spPr>
        <p:txBody>
          <a:bodyPr wrap="square" lIns="0" tIns="0" rIns="0" bIns="0" rtlCol="0" anchor="t"/>
          <a:lstStyle/>
          <a:p>
            <a:pPr algn="ct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5" name="Text 3"/>
          <p:cNvSpPr txBox="1"/>
          <p:nvPr/>
        </p:nvSpPr>
        <p:spPr>
          <a:xfrm>
            <a:off x="0" y="3108960"/>
            <a:ext cx="12191695" cy="365760"/>
          </a:xfrm>
          <a:prstGeom prst="rect">
            <a:avLst/>
          </a:prstGeom>
          <a:noFill/>
          <a:ln/>
        </p:spPr>
        <p:txBody>
          <a:bodyPr wrap="square" lIns="0" tIns="0" rIns="0" bIns="0" rtlCol="0" anchor="t"/>
          <a:lstStyle/>
          <a:p>
            <a:pPr algn="ctr" indent="0" marL="0">
              <a:buNone/>
            </a:pPr>
            <a:r>
              <a:rPr lang="en-US" sz="1600" dirty="0">
                <a:solidFill>
                  <a:srgbClr val="C9E4E8"/>
                </a:solidFill>
                <a:latin typeface="Calibri" pitchFamily="34" charset="0"/>
                <a:ea typeface="Calibri" pitchFamily="34" charset="-122"/>
                <a:cs typeface="Calibri" pitchFamily="34" charset="-120"/>
              </a:rPr>
              <a:t>Questions and feedback are welcome</a:t>
            </a:r>
            <a:endParaRPr lang="en-US" sz="1600" dirty="0"/>
          </a:p>
        </p:txBody>
      </p:sp>
      <p:sp>
        <p:nvSpPr>
          <p:cNvPr id="6" name="Shape 4"/>
          <p:cNvSpPr/>
          <p:nvPr/>
        </p:nvSpPr>
        <p:spPr>
          <a:xfrm>
            <a:off x="3108960" y="3931920"/>
            <a:ext cx="5971032" cy="1371600"/>
          </a:xfrm>
          <a:prstGeom prst="roundRect">
            <a:avLst>
              <a:gd name="adj" fmla="val 5333"/>
            </a:avLst>
          </a:prstGeom>
          <a:solidFill>
            <a:srgbClr val="12505F"/>
          </a:solidFill>
          <a:ln w="6350">
            <a:solidFill>
              <a:srgbClr val="12505F"/>
            </a:solidFill>
            <a:prstDash val="solid"/>
          </a:ln>
        </p:spPr>
      </p:sp>
      <p:sp>
        <p:nvSpPr>
          <p:cNvPr id="7" name="Text 5"/>
          <p:cNvSpPr txBox="1"/>
          <p:nvPr/>
        </p:nvSpPr>
        <p:spPr>
          <a:xfrm>
            <a:off x="3108960" y="4160520"/>
            <a:ext cx="5971032" cy="237744"/>
          </a:xfrm>
          <a:prstGeom prst="rect">
            <a:avLst/>
          </a:prstGeom>
          <a:noFill/>
          <a:ln/>
        </p:spPr>
        <p:txBody>
          <a:bodyPr wrap="square" lIns="0" tIns="0" rIns="0" bIns="0" rtlCol="0" anchor="t"/>
          <a:lstStyle/>
          <a:p>
            <a:pPr algn="ctr" indent="0" marL="0">
              <a:buNone/>
            </a:pPr>
            <a:r>
              <a:rPr lang="en-US" sz="1000" b="1" spc="150" kern="0" dirty="0">
                <a:solidFill>
                  <a:srgbClr val="02C39A"/>
                </a:solidFill>
                <a:latin typeface="Calibri" pitchFamily="34" charset="0"/>
                <a:ea typeface="Calibri" pitchFamily="34" charset="-122"/>
                <a:cs typeface="Calibri" pitchFamily="34" charset="-120"/>
              </a:rPr>
              <a:t>PROJECT REPOSITORY</a:t>
            </a:r>
            <a:endParaRPr lang="en-US" sz="1000" dirty="0"/>
          </a:p>
        </p:txBody>
      </p:sp>
      <p:sp>
        <p:nvSpPr>
          <p:cNvPr id="8" name="Text 6"/>
          <p:cNvSpPr txBox="1"/>
          <p:nvPr/>
        </p:nvSpPr>
        <p:spPr>
          <a:xfrm>
            <a:off x="3291840" y="4462272"/>
            <a:ext cx="5605272" cy="27432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github.com/icy-agarwal/UCS503P-202627-Laundry-Management-System</a:t>
            </a:r>
            <a:endParaRPr lang="en-US" sz="1250" dirty="0"/>
          </a:p>
        </p:txBody>
      </p:sp>
      <p:sp>
        <p:nvSpPr>
          <p:cNvPr id="9" name="Text 7"/>
          <p:cNvSpPr txBox="1"/>
          <p:nvPr/>
        </p:nvSpPr>
        <p:spPr>
          <a:xfrm>
            <a:off x="3108960" y="4846320"/>
            <a:ext cx="5971032" cy="274320"/>
          </a:xfrm>
          <a:prstGeom prst="rect">
            <a:avLst/>
          </a:prstGeom>
          <a:noFill/>
          <a:ln/>
        </p:spPr>
        <p:txBody>
          <a:bodyPr wrap="square" lIns="0" tIns="0" rIns="0" bIns="0" rtlCol="0" anchor="t"/>
          <a:lstStyle/>
          <a:p>
            <a:pPr algn="ctr" indent="0" marL="0">
              <a:buNone/>
            </a:pPr>
            <a:r>
              <a:rPr lang="en-US" sz="1200" dirty="0">
                <a:solidFill>
                  <a:srgbClr val="9FC7CE"/>
                </a:solidFill>
                <a:latin typeface="Calibri" pitchFamily="34" charset="0"/>
                <a:ea typeface="Calibri" pitchFamily="34" charset="-122"/>
                <a:cs typeface="Calibri" pitchFamily="34" charset="-120"/>
              </a:rPr>
              <a:t>Riddhi Dhawan  ·  Icy Aggarwal  ·  Devansh Dhawan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Hostel Laundry Management System</dc:title>
  <dc:subject>PptxGenJS Presentation</dc:subject>
  <dc:creator>Riddhi Dhawan, Icy Aggarwal, Devansh Dhawan</dc:creator>
  <cp:lastModifiedBy>Riddhi Dhawan, Icy Aggarwal, Devansh Dhawan</cp:lastModifiedBy>
  <cp:revision>1</cp:revision>
  <dcterms:created xsi:type="dcterms:W3CDTF">2026-09-16T13:30:10Z</dcterms:created>
  <dcterms:modified xsi:type="dcterms:W3CDTF">2026-09-16T13:30:10Z</dcterms:modified>
</cp:coreProperties>
</file>